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Cambria Math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mbriaMath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197c2c17bdf7081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197c2c17bdf7081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2515304df634879d_0_244:notes"/>
          <p:cNvSpPr txBox="1"/>
          <p:nvPr>
            <p:ph idx="1" type="body"/>
          </p:nvPr>
        </p:nvSpPr>
        <p:spPr>
          <a:xfrm>
            <a:off x="686098" y="4401155"/>
            <a:ext cx="5485800" cy="3599700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h2515304df634879d_0_244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4c517903fcd2d0ed_6_272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h4c517903fcd2d0ed_6_272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h4c517903fcd2d0ed_6_342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h4c517903fcd2d0ed_6_342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h29774888c09dee59_1_201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h29774888c09dee59_1_201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h29774888c09dee59_1_234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h29774888c09dee59_1_234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  <a:noFill/>
          <a:ln>
            <a:noFill/>
          </a:ln>
        </p:spPr>
        <p:txBody>
          <a:bodyPr anchorCtr="0" anchor="t" bIns="43075" lIns="86175" spcFirstLastPara="1" rIns="86175" wrap="square" tIns="4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488" name="Google Shape;488;h29774888c09dee59_1_234:notes"/>
          <p:cNvSpPr txBox="1"/>
          <p:nvPr>
            <p:ph idx="12" type="sldNum"/>
          </p:nvPr>
        </p:nvSpPr>
        <p:spPr>
          <a:xfrm>
            <a:off x="3884414" y="8685893"/>
            <a:ext cx="2972098" cy="458107"/>
          </a:xfrm>
          <a:prstGeom prst="rect">
            <a:avLst/>
          </a:prstGeom>
          <a:noFill/>
          <a:ln>
            <a:noFill/>
          </a:ln>
        </p:spPr>
        <p:txBody>
          <a:bodyPr anchorCtr="0" anchor="b" bIns="43075" lIns="86175" spcFirstLastPara="1" rIns="86175" wrap="square" tIns="430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h29774888c09dee59_1_300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h29774888c09dee59_1_300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h28bdd1721e98a643_0_1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h28bdd1721e98a643_0_1:notes"/>
          <p:cNvSpPr txBox="1"/>
          <p:nvPr>
            <p:ph idx="1" type="body"/>
          </p:nvPr>
        </p:nvSpPr>
        <p:spPr>
          <a:xfrm>
            <a:off x="686098" y="4401155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3075" lIns="86175" spcFirstLastPara="1" rIns="86175" wrap="square" tIns="4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593" name="Google Shape;593;h28bdd1721e98a643_0_1:notes"/>
          <p:cNvSpPr txBox="1"/>
          <p:nvPr>
            <p:ph idx="12" type="sldNum"/>
          </p:nvPr>
        </p:nvSpPr>
        <p:spPr>
          <a:xfrm>
            <a:off x="3884414" y="8685893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3075" lIns="86175" spcFirstLastPara="1" rIns="86175" wrap="square" tIns="430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h29774888c09dee59_1_413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h29774888c09dee59_1_413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h28bdd1721e98a643_0_62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h28bdd1721e98a643_0_62:notes"/>
          <p:cNvSpPr txBox="1"/>
          <p:nvPr>
            <p:ph idx="1" type="body"/>
          </p:nvPr>
        </p:nvSpPr>
        <p:spPr>
          <a:xfrm>
            <a:off x="686098" y="4401155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3075" lIns="86175" spcFirstLastPara="1" rIns="86175" wrap="square" tIns="4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85" name="Google Shape;685;h28bdd1721e98a643_0_62:notes"/>
          <p:cNvSpPr txBox="1"/>
          <p:nvPr>
            <p:ph idx="12" type="sldNum"/>
          </p:nvPr>
        </p:nvSpPr>
        <p:spPr>
          <a:xfrm>
            <a:off x="3884414" y="8685893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3075" lIns="86175" spcFirstLastPara="1" rIns="86175" wrap="square" tIns="430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 sz="1300"/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h29774888c09dee59_1_512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h29774888c09dee59_1_512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h29774888c09dee59_16_0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h29774888c09dee59_16_0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h28bdd1721e98a643_0_128:notes"/>
          <p:cNvSpPr txBox="1"/>
          <p:nvPr>
            <p:ph idx="1" type="body"/>
          </p:nvPr>
        </p:nvSpPr>
        <p:spPr>
          <a:xfrm>
            <a:off x="686098" y="4401155"/>
            <a:ext cx="5485800" cy="3599700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h28bdd1721e98a643_0_128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h28bdd1721e98a643_0_174:notes"/>
          <p:cNvSpPr txBox="1"/>
          <p:nvPr>
            <p:ph idx="1" type="body"/>
          </p:nvPr>
        </p:nvSpPr>
        <p:spPr>
          <a:xfrm>
            <a:off x="686098" y="4401155"/>
            <a:ext cx="5485800" cy="3599700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h28bdd1721e98a643_0_174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h29774888c09dee59_21_0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h29774888c09dee59_21_0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h29774888c09dee59_24_0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h29774888c09dee59_24_0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h2515304df634879d_7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h2515304df634879d_7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h2515304df634879d_0_601:notes"/>
          <p:cNvSpPr txBox="1"/>
          <p:nvPr>
            <p:ph idx="1" type="body"/>
          </p:nvPr>
        </p:nvSpPr>
        <p:spPr>
          <a:xfrm>
            <a:off x="686098" y="4401155"/>
            <a:ext cx="5485800" cy="3599700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h2515304df634879d_0_601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h4c517903fcd2d0ed_6_0:notes"/>
          <p:cNvSpPr txBox="1"/>
          <p:nvPr>
            <p:ph idx="1" type="body"/>
          </p:nvPr>
        </p:nvSpPr>
        <p:spPr>
          <a:xfrm>
            <a:off x="686098" y="4401155"/>
            <a:ext cx="5485800" cy="3599700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h4c517903fcd2d0ed_6_0:notes"/>
          <p:cNvSpPr/>
          <p:nvPr>
            <p:ph idx="2" type="sldImg"/>
          </p:nvPr>
        </p:nvSpPr>
        <p:spPr>
          <a:xfrm>
            <a:off x="729258" y="1143000"/>
            <a:ext cx="5399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h29774888c09dee59_1_75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h29774888c09dee59_1_75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h2515304df634879d_20_0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h2515304df634879d_20_0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h522ea4f5b1b282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h522ea4f5b1b282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h522ea4f5b1b282c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4" name="Google Shape;1834;h522ea4f5b1b282c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h522ea4f5b1b282c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1" name="Google Shape;1841;h522ea4f5b1b282c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h522ea4f5b1b282c3_4_0:notes"/>
          <p:cNvSpPr txBox="1"/>
          <p:nvPr>
            <p:ph idx="1" type="body"/>
          </p:nvPr>
        </p:nvSpPr>
        <p:spPr>
          <a:xfrm>
            <a:off x="686098" y="4401155"/>
            <a:ext cx="5485805" cy="3599845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h522ea4f5b1b282c3_4_0:notes"/>
          <p:cNvSpPr/>
          <p:nvPr>
            <p:ph idx="2" type="sldImg"/>
          </p:nvPr>
        </p:nvSpPr>
        <p:spPr>
          <a:xfrm>
            <a:off x="729258" y="1143000"/>
            <a:ext cx="5399484" cy="30857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Relationship Id="rId7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26"/>
          <p:cNvGrpSpPr/>
          <p:nvPr/>
        </p:nvGrpSpPr>
        <p:grpSpPr>
          <a:xfrm>
            <a:off x="45815" y="224109"/>
            <a:ext cx="9052375" cy="4658420"/>
            <a:chOff x="105216" y="305286"/>
            <a:chExt cx="8933559" cy="4597276"/>
          </a:xfrm>
        </p:grpSpPr>
        <p:grpSp>
          <p:nvGrpSpPr>
            <p:cNvPr id="136" name="Google Shape;136;p26"/>
            <p:cNvGrpSpPr/>
            <p:nvPr/>
          </p:nvGrpSpPr>
          <p:grpSpPr>
            <a:xfrm>
              <a:off x="105226" y="305288"/>
              <a:ext cx="5604784" cy="1461094"/>
              <a:chOff x="106401" y="429350"/>
              <a:chExt cx="5604784" cy="1461094"/>
            </a:xfrm>
          </p:grpSpPr>
          <p:grpSp>
            <p:nvGrpSpPr>
              <p:cNvPr id="137" name="Google Shape;137;p26"/>
              <p:cNvGrpSpPr/>
              <p:nvPr/>
            </p:nvGrpSpPr>
            <p:grpSpPr>
              <a:xfrm>
                <a:off x="106401" y="429350"/>
                <a:ext cx="5604784" cy="1461094"/>
                <a:chOff x="152800" y="-66305"/>
                <a:chExt cx="6664200" cy="1802930"/>
              </a:xfrm>
            </p:grpSpPr>
            <p:sp>
              <p:nvSpPr>
                <p:cNvPr id="138" name="Google Shape;138;p26"/>
                <p:cNvSpPr/>
                <p:nvPr/>
              </p:nvSpPr>
              <p:spPr>
                <a:xfrm>
                  <a:off x="152800" y="33825"/>
                  <a:ext cx="6664200" cy="1702800"/>
                </a:xfrm>
                <a:prstGeom prst="roundRect">
                  <a:avLst>
                    <a:gd fmla="val 7142" name="adj"/>
                  </a:avLst>
                </a:prstGeom>
                <a:solidFill>
                  <a:schemeClr val="lt1"/>
                </a:solidFill>
                <a:ln cap="flat" cmpd="sng" w="17750">
                  <a:solidFill>
                    <a:schemeClr val="dk2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5100" lIns="85100" spcFirstLastPara="1" rIns="85100" wrap="square" tIns="851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03"/>
                </a:p>
              </p:txBody>
            </p:sp>
            <p:sp>
              <p:nvSpPr>
                <p:cNvPr id="139" name="Google Shape;139;p26"/>
                <p:cNvSpPr txBox="1"/>
                <p:nvPr/>
              </p:nvSpPr>
              <p:spPr>
                <a:xfrm>
                  <a:off x="274561" y="-66305"/>
                  <a:ext cx="2630700" cy="47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85100" lIns="85100" spcFirstLastPara="1" rIns="85100" wrap="square" tIns="851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vi" sz="1396">
                      <a:solidFill>
                        <a:schemeClr val="dk2"/>
                      </a:solidFill>
                    </a:rPr>
                    <a:t>Stitched Image</a:t>
                  </a:r>
                  <a:endParaRPr sz="1396">
                    <a:solidFill>
                      <a:schemeClr val="dk2"/>
                    </a:solidFill>
                  </a:endParaRPr>
                </a:p>
              </p:txBody>
            </p:sp>
          </p:grpSp>
          <p:pic>
            <p:nvPicPr>
              <p:cNvPr id="140" name="Google Shape;140;p2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26800" y="739204"/>
                <a:ext cx="5363970" cy="10986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1" name="Google Shape;141;p26"/>
            <p:cNvGrpSpPr/>
            <p:nvPr/>
          </p:nvGrpSpPr>
          <p:grpSpPr>
            <a:xfrm>
              <a:off x="105216" y="1925977"/>
              <a:ext cx="8933559" cy="2976585"/>
              <a:chOff x="106391" y="2050040"/>
              <a:chExt cx="8933559" cy="2976585"/>
            </a:xfrm>
          </p:grpSpPr>
          <p:grpSp>
            <p:nvGrpSpPr>
              <p:cNvPr id="142" name="Google Shape;142;p26"/>
              <p:cNvGrpSpPr/>
              <p:nvPr/>
            </p:nvGrpSpPr>
            <p:grpSpPr>
              <a:xfrm>
                <a:off x="106391" y="2050040"/>
                <a:ext cx="5604752" cy="2960719"/>
                <a:chOff x="106391" y="2050040"/>
                <a:chExt cx="5604752" cy="2960719"/>
              </a:xfrm>
            </p:grpSpPr>
            <p:grpSp>
              <p:nvGrpSpPr>
                <p:cNvPr id="143" name="Google Shape;143;p26"/>
                <p:cNvGrpSpPr/>
                <p:nvPr/>
              </p:nvGrpSpPr>
              <p:grpSpPr>
                <a:xfrm>
                  <a:off x="2815610" y="2235726"/>
                  <a:ext cx="2895533" cy="2301585"/>
                  <a:chOff x="2544600" y="1865150"/>
                  <a:chExt cx="4054800" cy="2961000"/>
                </a:xfrm>
              </p:grpSpPr>
              <p:sp>
                <p:nvSpPr>
                  <p:cNvPr id="144" name="Google Shape;144;p26"/>
                  <p:cNvSpPr/>
                  <p:nvPr/>
                </p:nvSpPr>
                <p:spPr>
                  <a:xfrm>
                    <a:off x="2544600" y="1865150"/>
                    <a:ext cx="4054800" cy="2961000"/>
                  </a:xfrm>
                  <a:prstGeom prst="roundRect">
                    <a:avLst>
                      <a:gd fmla="val 6985" name="adj"/>
                    </a:avLst>
                  </a:prstGeom>
                  <a:solidFill>
                    <a:schemeClr val="lt1"/>
                  </a:solidFill>
                  <a:ln cap="flat" cmpd="sng" w="13775">
                    <a:solidFill>
                      <a:schemeClr val="dk2"/>
                    </a:solidFill>
                    <a:prstDash val="dash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66150" lIns="66150" spcFirstLastPara="1" rIns="66150" wrap="square" tIns="6615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13"/>
                  </a:p>
                </p:txBody>
              </p:sp>
              <p:sp>
                <p:nvSpPr>
                  <p:cNvPr id="145" name="Google Shape;145;p26"/>
                  <p:cNvSpPr/>
                  <p:nvPr/>
                </p:nvSpPr>
                <p:spPr>
                  <a:xfrm>
                    <a:off x="2721000" y="4337900"/>
                    <a:ext cx="3702000" cy="377100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rgbClr val="C9DAF8"/>
                  </a:solidFill>
                  <a:ln cap="flat" cmpd="sng" w="1377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66150" lIns="66150" spcFirstLastPara="1" rIns="66150" wrap="square" tIns="6615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vi" sz="1013"/>
                      <a:t>QFL + Smooth L1 + OGL + </a:t>
                    </a:r>
                    <a:r>
                      <a:rPr lang="vi" sz="1013"/>
                      <a:t>BCE + T-SBUW</a:t>
                    </a:r>
                    <a:endParaRPr sz="1013"/>
                  </a:p>
                </p:txBody>
              </p:sp>
              <p:grpSp>
                <p:nvGrpSpPr>
                  <p:cNvPr id="146" name="Google Shape;146;p26"/>
                  <p:cNvGrpSpPr/>
                  <p:nvPr/>
                </p:nvGrpSpPr>
                <p:grpSpPr>
                  <a:xfrm>
                    <a:off x="2720953" y="2072917"/>
                    <a:ext cx="3702073" cy="2453533"/>
                    <a:chOff x="2720953" y="2072917"/>
                    <a:chExt cx="3702073" cy="2453533"/>
                  </a:xfrm>
                </p:grpSpPr>
                <p:sp>
                  <p:nvSpPr>
                    <p:cNvPr id="147" name="Google Shape;147;p26"/>
                    <p:cNvSpPr/>
                    <p:nvPr/>
                  </p:nvSpPr>
                  <p:spPr>
                    <a:xfrm>
                      <a:off x="4747725" y="2357975"/>
                      <a:ext cx="560100" cy="268200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lt2"/>
                    </a:solidFill>
                    <a:ln cap="flat" cmpd="sng" w="137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66150" lIns="66150" spcFirstLastPara="1" rIns="66150" wrap="square" tIns="6615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13"/>
                    </a:p>
                  </p:txBody>
                </p:sp>
                <p:grpSp>
                  <p:nvGrpSpPr>
                    <p:cNvPr id="148" name="Google Shape;148;p26"/>
                    <p:cNvGrpSpPr/>
                    <p:nvPr/>
                  </p:nvGrpSpPr>
                  <p:grpSpPr>
                    <a:xfrm>
                      <a:off x="2720953" y="2072917"/>
                      <a:ext cx="3702073" cy="2131028"/>
                      <a:chOff x="2440677" y="1279375"/>
                      <a:chExt cx="5285655" cy="3042587"/>
                    </a:xfrm>
                  </p:grpSpPr>
                  <p:grpSp>
                    <p:nvGrpSpPr>
                      <p:cNvPr id="149" name="Google Shape;149;p26"/>
                      <p:cNvGrpSpPr/>
                      <p:nvPr/>
                    </p:nvGrpSpPr>
                    <p:grpSpPr>
                      <a:xfrm>
                        <a:off x="3192975" y="1279375"/>
                        <a:ext cx="3763450" cy="787800"/>
                        <a:chOff x="2426975" y="1410350"/>
                        <a:chExt cx="3763450" cy="787800"/>
                      </a:xfrm>
                    </p:grpSpPr>
                    <p:sp>
                      <p:nvSpPr>
                        <p:cNvPr id="150" name="Google Shape;150;p26"/>
                        <p:cNvSpPr/>
                        <p:nvPr/>
                      </p:nvSpPr>
                      <p:spPr>
                        <a:xfrm>
                          <a:off x="2426975" y="1410350"/>
                          <a:ext cx="1669800" cy="787800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lt2"/>
                        </a:solidFill>
                        <a:ln cap="flat" cmpd="sng" w="13775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6325" lIns="46325" spcFirstLastPara="1" rIns="46325" wrap="square" tIns="46325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659"/>
                            <a:t>R</a:t>
                          </a:r>
                          <a:r>
                            <a:rPr lang="vi" sz="659"/>
                            <a:t>ich14</a:t>
                          </a:r>
                          <a:endParaRPr sz="659"/>
                        </a:p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659"/>
                            <a:t>Feature Encoder</a:t>
                          </a:r>
                          <a:endParaRPr sz="659"/>
                        </a:p>
                      </p:txBody>
                    </p:sp>
                    <p:sp>
                      <p:nvSpPr>
                        <p:cNvPr id="151" name="Google Shape;151;p26"/>
                        <p:cNvSpPr/>
                        <p:nvPr/>
                      </p:nvSpPr>
                      <p:spPr>
                        <a:xfrm>
                          <a:off x="4520625" y="1410350"/>
                          <a:ext cx="1669800" cy="787800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FFF2CC"/>
                        </a:solidFill>
                        <a:ln cap="flat" cmpd="sng" w="13775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6325" lIns="46325" spcFirstLastPara="1" rIns="46325" wrap="square" tIns="46325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659"/>
                            <a:t>Proposed</a:t>
                          </a:r>
                          <a:endParaRPr sz="659"/>
                        </a:p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659"/>
                            <a:t>(MobilePixorNeXt)</a:t>
                          </a:r>
                          <a:endParaRPr sz="659"/>
                        </a:p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659"/>
                            <a:t>Detector</a:t>
                          </a:r>
                          <a:endParaRPr sz="659"/>
                        </a:p>
                      </p:txBody>
                    </p:sp>
                    <p:cxnSp>
                      <p:nvCxnSpPr>
                        <p:cNvPr id="152" name="Google Shape;152;p26"/>
                        <p:cNvCxnSpPr>
                          <a:stCxn id="150" idx="3"/>
                          <a:endCxn id="151" idx="1"/>
                        </p:cNvCxnSpPr>
                        <p:nvPr/>
                      </p:nvCxnSpPr>
                      <p:spPr>
                        <a:xfrm>
                          <a:off x="4096775" y="1804250"/>
                          <a:ext cx="423900" cy="0"/>
                        </a:xfrm>
                        <a:prstGeom prst="straightConnector1">
                          <a:avLst/>
                        </a:prstGeom>
                        <a:noFill/>
                        <a:ln cap="flat" cmpd="sng" w="13775">
                          <a:solidFill>
                            <a:schemeClr val="dk2"/>
                          </a:solidFill>
                          <a:prstDash val="solid"/>
                          <a:round/>
                          <a:headEnd len="med" w="med" type="none"/>
                          <a:tailEnd len="med" w="med" type="triangle"/>
                        </a:ln>
                      </p:spPr>
                    </p:cxnSp>
                  </p:grpSp>
                  <p:cxnSp>
                    <p:nvCxnSpPr>
                      <p:cNvPr id="153" name="Google Shape;153;p26"/>
                      <p:cNvCxnSpPr>
                        <a:stCxn id="151" idx="2"/>
                        <a:endCxn id="154" idx="0"/>
                      </p:cNvCxnSpPr>
                      <p:nvPr/>
                    </p:nvCxnSpPr>
                    <p:spPr>
                      <a:xfrm>
                        <a:off x="6121525" y="2067175"/>
                        <a:ext cx="1800" cy="353400"/>
                      </a:xfrm>
                      <a:prstGeom prst="straightConnector1">
                        <a:avLst/>
                      </a:prstGeom>
                      <a:noFill/>
                      <a:ln cap="flat" cmpd="sng" w="13775">
                        <a:solidFill>
                          <a:schemeClr val="dk2"/>
                        </a:solidFill>
                        <a:prstDash val="solid"/>
                        <a:round/>
                        <a:headEnd len="med" w="med" type="none"/>
                        <a:tailEnd len="med" w="med" type="triangle"/>
                      </a:ln>
                    </p:spPr>
                  </p:cxnSp>
                  <p:grpSp>
                    <p:nvGrpSpPr>
                      <p:cNvPr id="155" name="Google Shape;155;p26"/>
                      <p:cNvGrpSpPr/>
                      <p:nvPr/>
                    </p:nvGrpSpPr>
                    <p:grpSpPr>
                      <a:xfrm>
                        <a:off x="2440677" y="2420460"/>
                        <a:ext cx="5285655" cy="1901501"/>
                        <a:chOff x="2115602" y="2420460"/>
                        <a:chExt cx="5285655" cy="1901501"/>
                      </a:xfrm>
                    </p:grpSpPr>
                    <p:grpSp>
                      <p:nvGrpSpPr>
                        <p:cNvPr id="156" name="Google Shape;156;p26"/>
                        <p:cNvGrpSpPr/>
                        <p:nvPr/>
                      </p:nvGrpSpPr>
                      <p:grpSpPr>
                        <a:xfrm>
                          <a:off x="2115602" y="2420460"/>
                          <a:ext cx="5285655" cy="1901501"/>
                          <a:chOff x="2241775" y="2456725"/>
                          <a:chExt cx="4442100" cy="2115600"/>
                        </a:xfrm>
                      </p:grpSpPr>
                      <p:sp>
                        <p:nvSpPr>
                          <p:cNvPr id="154" name="Google Shape;154;p26"/>
                          <p:cNvSpPr/>
                          <p:nvPr/>
                        </p:nvSpPr>
                        <p:spPr>
                          <a:xfrm>
                            <a:off x="4933575" y="2456725"/>
                            <a:ext cx="806100" cy="538800"/>
                          </a:xfrm>
                          <a:prstGeom prst="roundRect">
                            <a:avLst>
                              <a:gd fmla="val 16667" name="adj"/>
                            </a:avLst>
                          </a:prstGeom>
                          <a:solidFill>
                            <a:schemeClr val="lt2"/>
                          </a:solidFill>
                          <a:ln cap="flat" cmpd="sng" w="13775">
                            <a:solidFill>
                              <a:schemeClr val="dk2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6325" lIns="46325" spcFirstLastPara="1" rIns="46325" wrap="square" tIns="46325">
                            <a:noAutofit/>
                          </a:bodyPr>
                          <a:lstStyle/>
                          <a:p>
                            <a:pPr indent="0" lvl="0" marL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709"/>
                          </a:p>
                        </p:txBody>
                      </p:sp>
                      <p:sp>
                        <p:nvSpPr>
                          <p:cNvPr id="157" name="Google Shape;157;p26"/>
                          <p:cNvSpPr/>
                          <p:nvPr/>
                        </p:nvSpPr>
                        <p:spPr>
                          <a:xfrm>
                            <a:off x="2241775" y="2456725"/>
                            <a:ext cx="4442100" cy="2115600"/>
                          </a:xfrm>
                          <a:prstGeom prst="roundRect">
                            <a:avLst>
                              <a:gd fmla="val 16667" name="adj"/>
                            </a:avLst>
                          </a:prstGeom>
                          <a:solidFill>
                            <a:schemeClr val="lt2"/>
                          </a:solidFill>
                          <a:ln cap="flat" cmpd="sng" w="13775">
                            <a:solidFill>
                              <a:schemeClr val="dk2"/>
                            </a:solidFill>
                            <a:prstDash val="dash"/>
                            <a:round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6325" lIns="46325" spcFirstLastPara="1" rIns="46325" wrap="square" tIns="46325">
                            <a:noAutofit/>
                          </a:bodyPr>
                          <a:lstStyle/>
                          <a:p>
                            <a:pPr indent="0" lvl="0" marL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709"/>
                          </a:p>
                        </p:txBody>
                      </p:sp>
                    </p:grpSp>
                    <p:sp>
                      <p:nvSpPr>
                        <p:cNvPr id="158" name="Google Shape;158;p26"/>
                        <p:cNvSpPr/>
                        <p:nvPr/>
                      </p:nvSpPr>
                      <p:spPr>
                        <a:xfrm>
                          <a:off x="2234275" y="2679925"/>
                          <a:ext cx="962100" cy="470400"/>
                        </a:xfrm>
                        <a:prstGeom prst="roundRect">
                          <a:avLst>
                            <a:gd fmla="val 4757" name="adj"/>
                          </a:avLst>
                        </a:prstGeom>
                        <a:solidFill>
                          <a:srgbClr val="FFF2CC"/>
                        </a:solidFill>
                        <a:ln cap="flat" cmpd="sng" w="13775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6325" lIns="46325" spcFirstLastPara="1" rIns="46325" wrap="square" tIns="46325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709"/>
                            <a:t>Gaussian Heatmap</a:t>
                          </a:r>
                          <a:endParaRPr sz="709"/>
                        </a:p>
                      </p:txBody>
                    </p:sp>
                    <p:pic>
                      <p:nvPicPr>
                        <p:cNvPr id="159" name="Google Shape;159;p26"/>
                        <p:cNvPicPr preferRelativeResize="0"/>
                        <p:nvPr/>
                      </p:nvPicPr>
                      <p:blipFill>
                        <a:blip r:embed="rId4">
                          <a:alphaModFix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34275" y="3269150"/>
                          <a:ext cx="962100" cy="864387"/>
                        </a:xfrm>
                        <a:prstGeom prst="rect">
                          <a:avLst/>
                        </a:prstGeom>
                        <a:solidFill>
                          <a:srgbClr val="FFF2CC"/>
                        </a:solidFill>
                        <a:ln cap="flat" cmpd="sng" w="13775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</p:pic>
                    <p:sp>
                      <p:nvSpPr>
                        <p:cNvPr id="160" name="Google Shape;160;p26"/>
                        <p:cNvSpPr/>
                        <p:nvPr/>
                      </p:nvSpPr>
                      <p:spPr>
                        <a:xfrm>
                          <a:off x="3313875" y="2679925"/>
                          <a:ext cx="742500" cy="470400"/>
                        </a:xfrm>
                        <a:prstGeom prst="roundRect">
                          <a:avLst>
                            <a:gd fmla="val 4757" name="adj"/>
                          </a:avLst>
                        </a:prstGeom>
                        <a:solidFill>
                          <a:schemeClr val="lt1"/>
                        </a:solidFill>
                        <a:ln cap="flat" cmpd="sng" w="13775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6325" lIns="46325" spcFirstLastPara="1" rIns="46325" wrap="square" tIns="46325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709"/>
                            <a:t>Offset</a:t>
                          </a:r>
                          <a:endParaRPr sz="709"/>
                        </a:p>
                      </p:txBody>
                    </p:sp>
                    <p:sp>
                      <p:nvSpPr>
                        <p:cNvPr id="161" name="Google Shape;161;p26"/>
                        <p:cNvSpPr/>
                        <p:nvPr/>
                      </p:nvSpPr>
                      <p:spPr>
                        <a:xfrm>
                          <a:off x="4173875" y="2679925"/>
                          <a:ext cx="674700" cy="470400"/>
                        </a:xfrm>
                        <a:prstGeom prst="roundRect">
                          <a:avLst>
                            <a:gd fmla="val 4757" name="adj"/>
                          </a:avLst>
                        </a:prstGeom>
                        <a:solidFill>
                          <a:schemeClr val="lt1"/>
                        </a:solidFill>
                        <a:ln cap="flat" cmpd="sng" w="13775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6325" lIns="46325" spcFirstLastPara="1" rIns="46325" wrap="square" tIns="46325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709"/>
                            <a:t>Size</a:t>
                          </a:r>
                          <a:endParaRPr sz="709"/>
                        </a:p>
                      </p:txBody>
                    </p:sp>
                    <p:sp>
                      <p:nvSpPr>
                        <p:cNvPr id="162" name="Google Shape;162;p26"/>
                        <p:cNvSpPr/>
                        <p:nvPr/>
                      </p:nvSpPr>
                      <p:spPr>
                        <a:xfrm>
                          <a:off x="4966075" y="2679925"/>
                          <a:ext cx="1099500" cy="470400"/>
                        </a:xfrm>
                        <a:prstGeom prst="roundRect">
                          <a:avLst>
                            <a:gd fmla="val 4757" name="adj"/>
                          </a:avLst>
                        </a:prstGeom>
                        <a:solidFill>
                          <a:schemeClr val="lt1"/>
                        </a:solidFill>
                        <a:ln cap="flat" cmpd="sng" w="13775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6325" lIns="46325" spcFirstLastPara="1" rIns="46325" wrap="square" tIns="46325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709"/>
                            <a:t>Orientation</a:t>
                          </a:r>
                          <a:endParaRPr sz="709"/>
                        </a:p>
                      </p:txBody>
                    </p:sp>
                    <p:sp>
                      <p:nvSpPr>
                        <p:cNvPr id="163" name="Google Shape;163;p26"/>
                        <p:cNvSpPr/>
                        <p:nvPr/>
                      </p:nvSpPr>
                      <p:spPr>
                        <a:xfrm>
                          <a:off x="6183075" y="2679925"/>
                          <a:ext cx="1099500" cy="470400"/>
                        </a:xfrm>
                        <a:prstGeom prst="roundRect">
                          <a:avLst>
                            <a:gd fmla="val 4757" name="adj"/>
                          </a:avLst>
                        </a:prstGeom>
                        <a:solidFill>
                          <a:schemeClr val="lt1"/>
                        </a:solidFill>
                        <a:ln cap="flat" cmpd="sng" w="13775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6325" lIns="46325" spcFirstLastPara="1" rIns="46325" wrap="square" tIns="46325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709"/>
                            <a:t>IoU Quality</a:t>
                          </a:r>
                          <a:endParaRPr sz="709"/>
                        </a:p>
                      </p:txBody>
                    </p:sp>
                    <p:sp>
                      <p:nvSpPr>
                        <p:cNvPr id="164" name="Google Shape;164;p26"/>
                        <p:cNvSpPr txBox="1"/>
                        <p:nvPr/>
                      </p:nvSpPr>
                      <p:spPr>
                        <a:xfrm>
                          <a:off x="3206295" y="3524724"/>
                          <a:ext cx="993000" cy="424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6325" lIns="46325" spcFirstLastPara="1" rIns="46325" wrap="square" tIns="46325">
                          <a:sp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912">
                              <a:solidFill>
                                <a:schemeClr val="dk2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[Δx, Δy]</a:t>
                          </a:r>
                          <a:endParaRPr sz="912">
                            <a:solidFill>
                              <a:schemeClr val="dk2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</p:txBody>
                    </p:sp>
                    <p:sp>
                      <p:nvSpPr>
                        <p:cNvPr id="165" name="Google Shape;165;p26"/>
                        <p:cNvSpPr txBox="1"/>
                        <p:nvPr/>
                      </p:nvSpPr>
                      <p:spPr>
                        <a:xfrm>
                          <a:off x="4075514" y="3247512"/>
                          <a:ext cx="993000" cy="67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6325" lIns="46325" spcFirstLastPara="1" rIns="46325" wrap="square" tIns="46325">
                          <a:sp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912">
                              <a:solidFill>
                                <a:schemeClr val="dk2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[ log w,</a:t>
                          </a:r>
                          <a:endParaRPr sz="912">
                            <a:solidFill>
                              <a:schemeClr val="dk2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912">
                              <a:solidFill>
                                <a:schemeClr val="dk2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  log l]</a:t>
                          </a:r>
                          <a:endParaRPr sz="912">
                            <a:solidFill>
                              <a:schemeClr val="dk2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</p:txBody>
                    </p:sp>
                    <p:sp>
                      <p:nvSpPr>
                        <p:cNvPr id="166" name="Google Shape;166;p26"/>
                        <p:cNvSpPr txBox="1"/>
                        <p:nvPr/>
                      </p:nvSpPr>
                      <p:spPr>
                        <a:xfrm>
                          <a:off x="5164800" y="3247525"/>
                          <a:ext cx="788700" cy="67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6325" lIns="46325" spcFirstLastPara="1" rIns="46325" wrap="square" tIns="46325">
                          <a:sp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912">
                              <a:solidFill>
                                <a:schemeClr val="dk2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[cosθ,  </a:t>
                          </a:r>
                          <a:endParaRPr sz="912">
                            <a:solidFill>
                              <a:schemeClr val="dk2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912">
                              <a:solidFill>
                                <a:schemeClr val="dk2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 sinθ]</a:t>
                          </a:r>
                          <a:endParaRPr sz="912">
                            <a:solidFill>
                              <a:schemeClr val="dk2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</p:txBody>
                    </p:sp>
                    <p:sp>
                      <p:nvSpPr>
                        <p:cNvPr id="167" name="Google Shape;167;p26"/>
                        <p:cNvSpPr txBox="1"/>
                        <p:nvPr/>
                      </p:nvSpPr>
                      <p:spPr>
                        <a:xfrm>
                          <a:off x="6411512" y="3524724"/>
                          <a:ext cx="606300" cy="424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6325" lIns="46325" spcFirstLastPara="1" rIns="46325" wrap="square" tIns="46325">
                          <a:spAutoFit/>
                        </a:bodyPr>
                        <a:lstStyle/>
                        <a:p>
                          <a:pPr indent="0" lvl="0" marL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vi" sz="912">
                              <a:solidFill>
                                <a:schemeClr val="dk2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𝛔(i)</a:t>
                          </a:r>
                          <a:endParaRPr sz="912">
                            <a:solidFill>
                              <a:schemeClr val="dk2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</p:txBody>
                    </p:sp>
                  </p:grpSp>
                </p:grpSp>
                <p:cxnSp>
                  <p:nvCxnSpPr>
                    <p:cNvPr id="168" name="Google Shape;168;p26"/>
                    <p:cNvCxnSpPr>
                      <a:stCxn id="145" idx="1"/>
                      <a:endCxn id="147" idx="2"/>
                    </p:cNvCxnSpPr>
                    <p:nvPr/>
                  </p:nvCxnSpPr>
                  <p:spPr>
                    <a:xfrm flipH="1" rot="10800000">
                      <a:off x="2721000" y="2626250"/>
                      <a:ext cx="2306700" cy="1900200"/>
                    </a:xfrm>
                    <a:prstGeom prst="bentConnector4">
                      <a:avLst>
                        <a:gd fmla="val -3581" name="adj1"/>
                        <a:gd fmla="val 92521" name="adj2"/>
                      </a:avLst>
                    </a:prstGeom>
                    <a:noFill/>
                    <a:ln cap="flat" cmpd="sng" w="13775">
                      <a:solidFill>
                        <a:schemeClr val="dk2"/>
                      </a:solidFill>
                      <a:prstDash val="solid"/>
                      <a:round/>
                      <a:headEnd len="med" w="med" type="none"/>
                      <a:tailEnd len="med" w="med" type="triangle"/>
                    </a:ln>
                  </p:spPr>
                </p:cxnSp>
              </p:grpSp>
              <p:cxnSp>
                <p:nvCxnSpPr>
                  <p:cNvPr id="169" name="Google Shape;169;p26"/>
                  <p:cNvCxnSpPr>
                    <a:stCxn id="159" idx="2"/>
                  </p:cNvCxnSpPr>
                  <p:nvPr/>
                </p:nvCxnSpPr>
                <p:spPr>
                  <a:xfrm flipH="1">
                    <a:off x="3133199" y="4071972"/>
                    <a:ext cx="7800" cy="268200"/>
                  </a:xfrm>
                  <a:prstGeom prst="straightConnector1">
                    <a:avLst/>
                  </a:prstGeom>
                  <a:noFill/>
                  <a:ln cap="flat" cmpd="sng" w="1377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  <p:cxnSp>
                <p:nvCxnSpPr>
                  <p:cNvPr id="170" name="Google Shape;170;p26"/>
                  <p:cNvCxnSpPr/>
                  <p:nvPr/>
                </p:nvCxnSpPr>
                <p:spPr>
                  <a:xfrm flipH="1">
                    <a:off x="3832185" y="3978794"/>
                    <a:ext cx="900" cy="359100"/>
                  </a:xfrm>
                  <a:prstGeom prst="straightConnector1">
                    <a:avLst/>
                  </a:prstGeom>
                  <a:noFill/>
                  <a:ln cap="flat" cmpd="sng" w="1377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  <p:cxnSp>
                <p:nvCxnSpPr>
                  <p:cNvPr id="171" name="Google Shape;171;p26"/>
                  <p:cNvCxnSpPr>
                    <a:stCxn id="165" idx="2"/>
                  </p:cNvCxnSpPr>
                  <p:nvPr/>
                </p:nvCxnSpPr>
                <p:spPr>
                  <a:xfrm flipH="1">
                    <a:off x="4438124" y="3926692"/>
                    <a:ext cx="3300" cy="412200"/>
                  </a:xfrm>
                  <a:prstGeom prst="straightConnector1">
                    <a:avLst/>
                  </a:prstGeom>
                  <a:noFill/>
                  <a:ln cap="flat" cmpd="sng" w="1377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  <p:cxnSp>
                <p:nvCxnSpPr>
                  <p:cNvPr id="172" name="Google Shape;172;p26"/>
                  <p:cNvCxnSpPr>
                    <a:stCxn id="166" idx="2"/>
                  </p:cNvCxnSpPr>
                  <p:nvPr/>
                </p:nvCxnSpPr>
                <p:spPr>
                  <a:xfrm>
                    <a:off x="5132814" y="3926700"/>
                    <a:ext cx="3000" cy="403200"/>
                  </a:xfrm>
                  <a:prstGeom prst="straightConnector1">
                    <a:avLst/>
                  </a:prstGeom>
                  <a:noFill/>
                  <a:ln cap="flat" cmpd="sng" w="1377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  <p:cxnSp>
                <p:nvCxnSpPr>
                  <p:cNvPr id="173" name="Google Shape;173;p26"/>
                  <p:cNvCxnSpPr>
                    <a:stCxn id="167" idx="2"/>
                  </p:cNvCxnSpPr>
                  <p:nvPr/>
                </p:nvCxnSpPr>
                <p:spPr>
                  <a:xfrm>
                    <a:off x="5942134" y="3942669"/>
                    <a:ext cx="7500" cy="396300"/>
                  </a:xfrm>
                  <a:prstGeom prst="straightConnector1">
                    <a:avLst/>
                  </a:prstGeom>
                  <a:noFill/>
                  <a:ln cap="flat" cmpd="sng" w="1377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</p:grpSp>
            <p:grpSp>
              <p:nvGrpSpPr>
                <p:cNvPr id="174" name="Google Shape;174;p26"/>
                <p:cNvGrpSpPr/>
                <p:nvPr/>
              </p:nvGrpSpPr>
              <p:grpSpPr>
                <a:xfrm>
                  <a:off x="106391" y="2050040"/>
                  <a:ext cx="2614701" cy="2960719"/>
                  <a:chOff x="212275" y="1865150"/>
                  <a:chExt cx="2393100" cy="2275201"/>
                </a:xfrm>
              </p:grpSpPr>
              <p:sp>
                <p:nvSpPr>
                  <p:cNvPr id="175" name="Google Shape;175;p26"/>
                  <p:cNvSpPr/>
                  <p:nvPr/>
                </p:nvSpPr>
                <p:spPr>
                  <a:xfrm>
                    <a:off x="212275" y="1865150"/>
                    <a:ext cx="2393100" cy="2275200"/>
                  </a:xfrm>
                  <a:prstGeom prst="roundRect">
                    <a:avLst>
                      <a:gd fmla="val 4066" name="adj"/>
                    </a:avLst>
                  </a:prstGeom>
                  <a:solidFill>
                    <a:schemeClr val="lt1"/>
                  </a:solidFill>
                  <a:ln cap="flat" cmpd="sng" w="18000">
                    <a:solidFill>
                      <a:schemeClr val="dk2"/>
                    </a:solidFill>
                    <a:prstDash val="dash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86425" lIns="86425" spcFirstLastPara="1" rIns="86425" wrap="square" tIns="86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24"/>
                  </a:p>
                </p:txBody>
              </p:sp>
              <p:pic>
                <p:nvPicPr>
                  <p:cNvPr id="176" name="Google Shape;176;p26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261200" y="1920675"/>
                    <a:ext cx="2302002" cy="1887576"/>
                  </a:xfrm>
                  <a:prstGeom prst="rect">
                    <a:avLst/>
                  </a:prstGeom>
                  <a:noFill/>
                  <a:ln cap="flat" cmpd="sng" w="180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pic>
              <p:sp>
                <p:nvSpPr>
                  <p:cNvPr id="177" name="Google Shape;177;p26"/>
                  <p:cNvSpPr txBox="1"/>
                  <p:nvPr/>
                </p:nvSpPr>
                <p:spPr>
                  <a:xfrm>
                    <a:off x="611961" y="3864351"/>
                    <a:ext cx="1600500" cy="276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86425" lIns="86425" spcFirstLastPara="1" rIns="86425" wrap="square" tIns="86425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vi" sz="1229">
                        <a:solidFill>
                          <a:schemeClr val="dk2"/>
                        </a:solidFill>
                      </a:rPr>
                      <a:t>3D LIDAR Point Cloud</a:t>
                    </a:r>
                    <a:endParaRPr sz="1229">
                      <a:solidFill>
                        <a:schemeClr val="dk2"/>
                      </a:solidFill>
                    </a:endParaRPr>
                  </a:p>
                </p:txBody>
              </p:sp>
            </p:grpSp>
            <p:sp>
              <p:nvSpPr>
                <p:cNvPr id="178" name="Google Shape;178;p26"/>
                <p:cNvSpPr/>
                <p:nvPr/>
              </p:nvSpPr>
              <p:spPr>
                <a:xfrm>
                  <a:off x="2564425" y="2479950"/>
                  <a:ext cx="375300" cy="260400"/>
                </a:xfrm>
                <a:prstGeom prst="rightArrow">
                  <a:avLst>
                    <a:gd fmla="val 50000" name="adj1"/>
                    <a:gd fmla="val 50000" name="adj2"/>
                  </a:avLst>
                </a:prstGeom>
                <a:solidFill>
                  <a:srgbClr val="FF9900"/>
                </a:solidFill>
                <a:ln cap="flat" cmpd="sng" w="88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5100" lIns="85100" spcFirstLastPara="1" rIns="85100" wrap="square" tIns="851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03"/>
                </a:p>
              </p:txBody>
            </p:sp>
          </p:grpSp>
          <p:sp>
            <p:nvSpPr>
              <p:cNvPr id="179" name="Google Shape;179;p26"/>
              <p:cNvSpPr/>
              <p:nvPr/>
            </p:nvSpPr>
            <p:spPr>
              <a:xfrm>
                <a:off x="5805650" y="2050200"/>
                <a:ext cx="3234300" cy="2960700"/>
              </a:xfrm>
              <a:prstGeom prst="roundRect">
                <a:avLst>
                  <a:gd fmla="val 4066" name="adj"/>
                </a:avLst>
              </a:prstGeom>
              <a:solidFill>
                <a:schemeClr val="lt1"/>
              </a:solidFill>
              <a:ln cap="flat" cmpd="sng" w="19600">
                <a:solidFill>
                  <a:schemeClr val="dk2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4075" lIns="94075" spcFirstLastPara="1" rIns="94075" wrap="square" tIns="94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41"/>
              </a:p>
            </p:txBody>
          </p:sp>
          <p:sp>
            <p:nvSpPr>
              <p:cNvPr id="180" name="Google Shape;180;p26"/>
              <p:cNvSpPr txBox="1"/>
              <p:nvPr/>
            </p:nvSpPr>
            <p:spPr>
              <a:xfrm>
                <a:off x="6569739" y="4635725"/>
                <a:ext cx="1706100" cy="3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4075" lIns="94075" spcFirstLastPara="1" rIns="94075" wrap="square" tIns="9407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1338">
                    <a:solidFill>
                      <a:schemeClr val="dk2"/>
                    </a:solidFill>
                  </a:rPr>
                  <a:t>3D Object Detection</a:t>
                </a:r>
                <a:endParaRPr sz="1338">
                  <a:solidFill>
                    <a:schemeClr val="dk2"/>
                  </a:solidFill>
                </a:endParaRPr>
              </a:p>
            </p:txBody>
          </p:sp>
          <p:pic>
            <p:nvPicPr>
              <p:cNvPr id="181" name="Google Shape;181;p26"/>
              <p:cNvPicPr preferRelativeResize="0"/>
              <p:nvPr/>
            </p:nvPicPr>
            <p:blipFill rotWithShape="1">
              <a:blip r:embed="rId6">
                <a:alphaModFix/>
              </a:blip>
              <a:srcRect b="12372" l="7945" r="12202" t="17733"/>
              <a:stretch/>
            </p:blipFill>
            <p:spPr>
              <a:xfrm>
                <a:off x="5857950" y="2124275"/>
                <a:ext cx="3147224" cy="255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" name="Google Shape;182;p26"/>
              <p:cNvSpPr/>
              <p:nvPr/>
            </p:nvSpPr>
            <p:spPr>
              <a:xfrm>
                <a:off x="5642975" y="3788400"/>
                <a:ext cx="433500" cy="2604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rgbClr val="FF9900"/>
              </a:solidFill>
              <a:ln cap="flat" cmpd="sng" w="88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5100" lIns="85100" spcFirstLastPara="1" rIns="85100" wrap="square" tIns="85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3"/>
              </a:p>
            </p:txBody>
          </p:sp>
        </p:grpSp>
        <p:pic>
          <p:nvPicPr>
            <p:cNvPr id="183" name="Google Shape;183;p26"/>
            <p:cNvPicPr preferRelativeResize="0"/>
            <p:nvPr/>
          </p:nvPicPr>
          <p:blipFill rotWithShape="1">
            <a:blip r:embed="rId7">
              <a:alphaModFix/>
            </a:blip>
            <a:srcRect b="18536" l="3113" r="3113" t="18543"/>
            <a:stretch/>
          </p:blipFill>
          <p:spPr>
            <a:xfrm>
              <a:off x="7496586" y="545585"/>
              <a:ext cx="1344100" cy="9018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4" name="Google Shape;184;p26"/>
            <p:cNvCxnSpPr/>
            <p:nvPr/>
          </p:nvCxnSpPr>
          <p:spPr>
            <a:xfrm>
              <a:off x="7623237" y="1324546"/>
              <a:ext cx="362700" cy="1556100"/>
            </a:xfrm>
            <a:prstGeom prst="straightConnector1">
              <a:avLst/>
            </a:prstGeom>
            <a:noFill/>
            <a:ln cap="flat" cmpd="sng" w="19300">
              <a:solidFill>
                <a:srgbClr val="00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26"/>
            <p:cNvCxnSpPr/>
            <p:nvPr/>
          </p:nvCxnSpPr>
          <p:spPr>
            <a:xfrm flipH="1">
              <a:off x="8172301" y="673604"/>
              <a:ext cx="545700" cy="2135700"/>
            </a:xfrm>
            <a:prstGeom prst="straightConnector1">
              <a:avLst/>
            </a:prstGeom>
            <a:noFill/>
            <a:ln cap="flat" cmpd="sng" w="19300">
              <a:solidFill>
                <a:srgbClr val="00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86" name="Google Shape;186;p26"/>
            <p:cNvPicPr preferRelativeResize="0"/>
            <p:nvPr/>
          </p:nvPicPr>
          <p:blipFill rotWithShape="1">
            <a:blip r:embed="rId8">
              <a:alphaModFix/>
            </a:blip>
            <a:srcRect b="8893" l="21235" r="20412" t="9892"/>
            <a:stretch/>
          </p:blipFill>
          <p:spPr>
            <a:xfrm>
              <a:off x="5925175" y="305286"/>
              <a:ext cx="942900" cy="131231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7" name="Google Shape;187;p26"/>
            <p:cNvCxnSpPr/>
            <p:nvPr/>
          </p:nvCxnSpPr>
          <p:spPr>
            <a:xfrm>
              <a:off x="5991168" y="1543164"/>
              <a:ext cx="1382100" cy="1790400"/>
            </a:xfrm>
            <a:prstGeom prst="straightConnector1">
              <a:avLst/>
            </a:prstGeom>
            <a:noFill/>
            <a:ln cap="flat" cmpd="sng" w="19300">
              <a:solidFill>
                <a:srgbClr val="00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6"/>
            <p:cNvCxnSpPr/>
            <p:nvPr/>
          </p:nvCxnSpPr>
          <p:spPr>
            <a:xfrm>
              <a:off x="6783160" y="382920"/>
              <a:ext cx="654000" cy="2763600"/>
            </a:xfrm>
            <a:prstGeom prst="straightConnector1">
              <a:avLst/>
            </a:prstGeom>
            <a:noFill/>
            <a:ln cap="flat" cmpd="sng" w="19300">
              <a:solidFill>
                <a:srgbClr val="00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27"/>
          <p:cNvCxnSpPr>
            <a:stCxn id="194" idx="2"/>
            <a:endCxn id="195" idx="0"/>
          </p:cNvCxnSpPr>
          <p:nvPr/>
        </p:nvCxnSpPr>
        <p:spPr>
          <a:xfrm>
            <a:off x="2155684" y="3485778"/>
            <a:ext cx="0" cy="153600"/>
          </a:xfrm>
          <a:prstGeom prst="straightConnector1">
            <a:avLst/>
          </a:prstGeom>
          <a:noFill/>
          <a:ln cap="flat" cmpd="sng" w="17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7"/>
          <p:cNvCxnSpPr>
            <a:stCxn id="197" idx="2"/>
            <a:endCxn id="198" idx="0"/>
          </p:cNvCxnSpPr>
          <p:nvPr/>
        </p:nvCxnSpPr>
        <p:spPr>
          <a:xfrm>
            <a:off x="2155535" y="866324"/>
            <a:ext cx="0" cy="135300"/>
          </a:xfrm>
          <a:prstGeom prst="straightConnector1">
            <a:avLst/>
          </a:prstGeom>
          <a:noFill/>
          <a:ln cap="flat" cmpd="sng" w="17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7"/>
          <p:cNvCxnSpPr>
            <a:stCxn id="198" idx="2"/>
            <a:endCxn id="200" idx="0"/>
          </p:cNvCxnSpPr>
          <p:nvPr/>
        </p:nvCxnSpPr>
        <p:spPr>
          <a:xfrm>
            <a:off x="2155684" y="1224929"/>
            <a:ext cx="0" cy="153600"/>
          </a:xfrm>
          <a:prstGeom prst="straightConnector1">
            <a:avLst/>
          </a:prstGeom>
          <a:noFill/>
          <a:ln cap="flat" cmpd="sng" w="17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7"/>
          <p:cNvCxnSpPr>
            <a:stCxn id="200" idx="2"/>
            <a:endCxn id="202" idx="0"/>
          </p:cNvCxnSpPr>
          <p:nvPr/>
        </p:nvCxnSpPr>
        <p:spPr>
          <a:xfrm>
            <a:off x="2155605" y="2153646"/>
            <a:ext cx="0" cy="166500"/>
          </a:xfrm>
          <a:prstGeom prst="straightConnector1">
            <a:avLst/>
          </a:prstGeom>
          <a:noFill/>
          <a:ln cap="flat" cmpd="sng" w="17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7"/>
          <p:cNvCxnSpPr>
            <a:stCxn id="202" idx="2"/>
            <a:endCxn id="194" idx="0"/>
          </p:cNvCxnSpPr>
          <p:nvPr/>
        </p:nvCxnSpPr>
        <p:spPr>
          <a:xfrm>
            <a:off x="2155542" y="2543783"/>
            <a:ext cx="0" cy="166800"/>
          </a:xfrm>
          <a:prstGeom prst="straightConnector1">
            <a:avLst/>
          </a:prstGeom>
          <a:noFill/>
          <a:ln cap="flat" cmpd="sng" w="17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7"/>
          <p:cNvCxnSpPr>
            <a:stCxn id="195" idx="2"/>
            <a:endCxn id="205" idx="0"/>
          </p:cNvCxnSpPr>
          <p:nvPr/>
        </p:nvCxnSpPr>
        <p:spPr>
          <a:xfrm>
            <a:off x="2155684" y="3862867"/>
            <a:ext cx="0" cy="153600"/>
          </a:xfrm>
          <a:prstGeom prst="straightConnector1">
            <a:avLst/>
          </a:prstGeom>
          <a:noFill/>
          <a:ln cap="flat" cmpd="sng" w="17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06" name="Google Shape;206;p27"/>
          <p:cNvGrpSpPr/>
          <p:nvPr/>
        </p:nvGrpSpPr>
        <p:grpSpPr>
          <a:xfrm>
            <a:off x="840080" y="32250"/>
            <a:ext cx="5631911" cy="5032200"/>
            <a:chOff x="858775" y="96575"/>
            <a:chExt cx="5935200" cy="5032200"/>
          </a:xfrm>
        </p:grpSpPr>
        <p:sp>
          <p:nvSpPr>
            <p:cNvPr id="207" name="Google Shape;207;p27"/>
            <p:cNvSpPr/>
            <p:nvPr/>
          </p:nvSpPr>
          <p:spPr>
            <a:xfrm>
              <a:off x="858775" y="96575"/>
              <a:ext cx="5935200" cy="5032200"/>
            </a:xfrm>
            <a:prstGeom prst="roundRect">
              <a:avLst>
                <a:gd fmla="val 5627" name="adj"/>
              </a:avLst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7"/>
            <p:cNvSpPr txBox="1"/>
            <p:nvPr/>
          </p:nvSpPr>
          <p:spPr>
            <a:xfrm>
              <a:off x="5423975" y="110275"/>
              <a:ext cx="1188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500">
                  <a:solidFill>
                    <a:schemeClr val="dk2"/>
                  </a:solidFill>
                </a:rPr>
                <a:t>Backbone</a:t>
              </a:r>
              <a:endParaRPr b="1" sz="1500">
                <a:solidFill>
                  <a:schemeClr val="dk2"/>
                </a:solidFill>
              </a:endParaRPr>
            </a:p>
          </p:txBody>
        </p:sp>
      </p:grpSp>
      <p:sp>
        <p:nvSpPr>
          <p:cNvPr id="197" name="Google Shape;197;p27"/>
          <p:cNvSpPr/>
          <p:nvPr/>
        </p:nvSpPr>
        <p:spPr>
          <a:xfrm>
            <a:off x="1092935" y="234824"/>
            <a:ext cx="2125200" cy="631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/>
              <a:t>Stem</a:t>
            </a:r>
            <a:endParaRPr sz="111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925"/>
              <a:t>Conv 3x3, 14→32 s=2,</a:t>
            </a:r>
            <a:endParaRPr sz="925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925"/>
              <a:t>Conv3x3</a:t>
            </a:r>
            <a:r>
              <a:rPr lang="vi" sz="925"/>
              <a:t>, 32→32, s=1 BN+SiLU</a:t>
            </a:r>
            <a:endParaRPr sz="925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/>
              <a:t>32 x 400 x 352, /2</a:t>
            </a:r>
            <a:endParaRPr sz="1110"/>
          </a:p>
        </p:txBody>
      </p:sp>
      <p:grpSp>
        <p:nvGrpSpPr>
          <p:cNvPr id="209" name="Google Shape;209;p27"/>
          <p:cNvGrpSpPr/>
          <p:nvPr/>
        </p:nvGrpSpPr>
        <p:grpSpPr>
          <a:xfrm>
            <a:off x="881364" y="1378395"/>
            <a:ext cx="2548482" cy="775251"/>
            <a:chOff x="1168550" y="1667150"/>
            <a:chExt cx="2298000" cy="838200"/>
          </a:xfrm>
        </p:grpSpPr>
        <p:sp>
          <p:nvSpPr>
            <p:cNvPr id="200" name="Google Shape;200;p27"/>
            <p:cNvSpPr/>
            <p:nvPr/>
          </p:nvSpPr>
          <p:spPr>
            <a:xfrm>
              <a:off x="1168550" y="1667150"/>
              <a:ext cx="2298000" cy="838200"/>
            </a:xfrm>
            <a:prstGeom prst="roundRect">
              <a:avLst>
                <a:gd fmla="val 16667" name="adj"/>
              </a:avLst>
            </a:prstGeom>
            <a:solidFill>
              <a:srgbClr val="C9DAF8"/>
            </a:solidFill>
            <a:ln cap="flat" cmpd="sng" w="8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50" lIns="84550" spcFirstLastPara="1" rIns="84550" wrap="square" tIns="84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10"/>
                <a:t>Stage 2 / C2</a:t>
              </a:r>
              <a:endParaRPr sz="111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1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1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10"/>
                <a:t>48 x 200 x 176, /4</a:t>
              </a:r>
              <a:endParaRPr sz="1110"/>
            </a:p>
          </p:txBody>
        </p:sp>
        <p:grpSp>
          <p:nvGrpSpPr>
            <p:cNvPr id="210" name="Google Shape;210;p27"/>
            <p:cNvGrpSpPr/>
            <p:nvPr/>
          </p:nvGrpSpPr>
          <p:grpSpPr>
            <a:xfrm>
              <a:off x="1238750" y="1976875"/>
              <a:ext cx="2157600" cy="217350"/>
              <a:chOff x="1202400" y="1976875"/>
              <a:chExt cx="2157600" cy="217350"/>
            </a:xfrm>
          </p:grpSpPr>
          <p:sp>
            <p:nvSpPr>
              <p:cNvPr id="211" name="Google Shape;211;p27"/>
              <p:cNvSpPr/>
              <p:nvPr/>
            </p:nvSpPr>
            <p:spPr>
              <a:xfrm>
                <a:off x="1202400" y="1980650"/>
                <a:ext cx="493200" cy="211200"/>
              </a:xfrm>
              <a:prstGeom prst="roundRect">
                <a:avLst>
                  <a:gd fmla="val 16667" name="adj"/>
                </a:avLst>
              </a:prstGeom>
              <a:solidFill>
                <a:srgbClr val="C9DAF8"/>
              </a:solidFill>
              <a:ln cap="flat" cmpd="sng" w="176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4550" lIns="84550" spcFirstLastPara="1" rIns="84550" wrap="square" tIns="845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925"/>
                  <a:t>NeXt</a:t>
                </a:r>
                <a:endParaRPr sz="925"/>
              </a:p>
            </p:txBody>
          </p:sp>
          <p:sp>
            <p:nvSpPr>
              <p:cNvPr id="212" name="Google Shape;212;p27"/>
              <p:cNvSpPr/>
              <p:nvPr/>
            </p:nvSpPr>
            <p:spPr>
              <a:xfrm>
                <a:off x="1718900" y="1980650"/>
                <a:ext cx="486300" cy="211200"/>
              </a:xfrm>
              <a:prstGeom prst="roundRect">
                <a:avLst>
                  <a:gd fmla="val 16667" name="adj"/>
                </a:avLst>
              </a:prstGeom>
              <a:solidFill>
                <a:srgbClr val="C9DAF8"/>
              </a:solidFill>
              <a:ln cap="flat" cmpd="sng" w="176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4550" lIns="84550" spcFirstLastPara="1" rIns="84550" wrap="square" tIns="845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925"/>
                  <a:t>NeXt</a:t>
                </a:r>
                <a:endParaRPr sz="925"/>
              </a:p>
            </p:txBody>
          </p:sp>
          <p:sp>
            <p:nvSpPr>
              <p:cNvPr id="213" name="Google Shape;213;p27"/>
              <p:cNvSpPr/>
              <p:nvPr/>
            </p:nvSpPr>
            <p:spPr>
              <a:xfrm>
                <a:off x="2738100" y="1976875"/>
                <a:ext cx="621900" cy="211200"/>
              </a:xfrm>
              <a:prstGeom prst="roundRect">
                <a:avLst>
                  <a:gd fmla="val 16667" name="adj"/>
                </a:avLst>
              </a:prstGeom>
              <a:solidFill>
                <a:srgbClr val="B4A7D6"/>
              </a:solidFill>
              <a:ln cap="flat" cmpd="sng" w="176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4550" lIns="84550" spcFirstLastPara="1" rIns="84550" wrap="square" tIns="845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925"/>
                  <a:t>SimAM</a:t>
                </a:r>
                <a:endParaRPr sz="925"/>
              </a:p>
            </p:txBody>
          </p:sp>
          <p:sp>
            <p:nvSpPr>
              <p:cNvPr id="214" name="Google Shape;214;p27"/>
              <p:cNvSpPr/>
              <p:nvPr/>
            </p:nvSpPr>
            <p:spPr>
              <a:xfrm>
                <a:off x="2228500" y="1983025"/>
                <a:ext cx="486300" cy="211200"/>
              </a:xfrm>
              <a:prstGeom prst="roundRect">
                <a:avLst>
                  <a:gd fmla="val 16667" name="adj"/>
                </a:avLst>
              </a:prstGeom>
              <a:solidFill>
                <a:srgbClr val="C9DAF8"/>
              </a:solidFill>
              <a:ln cap="flat" cmpd="sng" w="176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4550" lIns="84550" spcFirstLastPara="1" rIns="84550" wrap="square" tIns="845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925"/>
                  <a:t>NeXt</a:t>
                </a:r>
                <a:endParaRPr sz="925"/>
              </a:p>
            </p:txBody>
          </p:sp>
        </p:grpSp>
      </p:grpSp>
      <p:sp>
        <p:nvSpPr>
          <p:cNvPr id="202" name="Google Shape;202;p27"/>
          <p:cNvSpPr/>
          <p:nvPr/>
        </p:nvSpPr>
        <p:spPr>
          <a:xfrm>
            <a:off x="1460142" y="2320283"/>
            <a:ext cx="1390800" cy="223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925"/>
              <a:t>Conv3x3, 48→96, s=2</a:t>
            </a:r>
            <a:endParaRPr sz="925"/>
          </a:p>
        </p:txBody>
      </p:sp>
      <p:grpSp>
        <p:nvGrpSpPr>
          <p:cNvPr id="215" name="Google Shape;215;p27"/>
          <p:cNvGrpSpPr/>
          <p:nvPr/>
        </p:nvGrpSpPr>
        <p:grpSpPr>
          <a:xfrm>
            <a:off x="881404" y="4016593"/>
            <a:ext cx="2548562" cy="775251"/>
            <a:chOff x="742675" y="4161700"/>
            <a:chExt cx="2755500" cy="838200"/>
          </a:xfrm>
        </p:grpSpPr>
        <p:sp>
          <p:nvSpPr>
            <p:cNvPr id="205" name="Google Shape;205;p27"/>
            <p:cNvSpPr/>
            <p:nvPr/>
          </p:nvSpPr>
          <p:spPr>
            <a:xfrm>
              <a:off x="742675" y="4161700"/>
              <a:ext cx="2755500" cy="838200"/>
            </a:xfrm>
            <a:prstGeom prst="roundRect">
              <a:avLst>
                <a:gd fmla="val 16667" name="adj"/>
              </a:avLst>
            </a:prstGeom>
            <a:solidFill>
              <a:srgbClr val="C9DAF8"/>
            </a:solidFill>
            <a:ln cap="flat" cmpd="sng" w="8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50" lIns="84550" spcFirstLastPara="1" rIns="84550" wrap="square" tIns="84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10"/>
                <a:t>Stage 2 / C4</a:t>
              </a:r>
              <a:endParaRPr sz="111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1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1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10"/>
                <a:t>128 x 50 x 44, /16</a:t>
              </a:r>
              <a:endParaRPr sz="1110"/>
            </a:p>
          </p:txBody>
        </p:sp>
        <p:grpSp>
          <p:nvGrpSpPr>
            <p:cNvPr id="216" name="Google Shape;216;p27"/>
            <p:cNvGrpSpPr/>
            <p:nvPr/>
          </p:nvGrpSpPr>
          <p:grpSpPr>
            <a:xfrm>
              <a:off x="1034200" y="4508075"/>
              <a:ext cx="2172450" cy="211200"/>
              <a:chOff x="1194975" y="2013525"/>
              <a:chExt cx="2172450" cy="211200"/>
            </a:xfrm>
          </p:grpSpPr>
          <p:sp>
            <p:nvSpPr>
              <p:cNvPr id="217" name="Google Shape;217;p27"/>
              <p:cNvSpPr/>
              <p:nvPr/>
            </p:nvSpPr>
            <p:spPr>
              <a:xfrm>
                <a:off x="1194975" y="2013525"/>
                <a:ext cx="1043400" cy="211200"/>
              </a:xfrm>
              <a:prstGeom prst="roundRect">
                <a:avLst>
                  <a:gd fmla="val 16667" name="adj"/>
                </a:avLst>
              </a:prstGeom>
              <a:solidFill>
                <a:srgbClr val="C9DAF8"/>
              </a:solidFill>
              <a:ln cap="flat" cmpd="sng" w="176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4550" lIns="84550" spcFirstLastPara="1" rIns="84550" wrap="square" tIns="845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925"/>
                  <a:t>NeXt</a:t>
                </a:r>
                <a:endParaRPr sz="925"/>
              </a:p>
            </p:txBody>
          </p:sp>
          <p:sp>
            <p:nvSpPr>
              <p:cNvPr id="218" name="Google Shape;218;p27"/>
              <p:cNvSpPr/>
              <p:nvPr/>
            </p:nvSpPr>
            <p:spPr>
              <a:xfrm>
                <a:off x="2264025" y="2013525"/>
                <a:ext cx="1103400" cy="211200"/>
              </a:xfrm>
              <a:prstGeom prst="roundRect">
                <a:avLst>
                  <a:gd fmla="val 16667" name="adj"/>
                </a:avLst>
              </a:prstGeom>
              <a:solidFill>
                <a:srgbClr val="C9DAF8"/>
              </a:solidFill>
              <a:ln cap="flat" cmpd="sng" w="176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4550" lIns="84550" spcFirstLastPara="1" rIns="84550" wrap="square" tIns="845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925"/>
                  <a:t>NeXt</a:t>
                </a:r>
                <a:endParaRPr sz="925"/>
              </a:p>
            </p:txBody>
          </p:sp>
        </p:grpSp>
      </p:grpSp>
      <p:grpSp>
        <p:nvGrpSpPr>
          <p:cNvPr id="219" name="Google Shape;219;p27"/>
          <p:cNvGrpSpPr/>
          <p:nvPr/>
        </p:nvGrpSpPr>
        <p:grpSpPr>
          <a:xfrm>
            <a:off x="881403" y="2710527"/>
            <a:ext cx="2548562" cy="775251"/>
            <a:chOff x="730493" y="2749888"/>
            <a:chExt cx="2755500" cy="838200"/>
          </a:xfrm>
        </p:grpSpPr>
        <p:sp>
          <p:nvSpPr>
            <p:cNvPr id="194" name="Google Shape;194;p27"/>
            <p:cNvSpPr/>
            <p:nvPr/>
          </p:nvSpPr>
          <p:spPr>
            <a:xfrm>
              <a:off x="730493" y="2749888"/>
              <a:ext cx="2755500" cy="838200"/>
            </a:xfrm>
            <a:prstGeom prst="roundRect">
              <a:avLst>
                <a:gd fmla="val 16667" name="adj"/>
              </a:avLst>
            </a:prstGeom>
            <a:solidFill>
              <a:srgbClr val="C9DAF8"/>
            </a:solidFill>
            <a:ln cap="flat" cmpd="sng" w="8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50" lIns="84550" spcFirstLastPara="1" rIns="84550" wrap="square" tIns="84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10"/>
                <a:t>Stage 3 / C3</a:t>
              </a:r>
              <a:endParaRPr sz="111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1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1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10"/>
                <a:t>96 x 100 x 88, /8</a:t>
              </a:r>
              <a:endParaRPr sz="1110"/>
            </a:p>
          </p:txBody>
        </p:sp>
        <p:grpSp>
          <p:nvGrpSpPr>
            <p:cNvPr id="220" name="Google Shape;220;p27"/>
            <p:cNvGrpSpPr/>
            <p:nvPr/>
          </p:nvGrpSpPr>
          <p:grpSpPr>
            <a:xfrm>
              <a:off x="763720" y="3060900"/>
              <a:ext cx="2689046" cy="216175"/>
              <a:chOff x="669325" y="3138263"/>
              <a:chExt cx="2689046" cy="216175"/>
            </a:xfrm>
          </p:grpSpPr>
          <p:grpSp>
            <p:nvGrpSpPr>
              <p:cNvPr id="221" name="Google Shape;221;p27"/>
              <p:cNvGrpSpPr/>
              <p:nvPr/>
            </p:nvGrpSpPr>
            <p:grpSpPr>
              <a:xfrm>
                <a:off x="1192600" y="3138263"/>
                <a:ext cx="2165771" cy="216175"/>
                <a:chOff x="1388007" y="1976875"/>
                <a:chExt cx="1971930" cy="216175"/>
              </a:xfrm>
            </p:grpSpPr>
            <p:sp>
              <p:nvSpPr>
                <p:cNvPr id="222" name="Google Shape;222;p27"/>
                <p:cNvSpPr/>
                <p:nvPr/>
              </p:nvSpPr>
              <p:spPr>
                <a:xfrm>
                  <a:off x="1388007" y="1976875"/>
                  <a:ext cx="448500" cy="2112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C9DAF8"/>
                </a:solidFill>
                <a:ln cap="flat" cmpd="sng" w="176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4550" lIns="84550" spcFirstLastPara="1" rIns="84550" wrap="square" tIns="8455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vi" sz="925"/>
                    <a:t>NeXt</a:t>
                  </a:r>
                  <a:endParaRPr sz="925"/>
                </a:p>
              </p:txBody>
            </p:sp>
            <p:sp>
              <p:nvSpPr>
                <p:cNvPr id="223" name="Google Shape;223;p27"/>
                <p:cNvSpPr/>
                <p:nvPr/>
              </p:nvSpPr>
              <p:spPr>
                <a:xfrm>
                  <a:off x="1862309" y="1976875"/>
                  <a:ext cx="459300" cy="2112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C9DAF8"/>
                </a:solidFill>
                <a:ln cap="flat" cmpd="sng" w="176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4550" lIns="84550" spcFirstLastPara="1" rIns="84550" wrap="square" tIns="8455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vi" sz="925"/>
                    <a:t>NeXt</a:t>
                  </a:r>
                  <a:endParaRPr sz="925"/>
                </a:p>
              </p:txBody>
            </p:sp>
            <p:sp>
              <p:nvSpPr>
                <p:cNvPr id="224" name="Google Shape;224;p27"/>
                <p:cNvSpPr/>
                <p:nvPr/>
              </p:nvSpPr>
              <p:spPr>
                <a:xfrm>
                  <a:off x="2837638" y="1976875"/>
                  <a:ext cx="522300" cy="2112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B4A7D6"/>
                </a:solidFill>
                <a:ln cap="flat" cmpd="sng" w="176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4550" lIns="84550" spcFirstLastPara="1" rIns="84550" wrap="square" tIns="8455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vi" sz="925"/>
                    <a:t>Focal</a:t>
                  </a:r>
                  <a:endParaRPr sz="925"/>
                </a:p>
              </p:txBody>
            </p:sp>
            <p:sp>
              <p:nvSpPr>
                <p:cNvPr id="225" name="Google Shape;225;p27"/>
                <p:cNvSpPr/>
                <p:nvPr/>
              </p:nvSpPr>
              <p:spPr>
                <a:xfrm>
                  <a:off x="2347422" y="1981850"/>
                  <a:ext cx="464400" cy="2112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C9DAF8"/>
                </a:solidFill>
                <a:ln cap="flat" cmpd="sng" w="176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84550" lIns="84550" spcFirstLastPara="1" rIns="84550" wrap="square" tIns="8455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vi" sz="925"/>
                    <a:t>NeXt</a:t>
                  </a:r>
                  <a:endParaRPr sz="925"/>
                </a:p>
              </p:txBody>
            </p:sp>
          </p:grpSp>
          <p:sp>
            <p:nvSpPr>
              <p:cNvPr id="226" name="Google Shape;226;p27"/>
              <p:cNvSpPr/>
              <p:nvPr/>
            </p:nvSpPr>
            <p:spPr>
              <a:xfrm>
                <a:off x="669325" y="3140750"/>
                <a:ext cx="492600" cy="211200"/>
              </a:xfrm>
              <a:prstGeom prst="roundRect">
                <a:avLst>
                  <a:gd fmla="val 16667" name="adj"/>
                </a:avLst>
              </a:prstGeom>
              <a:solidFill>
                <a:srgbClr val="C9DAF8"/>
              </a:solidFill>
              <a:ln cap="flat" cmpd="sng" w="176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4550" lIns="84550" spcFirstLastPara="1" rIns="84550" wrap="square" tIns="845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925"/>
                  <a:t>NeXt</a:t>
                </a:r>
                <a:endParaRPr sz="925"/>
              </a:p>
            </p:txBody>
          </p:sp>
        </p:grpSp>
      </p:grpSp>
      <p:sp>
        <p:nvSpPr>
          <p:cNvPr id="227" name="Google Shape;227;p27"/>
          <p:cNvSpPr/>
          <p:nvPr/>
        </p:nvSpPr>
        <p:spPr>
          <a:xfrm>
            <a:off x="3770653" y="1560298"/>
            <a:ext cx="1134600" cy="426000"/>
          </a:xfrm>
          <a:prstGeom prst="roundRect">
            <a:avLst>
              <a:gd fmla="val 16667" name="adj"/>
            </a:avLst>
          </a:prstGeom>
          <a:solidFill>
            <a:srgbClr val="A9CE91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>
                <a:solidFill>
                  <a:srgbClr val="242629"/>
                </a:solidFill>
              </a:rPr>
              <a:t>L3: Conv 1×1</a:t>
            </a:r>
            <a:endParaRPr sz="1110">
              <a:solidFill>
                <a:srgbClr val="24262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>
                <a:solidFill>
                  <a:srgbClr val="242629"/>
                </a:solidFill>
              </a:rPr>
              <a:t>48→32</a:t>
            </a:r>
            <a:endParaRPr sz="1110"/>
          </a:p>
        </p:txBody>
      </p:sp>
      <p:sp>
        <p:nvSpPr>
          <p:cNvPr id="228" name="Google Shape;228;p27"/>
          <p:cNvSpPr/>
          <p:nvPr/>
        </p:nvSpPr>
        <p:spPr>
          <a:xfrm>
            <a:off x="4840489" y="2219037"/>
            <a:ext cx="1390800" cy="426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vi" sz="925">
                <a:solidFill>
                  <a:srgbClr val="242629"/>
                </a:solidFill>
              </a:rPr>
              <a:t>Bilinear ↑2</a:t>
            </a:r>
            <a:endParaRPr sz="925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925"/>
              <a:t>Conv3x3, 48→24</a:t>
            </a:r>
            <a:endParaRPr sz="925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925"/>
              <a:t>BN + SiLU</a:t>
            </a:r>
            <a:endParaRPr sz="925"/>
          </a:p>
        </p:txBody>
      </p:sp>
      <p:sp>
        <p:nvSpPr>
          <p:cNvPr id="229" name="Google Shape;229;p27"/>
          <p:cNvSpPr/>
          <p:nvPr/>
        </p:nvSpPr>
        <p:spPr>
          <a:xfrm>
            <a:off x="4840489" y="3577846"/>
            <a:ext cx="1390800" cy="4260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925">
                <a:solidFill>
                  <a:srgbClr val="242629"/>
                </a:solidFill>
              </a:rPr>
              <a:t>Bilinear ↑2</a:t>
            </a:r>
            <a:endParaRPr sz="925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925"/>
              <a:t>DW</a:t>
            </a:r>
            <a:r>
              <a:rPr lang="vi" sz="925"/>
              <a:t>Conv3x3, 48→48</a:t>
            </a:r>
            <a:endParaRPr sz="925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925"/>
              <a:t>BN + SiLU</a:t>
            </a:r>
            <a:endParaRPr sz="925"/>
          </a:p>
        </p:txBody>
      </p:sp>
      <p:sp>
        <p:nvSpPr>
          <p:cNvPr id="230" name="Google Shape;230;p27"/>
          <p:cNvSpPr txBox="1"/>
          <p:nvPr/>
        </p:nvSpPr>
        <p:spPr>
          <a:xfrm>
            <a:off x="3767023" y="1963314"/>
            <a:ext cx="1134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050" lIns="70125" spcFirstLastPara="1" rIns="70125" wrap="square" tIns="35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>
                <a:solidFill>
                  <a:srgbClr val="242629"/>
                </a:solidFill>
              </a:rPr>
              <a:t>32</a:t>
            </a:r>
            <a:r>
              <a:rPr b="0" i="0" lang="vi" spc="0" sz="111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× 200 × 176</a:t>
            </a:r>
            <a:endParaRPr sz="1110"/>
          </a:p>
        </p:txBody>
      </p:sp>
      <p:sp>
        <p:nvSpPr>
          <p:cNvPr id="231" name="Google Shape;231;p27"/>
          <p:cNvSpPr/>
          <p:nvPr/>
        </p:nvSpPr>
        <p:spPr>
          <a:xfrm>
            <a:off x="3770653" y="2877553"/>
            <a:ext cx="1134600" cy="426000"/>
          </a:xfrm>
          <a:prstGeom prst="roundRect">
            <a:avLst>
              <a:gd fmla="val 16667" name="adj"/>
            </a:avLst>
          </a:prstGeom>
          <a:solidFill>
            <a:srgbClr val="A9CE91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>
                <a:solidFill>
                  <a:srgbClr val="242629"/>
                </a:solidFill>
              </a:rPr>
              <a:t>L4: Conv 1×1</a:t>
            </a:r>
            <a:endParaRPr sz="1110">
              <a:solidFill>
                <a:srgbClr val="24262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>
                <a:solidFill>
                  <a:srgbClr val="242629"/>
                </a:solidFill>
              </a:rPr>
              <a:t>96→48</a:t>
            </a:r>
            <a:endParaRPr sz="1110">
              <a:solidFill>
                <a:srgbClr val="242629"/>
              </a:solidFill>
            </a:endParaRPr>
          </a:p>
        </p:txBody>
      </p:sp>
      <p:grpSp>
        <p:nvGrpSpPr>
          <p:cNvPr id="232" name="Google Shape;232;p27"/>
          <p:cNvGrpSpPr/>
          <p:nvPr/>
        </p:nvGrpSpPr>
        <p:grpSpPr>
          <a:xfrm>
            <a:off x="1460205" y="947700"/>
            <a:ext cx="2470311" cy="313264"/>
            <a:chOff x="1356293" y="843619"/>
            <a:chExt cx="2670895" cy="338700"/>
          </a:xfrm>
        </p:grpSpPr>
        <p:sp>
          <p:nvSpPr>
            <p:cNvPr id="198" name="Google Shape;198;p27"/>
            <p:cNvSpPr/>
            <p:nvPr/>
          </p:nvSpPr>
          <p:spPr>
            <a:xfrm>
              <a:off x="1356293" y="901858"/>
              <a:ext cx="1503900" cy="241500"/>
            </a:xfrm>
            <a:prstGeom prst="roundRect">
              <a:avLst>
                <a:gd fmla="val 16667" name="adj"/>
              </a:avLst>
            </a:prstGeom>
            <a:solidFill>
              <a:srgbClr val="F9CB9C"/>
            </a:solidFill>
            <a:ln cap="flat" cmpd="sng" w="8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50" lIns="84550" spcFirstLastPara="1" rIns="84550" wrap="square" tIns="84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925"/>
                <a:t>Conv3x3, 32→48, s=2</a:t>
              </a:r>
              <a:endParaRPr sz="925"/>
            </a:p>
          </p:txBody>
        </p:sp>
        <p:sp>
          <p:nvSpPr>
            <p:cNvPr id="233" name="Google Shape;233;p27"/>
            <p:cNvSpPr txBox="1"/>
            <p:nvPr/>
          </p:nvSpPr>
          <p:spPr>
            <a:xfrm>
              <a:off x="2907888" y="843619"/>
              <a:ext cx="111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550" lIns="84550" spcFirstLastPara="1" rIns="84550" wrap="square" tIns="845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925">
                  <a:solidFill>
                    <a:schemeClr val="dk1"/>
                  </a:solidFill>
                </a:rPr>
                <a:t>BN + SiLU</a:t>
              </a:r>
              <a:endParaRPr sz="925">
                <a:solidFill>
                  <a:schemeClr val="dk1"/>
                </a:solidFill>
              </a:endParaRPr>
            </a:p>
          </p:txBody>
        </p:sp>
      </p:grpSp>
      <p:grpSp>
        <p:nvGrpSpPr>
          <p:cNvPr id="234" name="Google Shape;234;p27"/>
          <p:cNvGrpSpPr/>
          <p:nvPr/>
        </p:nvGrpSpPr>
        <p:grpSpPr>
          <a:xfrm>
            <a:off x="1412342" y="3594550"/>
            <a:ext cx="2518276" cy="313264"/>
            <a:chOff x="1304543" y="3705388"/>
            <a:chExt cx="2722755" cy="338700"/>
          </a:xfrm>
        </p:grpSpPr>
        <p:sp>
          <p:nvSpPr>
            <p:cNvPr id="195" name="Google Shape;195;p27"/>
            <p:cNvSpPr/>
            <p:nvPr/>
          </p:nvSpPr>
          <p:spPr>
            <a:xfrm>
              <a:off x="1304543" y="3753992"/>
              <a:ext cx="1607400" cy="241500"/>
            </a:xfrm>
            <a:prstGeom prst="roundRect">
              <a:avLst>
                <a:gd fmla="val 16667" name="adj"/>
              </a:avLst>
            </a:prstGeom>
            <a:solidFill>
              <a:srgbClr val="F9CB9C"/>
            </a:solidFill>
            <a:ln cap="flat" cmpd="sng" w="8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50" lIns="84550" spcFirstLastPara="1" rIns="84550" wrap="square" tIns="84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925"/>
                <a:t>Conv3x3, 96→128, s=2</a:t>
              </a:r>
              <a:endParaRPr sz="925"/>
            </a:p>
          </p:txBody>
        </p:sp>
        <p:sp>
          <p:nvSpPr>
            <p:cNvPr id="235" name="Google Shape;235;p27"/>
            <p:cNvSpPr txBox="1"/>
            <p:nvPr/>
          </p:nvSpPr>
          <p:spPr>
            <a:xfrm>
              <a:off x="2977598" y="3705388"/>
              <a:ext cx="1049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550" lIns="84550" spcFirstLastPara="1" rIns="84550" wrap="square" tIns="845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925">
                  <a:solidFill>
                    <a:schemeClr val="dk1"/>
                  </a:solidFill>
                </a:rPr>
                <a:t>BN + SiLU</a:t>
              </a:r>
              <a:endParaRPr sz="925">
                <a:solidFill>
                  <a:schemeClr val="dk1"/>
                </a:solidFill>
              </a:endParaRPr>
            </a:p>
          </p:txBody>
        </p:sp>
      </p:grpSp>
      <p:sp>
        <p:nvSpPr>
          <p:cNvPr id="236" name="Google Shape;236;p27"/>
          <p:cNvSpPr txBox="1"/>
          <p:nvPr/>
        </p:nvSpPr>
        <p:spPr>
          <a:xfrm>
            <a:off x="3766977" y="3309435"/>
            <a:ext cx="1134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050" lIns="70125" spcFirstLastPara="1" rIns="70125" wrap="square" tIns="35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>
                <a:solidFill>
                  <a:srgbClr val="242629"/>
                </a:solidFill>
              </a:rPr>
              <a:t>48 </a:t>
            </a:r>
            <a:r>
              <a:rPr b="0" i="0" lang="vi" spc="0" sz="111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lang="vi" sz="1110">
                <a:solidFill>
                  <a:srgbClr val="242629"/>
                </a:solidFill>
              </a:rPr>
              <a:t>1</a:t>
            </a:r>
            <a:r>
              <a:rPr b="0" i="0" lang="vi" spc="0" sz="111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00 × </a:t>
            </a:r>
            <a:r>
              <a:rPr lang="vi" sz="1110">
                <a:solidFill>
                  <a:srgbClr val="242629"/>
                </a:solidFill>
              </a:rPr>
              <a:t>88</a:t>
            </a:r>
            <a:endParaRPr sz="1110"/>
          </a:p>
        </p:txBody>
      </p:sp>
      <p:sp>
        <p:nvSpPr>
          <p:cNvPr id="237" name="Google Shape;237;p27"/>
          <p:cNvSpPr/>
          <p:nvPr/>
        </p:nvSpPr>
        <p:spPr>
          <a:xfrm>
            <a:off x="3770653" y="4197605"/>
            <a:ext cx="1134600" cy="426000"/>
          </a:xfrm>
          <a:prstGeom prst="roundRect">
            <a:avLst>
              <a:gd fmla="val 16667" name="adj"/>
            </a:avLst>
          </a:prstGeom>
          <a:solidFill>
            <a:srgbClr val="A9CE91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>
                <a:solidFill>
                  <a:srgbClr val="242629"/>
                </a:solidFill>
              </a:rPr>
              <a:t>L5: Conv 1×1</a:t>
            </a:r>
            <a:endParaRPr sz="1110">
              <a:solidFill>
                <a:srgbClr val="24262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>
                <a:solidFill>
                  <a:srgbClr val="242629"/>
                </a:solidFill>
              </a:rPr>
              <a:t>128→48</a:t>
            </a:r>
            <a:endParaRPr sz="1110"/>
          </a:p>
        </p:txBody>
      </p:sp>
      <p:sp>
        <p:nvSpPr>
          <p:cNvPr id="238" name="Google Shape;238;p27"/>
          <p:cNvSpPr txBox="1"/>
          <p:nvPr/>
        </p:nvSpPr>
        <p:spPr>
          <a:xfrm>
            <a:off x="3768988" y="4629476"/>
            <a:ext cx="1134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050" lIns="70125" spcFirstLastPara="1" rIns="70125" wrap="square" tIns="35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>
                <a:solidFill>
                  <a:srgbClr val="242629"/>
                </a:solidFill>
              </a:rPr>
              <a:t>48 </a:t>
            </a:r>
            <a:r>
              <a:rPr b="0" i="0" lang="vi" spc="0" sz="111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lang="vi" sz="1110">
                <a:solidFill>
                  <a:srgbClr val="242629"/>
                </a:solidFill>
              </a:rPr>
              <a:t>1</a:t>
            </a:r>
            <a:r>
              <a:rPr b="0" i="0" lang="vi" spc="0" sz="111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00 × </a:t>
            </a:r>
            <a:r>
              <a:rPr lang="vi" sz="1110">
                <a:solidFill>
                  <a:srgbClr val="242629"/>
                </a:solidFill>
              </a:rPr>
              <a:t>88</a:t>
            </a:r>
            <a:endParaRPr sz="1110"/>
          </a:p>
        </p:txBody>
      </p:sp>
      <p:cxnSp>
        <p:nvCxnSpPr>
          <p:cNvPr id="239" name="Google Shape;239;p27"/>
          <p:cNvCxnSpPr>
            <a:stCxn id="205" idx="3"/>
            <a:endCxn id="237" idx="1"/>
          </p:cNvCxnSpPr>
          <p:nvPr/>
        </p:nvCxnSpPr>
        <p:spPr>
          <a:xfrm>
            <a:off x="3429965" y="4404219"/>
            <a:ext cx="3408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27"/>
          <p:cNvCxnSpPr>
            <a:stCxn id="194" idx="3"/>
            <a:endCxn id="231" idx="1"/>
          </p:cNvCxnSpPr>
          <p:nvPr/>
        </p:nvCxnSpPr>
        <p:spPr>
          <a:xfrm flipH="1" rot="10800000">
            <a:off x="3429965" y="3090652"/>
            <a:ext cx="3408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27"/>
          <p:cNvCxnSpPr>
            <a:stCxn id="200" idx="3"/>
            <a:endCxn id="227" idx="1"/>
          </p:cNvCxnSpPr>
          <p:nvPr/>
        </p:nvCxnSpPr>
        <p:spPr>
          <a:xfrm>
            <a:off x="3429846" y="1766021"/>
            <a:ext cx="3408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27"/>
          <p:cNvCxnSpPr>
            <a:stCxn id="237" idx="3"/>
            <a:endCxn id="229" idx="2"/>
          </p:cNvCxnSpPr>
          <p:nvPr/>
        </p:nvCxnSpPr>
        <p:spPr>
          <a:xfrm flipH="1" rot="10800000">
            <a:off x="4905253" y="4003805"/>
            <a:ext cx="630600" cy="406800"/>
          </a:xfrm>
          <a:prstGeom prst="bentConnector2">
            <a:avLst/>
          </a:prstGeom>
          <a:noFill/>
          <a:ln cap="flat" cmpd="sng" w="8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27"/>
          <p:cNvCxnSpPr>
            <a:stCxn id="231" idx="3"/>
            <a:endCxn id="244" idx="2"/>
          </p:cNvCxnSpPr>
          <p:nvPr/>
        </p:nvCxnSpPr>
        <p:spPr>
          <a:xfrm flipH="1" rot="10800000">
            <a:off x="4905253" y="3084253"/>
            <a:ext cx="497100" cy="6300"/>
          </a:xfrm>
          <a:prstGeom prst="straightConnector1">
            <a:avLst/>
          </a:prstGeom>
          <a:noFill/>
          <a:ln cap="flat" cmpd="sng" w="8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7"/>
          <p:cNvCxnSpPr>
            <a:stCxn id="229" idx="0"/>
            <a:endCxn id="244" idx="4"/>
          </p:cNvCxnSpPr>
          <p:nvPr/>
        </p:nvCxnSpPr>
        <p:spPr>
          <a:xfrm rot="10800000">
            <a:off x="5535889" y="3217846"/>
            <a:ext cx="0" cy="360000"/>
          </a:xfrm>
          <a:prstGeom prst="straightConnector1">
            <a:avLst/>
          </a:prstGeom>
          <a:noFill/>
          <a:ln cap="flat" cmpd="sng" w="8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7"/>
          <p:cNvCxnSpPr>
            <a:stCxn id="244" idx="0"/>
            <a:endCxn id="228" idx="2"/>
          </p:cNvCxnSpPr>
          <p:nvPr/>
        </p:nvCxnSpPr>
        <p:spPr>
          <a:xfrm rot="10800000">
            <a:off x="5535843" y="2644940"/>
            <a:ext cx="0" cy="305700"/>
          </a:xfrm>
          <a:prstGeom prst="straightConnector1">
            <a:avLst/>
          </a:prstGeom>
          <a:noFill/>
          <a:ln cap="flat" cmpd="sng" w="8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47" name="Google Shape;247;p27"/>
          <p:cNvGrpSpPr/>
          <p:nvPr/>
        </p:nvGrpSpPr>
        <p:grpSpPr>
          <a:xfrm>
            <a:off x="5402241" y="2950640"/>
            <a:ext cx="267300" cy="267204"/>
            <a:chOff x="5635415" y="2996115"/>
            <a:chExt cx="267300" cy="267204"/>
          </a:xfrm>
        </p:grpSpPr>
        <p:sp>
          <p:nvSpPr>
            <p:cNvPr id="244" name="Google Shape;244;p27"/>
            <p:cNvSpPr/>
            <p:nvPr/>
          </p:nvSpPr>
          <p:spPr>
            <a:xfrm>
              <a:off x="5635415" y="2996115"/>
              <a:ext cx="267204" cy="267204"/>
            </a:xfrm>
            <a:prstGeom prst="flowChartConnector">
              <a:avLst/>
            </a:prstGeom>
            <a:solidFill>
              <a:schemeClr val="lt2"/>
            </a:solidFill>
            <a:ln cap="flat" cmpd="sng" w="8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50" lIns="84550" spcFirstLastPara="1" rIns="84550" wrap="square" tIns="84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7"/>
            </a:p>
          </p:txBody>
        </p:sp>
        <p:sp>
          <p:nvSpPr>
            <p:cNvPr id="248" name="Google Shape;248;p27"/>
            <p:cNvSpPr txBox="1"/>
            <p:nvPr/>
          </p:nvSpPr>
          <p:spPr>
            <a:xfrm>
              <a:off x="5635415" y="2999872"/>
              <a:ext cx="267300" cy="25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050" lIns="70125" spcFirstLastPara="1" rIns="70125" wrap="square" tIns="350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10">
                  <a:solidFill>
                    <a:srgbClr val="242629"/>
                  </a:solidFill>
                </a:rPr>
                <a:t>G</a:t>
              </a:r>
              <a:endParaRPr sz="1110"/>
            </a:p>
          </p:txBody>
        </p:sp>
      </p:grpSp>
      <p:grpSp>
        <p:nvGrpSpPr>
          <p:cNvPr id="249" name="Google Shape;249;p27"/>
          <p:cNvGrpSpPr/>
          <p:nvPr/>
        </p:nvGrpSpPr>
        <p:grpSpPr>
          <a:xfrm>
            <a:off x="5402241" y="1646190"/>
            <a:ext cx="267204" cy="267204"/>
            <a:chOff x="6195828" y="2112177"/>
            <a:chExt cx="288900" cy="288900"/>
          </a:xfrm>
        </p:grpSpPr>
        <p:sp>
          <p:nvSpPr>
            <p:cNvPr id="250" name="Google Shape;250;p27"/>
            <p:cNvSpPr/>
            <p:nvPr/>
          </p:nvSpPr>
          <p:spPr>
            <a:xfrm>
              <a:off x="6195828" y="2112177"/>
              <a:ext cx="288900" cy="288900"/>
            </a:xfrm>
            <a:prstGeom prst="flowChartConnector">
              <a:avLst/>
            </a:prstGeom>
            <a:solidFill>
              <a:schemeClr val="lt2"/>
            </a:solidFill>
            <a:ln cap="flat" cmpd="sng" w="8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50" lIns="84550" spcFirstLastPara="1" rIns="84550" wrap="square" tIns="84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17"/>
            </a:p>
          </p:txBody>
        </p:sp>
        <p:sp>
          <p:nvSpPr>
            <p:cNvPr id="251" name="Google Shape;251;p27"/>
            <p:cNvSpPr txBox="1"/>
            <p:nvPr/>
          </p:nvSpPr>
          <p:spPr>
            <a:xfrm>
              <a:off x="6195828" y="2116240"/>
              <a:ext cx="288900" cy="2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050" lIns="70125" spcFirstLastPara="1" rIns="70125" wrap="square" tIns="350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10">
                  <a:solidFill>
                    <a:srgbClr val="242629"/>
                  </a:solidFill>
                </a:rPr>
                <a:t>G</a:t>
              </a:r>
              <a:endParaRPr sz="1110"/>
            </a:p>
          </p:txBody>
        </p:sp>
      </p:grpSp>
      <p:sp>
        <p:nvSpPr>
          <p:cNvPr id="252" name="Google Shape;252;p27"/>
          <p:cNvSpPr txBox="1"/>
          <p:nvPr/>
        </p:nvSpPr>
        <p:spPr>
          <a:xfrm>
            <a:off x="5402351" y="2818925"/>
            <a:ext cx="1226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solidFill>
                  <a:schemeClr val="dk2"/>
                </a:solidFill>
              </a:rPr>
              <a:t>Gated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solidFill>
                  <a:schemeClr val="dk2"/>
                </a:solidFill>
              </a:rPr>
              <a:t>Fusion (P4)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253" name="Google Shape;253;p27"/>
          <p:cNvCxnSpPr>
            <a:stCxn id="228" idx="0"/>
            <a:endCxn id="251" idx="2"/>
          </p:cNvCxnSpPr>
          <p:nvPr/>
        </p:nvCxnSpPr>
        <p:spPr>
          <a:xfrm rot="10800000">
            <a:off x="5535889" y="1909737"/>
            <a:ext cx="0" cy="309300"/>
          </a:xfrm>
          <a:prstGeom prst="straightConnector1">
            <a:avLst/>
          </a:prstGeom>
          <a:noFill/>
          <a:ln cap="flat" cmpd="sng" w="8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27"/>
          <p:cNvSpPr txBox="1"/>
          <p:nvPr/>
        </p:nvSpPr>
        <p:spPr>
          <a:xfrm>
            <a:off x="5402351" y="1487288"/>
            <a:ext cx="1226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solidFill>
                  <a:schemeClr val="dk2"/>
                </a:solidFill>
              </a:rPr>
              <a:t>Gated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solidFill>
                  <a:schemeClr val="dk2"/>
                </a:solidFill>
              </a:rPr>
              <a:t>Fusion (P4)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255" name="Google Shape;255;p27"/>
          <p:cNvCxnSpPr>
            <a:stCxn id="227" idx="3"/>
            <a:endCxn id="251" idx="1"/>
          </p:cNvCxnSpPr>
          <p:nvPr/>
        </p:nvCxnSpPr>
        <p:spPr>
          <a:xfrm>
            <a:off x="4905253" y="1773298"/>
            <a:ext cx="497100" cy="6600"/>
          </a:xfrm>
          <a:prstGeom prst="straightConnector1">
            <a:avLst/>
          </a:prstGeom>
          <a:noFill/>
          <a:ln cap="flat" cmpd="sng" w="8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27"/>
          <p:cNvSpPr/>
          <p:nvPr/>
        </p:nvSpPr>
        <p:spPr>
          <a:xfrm>
            <a:off x="4853553" y="744550"/>
            <a:ext cx="1364700" cy="426000"/>
          </a:xfrm>
          <a:prstGeom prst="roundRect">
            <a:avLst>
              <a:gd fmla="val 16667" name="adj"/>
            </a:avLst>
          </a:prstGeom>
          <a:solidFill>
            <a:srgbClr val="A9CE91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>
                <a:solidFill>
                  <a:srgbClr val="242629"/>
                </a:solidFill>
              </a:rPr>
              <a:t>Conv 3×3, 24→32</a:t>
            </a:r>
            <a:endParaRPr sz="1110">
              <a:solidFill>
                <a:srgbClr val="24262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10">
                <a:solidFill>
                  <a:srgbClr val="242629"/>
                </a:solidFill>
              </a:rPr>
              <a:t>BN + SiLU</a:t>
            </a:r>
            <a:endParaRPr sz="1110"/>
          </a:p>
        </p:txBody>
      </p:sp>
      <p:cxnSp>
        <p:nvCxnSpPr>
          <p:cNvPr id="257" name="Google Shape;257;p27"/>
          <p:cNvCxnSpPr>
            <a:stCxn id="251" idx="0"/>
            <a:endCxn id="256" idx="2"/>
          </p:cNvCxnSpPr>
          <p:nvPr/>
        </p:nvCxnSpPr>
        <p:spPr>
          <a:xfrm rot="10800000">
            <a:off x="5535843" y="1170547"/>
            <a:ext cx="0" cy="479400"/>
          </a:xfrm>
          <a:prstGeom prst="straightConnector1">
            <a:avLst/>
          </a:prstGeom>
          <a:noFill/>
          <a:ln cap="flat" cmpd="sng" w="88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27"/>
          <p:cNvSpPr/>
          <p:nvPr/>
        </p:nvSpPr>
        <p:spPr>
          <a:xfrm>
            <a:off x="6620750" y="32250"/>
            <a:ext cx="2455200" cy="2419500"/>
          </a:xfrm>
          <a:prstGeom prst="roundRect">
            <a:avLst>
              <a:gd fmla="val 5627" name="adj"/>
            </a:avLst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"/>
          <p:cNvSpPr/>
          <p:nvPr/>
        </p:nvSpPr>
        <p:spPr>
          <a:xfrm>
            <a:off x="8117136" y="221682"/>
            <a:ext cx="124456" cy="208500"/>
          </a:xfrm>
          <a:prstGeom prst="cube">
            <a:avLst>
              <a:gd fmla="val 25000" name="adj"/>
            </a:avLst>
          </a:prstGeom>
          <a:solidFill>
            <a:srgbClr val="E89A50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sp>
        <p:nvSpPr>
          <p:cNvPr id="260" name="Google Shape;260;p27"/>
          <p:cNvSpPr/>
          <p:nvPr/>
        </p:nvSpPr>
        <p:spPr>
          <a:xfrm>
            <a:off x="8120379" y="640957"/>
            <a:ext cx="124456" cy="208500"/>
          </a:xfrm>
          <a:prstGeom prst="cube">
            <a:avLst>
              <a:gd fmla="val 25000" name="adj"/>
            </a:avLst>
          </a:prstGeom>
          <a:solidFill>
            <a:srgbClr val="A6BDD8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sp>
        <p:nvSpPr>
          <p:cNvPr id="261" name="Google Shape;261;p27"/>
          <p:cNvSpPr/>
          <p:nvPr/>
        </p:nvSpPr>
        <p:spPr>
          <a:xfrm>
            <a:off x="8117136" y="1060232"/>
            <a:ext cx="124456" cy="208500"/>
          </a:xfrm>
          <a:prstGeom prst="cube">
            <a:avLst>
              <a:gd fmla="val 25000" name="adj"/>
            </a:avLst>
          </a:prstGeom>
          <a:solidFill>
            <a:srgbClr val="DDC66E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sp>
        <p:nvSpPr>
          <p:cNvPr id="262" name="Google Shape;262;p27"/>
          <p:cNvSpPr/>
          <p:nvPr/>
        </p:nvSpPr>
        <p:spPr>
          <a:xfrm>
            <a:off x="8117136" y="1496644"/>
            <a:ext cx="124456" cy="208500"/>
          </a:xfrm>
          <a:prstGeom prst="cube">
            <a:avLst>
              <a:gd fmla="val 25000" name="adj"/>
            </a:avLst>
          </a:prstGeom>
          <a:solidFill>
            <a:srgbClr val="A8C983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sp>
        <p:nvSpPr>
          <p:cNvPr id="263" name="Google Shape;263;p27"/>
          <p:cNvSpPr/>
          <p:nvPr/>
        </p:nvSpPr>
        <p:spPr>
          <a:xfrm>
            <a:off x="8120393" y="1933069"/>
            <a:ext cx="124456" cy="208500"/>
          </a:xfrm>
          <a:prstGeom prst="cube">
            <a:avLst>
              <a:gd fmla="val 25000" name="adj"/>
            </a:avLst>
          </a:prstGeom>
          <a:solidFill>
            <a:srgbClr val="B6A1CD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sp>
        <p:nvSpPr>
          <p:cNvPr id="264" name="Google Shape;264;p27"/>
          <p:cNvSpPr/>
          <p:nvPr/>
        </p:nvSpPr>
        <p:spPr>
          <a:xfrm>
            <a:off x="7350550" y="255625"/>
            <a:ext cx="603000" cy="2196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00"/>
              <a:t>Conv</a:t>
            </a:r>
            <a:endParaRPr sz="1100"/>
          </a:p>
        </p:txBody>
      </p:sp>
      <p:sp>
        <p:nvSpPr>
          <p:cNvPr id="265" name="Google Shape;265;p27"/>
          <p:cNvSpPr/>
          <p:nvPr/>
        </p:nvSpPr>
        <p:spPr>
          <a:xfrm>
            <a:off x="7354050" y="678850"/>
            <a:ext cx="603000" cy="2196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00"/>
              <a:t>Conv</a:t>
            </a:r>
            <a:endParaRPr sz="1100"/>
          </a:p>
        </p:txBody>
      </p:sp>
      <p:sp>
        <p:nvSpPr>
          <p:cNvPr id="266" name="Google Shape;266;p27"/>
          <p:cNvSpPr/>
          <p:nvPr/>
        </p:nvSpPr>
        <p:spPr>
          <a:xfrm>
            <a:off x="7350475" y="1102075"/>
            <a:ext cx="603000" cy="2196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00"/>
              <a:t>Conv</a:t>
            </a:r>
            <a:endParaRPr sz="1100"/>
          </a:p>
        </p:txBody>
      </p:sp>
      <p:sp>
        <p:nvSpPr>
          <p:cNvPr id="267" name="Google Shape;267;p27"/>
          <p:cNvSpPr/>
          <p:nvPr/>
        </p:nvSpPr>
        <p:spPr>
          <a:xfrm>
            <a:off x="7350475" y="1538500"/>
            <a:ext cx="603000" cy="2196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00"/>
              <a:t>Conv</a:t>
            </a:r>
            <a:endParaRPr sz="1100"/>
          </a:p>
        </p:txBody>
      </p:sp>
      <p:sp>
        <p:nvSpPr>
          <p:cNvPr id="268" name="Google Shape;268;p27"/>
          <p:cNvSpPr/>
          <p:nvPr/>
        </p:nvSpPr>
        <p:spPr>
          <a:xfrm>
            <a:off x="7350475" y="1961725"/>
            <a:ext cx="603000" cy="2196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100"/>
              <a:t>Conv</a:t>
            </a:r>
            <a:endParaRPr sz="1100"/>
          </a:p>
        </p:txBody>
      </p:sp>
      <p:cxnSp>
        <p:nvCxnSpPr>
          <p:cNvPr id="269" name="Google Shape;269;p27"/>
          <p:cNvCxnSpPr>
            <a:stCxn id="264" idx="5"/>
            <a:endCxn id="259" idx="2"/>
          </p:cNvCxnSpPr>
          <p:nvPr/>
        </p:nvCxnSpPr>
        <p:spPr>
          <a:xfrm>
            <a:off x="7953550" y="337975"/>
            <a:ext cx="1635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27"/>
          <p:cNvCxnSpPr>
            <a:stCxn id="265" idx="5"/>
            <a:endCxn id="260" idx="2"/>
          </p:cNvCxnSpPr>
          <p:nvPr/>
        </p:nvCxnSpPr>
        <p:spPr>
          <a:xfrm flipH="1" rot="10800000">
            <a:off x="7957050" y="760900"/>
            <a:ext cx="1632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" name="Google Shape;271;p27"/>
          <p:cNvSpPr txBox="1"/>
          <p:nvPr/>
        </p:nvSpPr>
        <p:spPr>
          <a:xfrm>
            <a:off x="8169479" y="164882"/>
            <a:ext cx="898119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00">
                <a:solidFill>
                  <a:schemeClr val="dk2"/>
                </a:solidFill>
              </a:rPr>
              <a:t>Gaussian Heatmap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00">
                <a:solidFill>
                  <a:schemeClr val="dk2"/>
                </a:solidFill>
              </a:rPr>
              <a:t>1x200x177</a:t>
            </a:r>
            <a:endParaRPr b="1" sz="700">
              <a:solidFill>
                <a:schemeClr val="dk2"/>
              </a:solidFill>
            </a:endParaRPr>
          </a:p>
        </p:txBody>
      </p:sp>
      <p:cxnSp>
        <p:nvCxnSpPr>
          <p:cNvPr id="272" name="Google Shape;272;p27"/>
          <p:cNvCxnSpPr>
            <a:stCxn id="266" idx="5"/>
            <a:endCxn id="261" idx="2"/>
          </p:cNvCxnSpPr>
          <p:nvPr/>
        </p:nvCxnSpPr>
        <p:spPr>
          <a:xfrm flipH="1" rot="10800000">
            <a:off x="7953475" y="1179925"/>
            <a:ext cx="1638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27"/>
          <p:cNvCxnSpPr>
            <a:stCxn id="267" idx="5"/>
            <a:endCxn id="262" idx="2"/>
          </p:cNvCxnSpPr>
          <p:nvPr/>
        </p:nvCxnSpPr>
        <p:spPr>
          <a:xfrm flipH="1" rot="10800000">
            <a:off x="7953475" y="1616350"/>
            <a:ext cx="1638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27"/>
          <p:cNvCxnSpPr>
            <a:stCxn id="268" idx="5"/>
            <a:endCxn id="263" idx="2"/>
          </p:cNvCxnSpPr>
          <p:nvPr/>
        </p:nvCxnSpPr>
        <p:spPr>
          <a:xfrm>
            <a:off x="7953475" y="2044075"/>
            <a:ext cx="1668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27"/>
          <p:cNvSpPr txBox="1"/>
          <p:nvPr/>
        </p:nvSpPr>
        <p:spPr>
          <a:xfrm>
            <a:off x="8200675" y="574157"/>
            <a:ext cx="835727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00">
                <a:solidFill>
                  <a:schemeClr val="dk2"/>
                </a:solidFill>
              </a:rPr>
              <a:t>Offset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00">
                <a:solidFill>
                  <a:schemeClr val="dk2"/>
                </a:solidFill>
              </a:rPr>
              <a:t>2x200x177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76" name="Google Shape;276;p27"/>
          <p:cNvSpPr txBox="1"/>
          <p:nvPr/>
        </p:nvSpPr>
        <p:spPr>
          <a:xfrm>
            <a:off x="8218408" y="1007428"/>
            <a:ext cx="800262" cy="3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00">
                <a:solidFill>
                  <a:schemeClr val="dk2"/>
                </a:solidFill>
              </a:rPr>
              <a:t>Size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00">
                <a:solidFill>
                  <a:schemeClr val="dk2"/>
                </a:solidFill>
              </a:rPr>
              <a:t>2x200x177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8244842" y="1435507"/>
            <a:ext cx="747393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00">
                <a:solidFill>
                  <a:schemeClr val="dk2"/>
                </a:solidFill>
              </a:rPr>
              <a:t>Yaw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00">
                <a:solidFill>
                  <a:schemeClr val="dk2"/>
                </a:solidFill>
              </a:rPr>
              <a:t>2x200x177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78" name="Google Shape;278;p27"/>
          <p:cNvSpPr txBox="1"/>
          <p:nvPr/>
        </p:nvSpPr>
        <p:spPr>
          <a:xfrm>
            <a:off x="8238110" y="1840782"/>
            <a:ext cx="760856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00">
                <a:solidFill>
                  <a:schemeClr val="dk2"/>
                </a:solidFill>
              </a:rPr>
              <a:t>IoU Quality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00">
                <a:solidFill>
                  <a:schemeClr val="dk2"/>
                </a:solidFill>
              </a:rPr>
              <a:t>1x200x177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6675203" y="-9425"/>
            <a:ext cx="13428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85">
                <a:solidFill>
                  <a:srgbClr val="242629"/>
                </a:solidFill>
              </a:rPr>
              <a:t>Head: Group 1 Car</a:t>
            </a:r>
            <a:endParaRPr b="1" sz="885">
              <a:solidFill>
                <a:srgbClr val="242629"/>
              </a:solidFill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6791200" y="965625"/>
            <a:ext cx="321600" cy="754200"/>
          </a:xfrm>
          <a:prstGeom prst="cube">
            <a:avLst>
              <a:gd fmla="val 63721" name="adj"/>
            </a:avLst>
          </a:prstGeom>
          <a:solidFill>
            <a:srgbClr val="C9DAF8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sp>
        <p:nvSpPr>
          <p:cNvPr id="281" name="Google Shape;281;p27"/>
          <p:cNvSpPr/>
          <p:nvPr/>
        </p:nvSpPr>
        <p:spPr>
          <a:xfrm>
            <a:off x="6615725" y="2644950"/>
            <a:ext cx="2455200" cy="2419500"/>
          </a:xfrm>
          <a:prstGeom prst="roundRect">
            <a:avLst>
              <a:gd fmla="val 5627" name="adj"/>
            </a:avLst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" name="Google Shape;282;p27"/>
          <p:cNvGrpSpPr/>
          <p:nvPr/>
        </p:nvGrpSpPr>
        <p:grpSpPr>
          <a:xfrm>
            <a:off x="7346625" y="2777582"/>
            <a:ext cx="1716098" cy="2104300"/>
            <a:chOff x="7340802" y="189850"/>
            <a:chExt cx="1567785" cy="2104300"/>
          </a:xfrm>
        </p:grpSpPr>
        <p:sp>
          <p:nvSpPr>
            <p:cNvPr id="283" name="Google Shape;283;p27"/>
            <p:cNvSpPr/>
            <p:nvPr/>
          </p:nvSpPr>
          <p:spPr>
            <a:xfrm>
              <a:off x="8040269" y="246650"/>
              <a:ext cx="113700" cy="208500"/>
            </a:xfrm>
            <a:prstGeom prst="cube">
              <a:avLst>
                <a:gd fmla="val 25000" name="adj"/>
              </a:avLst>
            </a:prstGeom>
            <a:solidFill>
              <a:srgbClr val="E89A50"/>
            </a:solidFill>
            <a:ln cap="flat" cmpd="sng" w="8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50" lIns="84550" spcFirstLastPara="1" rIns="84550" wrap="square" tIns="84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5"/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8043231" y="665925"/>
              <a:ext cx="113700" cy="208500"/>
            </a:xfrm>
            <a:prstGeom prst="cube">
              <a:avLst>
                <a:gd fmla="val 25000" name="adj"/>
              </a:avLst>
            </a:prstGeom>
            <a:solidFill>
              <a:srgbClr val="A6BDD8"/>
            </a:solidFill>
            <a:ln cap="flat" cmpd="sng" w="8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50" lIns="84550" spcFirstLastPara="1" rIns="84550" wrap="square" tIns="84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5"/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8040269" y="1085200"/>
              <a:ext cx="113700" cy="208500"/>
            </a:xfrm>
            <a:prstGeom prst="cube">
              <a:avLst>
                <a:gd fmla="val 25000" name="adj"/>
              </a:avLst>
            </a:prstGeom>
            <a:solidFill>
              <a:srgbClr val="DDC66E"/>
            </a:solidFill>
            <a:ln cap="flat" cmpd="sng" w="8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50" lIns="84550" spcFirstLastPara="1" rIns="84550" wrap="square" tIns="84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5"/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8040269" y="1521612"/>
              <a:ext cx="113700" cy="208500"/>
            </a:xfrm>
            <a:prstGeom prst="cube">
              <a:avLst>
                <a:gd fmla="val 25000" name="adj"/>
              </a:avLst>
            </a:prstGeom>
            <a:solidFill>
              <a:srgbClr val="A8C983"/>
            </a:solidFill>
            <a:ln cap="flat" cmpd="sng" w="8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50" lIns="84550" spcFirstLastPara="1" rIns="84550" wrap="square" tIns="84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5"/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8043244" y="1958037"/>
              <a:ext cx="113700" cy="208500"/>
            </a:xfrm>
            <a:prstGeom prst="cube">
              <a:avLst>
                <a:gd fmla="val 25000" name="adj"/>
              </a:avLst>
            </a:prstGeom>
            <a:solidFill>
              <a:srgbClr val="B6A1CD"/>
            </a:solidFill>
            <a:ln cap="flat" cmpd="sng" w="8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50" lIns="84550" spcFirstLastPara="1" rIns="84550" wrap="square" tIns="84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5"/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7344249" y="280593"/>
              <a:ext cx="554400" cy="2196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/>
                <a:t>Conv</a:t>
              </a:r>
              <a:endParaRPr sz="1100"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7340802" y="703818"/>
              <a:ext cx="554400" cy="2196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/>
                <a:t>Conv</a:t>
              </a:r>
              <a:endParaRPr sz="1100"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7340869" y="1127043"/>
              <a:ext cx="554400" cy="2196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/>
                <a:t>Conv</a:t>
              </a:r>
              <a:endParaRPr sz="1100"/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7344160" y="1563468"/>
              <a:ext cx="554400" cy="2196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/>
                <a:t>Conv</a:t>
              </a:r>
              <a:endParaRPr sz="1100"/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7340802" y="1986693"/>
              <a:ext cx="557700" cy="2196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/>
                <a:t>Conv</a:t>
              </a:r>
              <a:endParaRPr sz="1100"/>
            </a:p>
          </p:txBody>
        </p:sp>
        <p:cxnSp>
          <p:nvCxnSpPr>
            <p:cNvPr id="293" name="Google Shape;293;p27"/>
            <p:cNvCxnSpPr>
              <a:stCxn id="288" idx="5"/>
              <a:endCxn id="283" idx="2"/>
            </p:cNvCxnSpPr>
            <p:nvPr/>
          </p:nvCxnSpPr>
          <p:spPr>
            <a:xfrm>
              <a:off x="7898649" y="362943"/>
              <a:ext cx="141600" cy="3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4" name="Google Shape;294;p27"/>
            <p:cNvCxnSpPr>
              <a:stCxn id="289" idx="5"/>
              <a:endCxn id="284" idx="2"/>
            </p:cNvCxnSpPr>
            <p:nvPr/>
          </p:nvCxnSpPr>
          <p:spPr>
            <a:xfrm flipH="1" rot="10800000">
              <a:off x="7895202" y="785868"/>
              <a:ext cx="147900" cy="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95" name="Google Shape;295;p27"/>
            <p:cNvSpPr txBox="1"/>
            <p:nvPr/>
          </p:nvSpPr>
          <p:spPr>
            <a:xfrm>
              <a:off x="8088088" y="189850"/>
              <a:ext cx="820500" cy="34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700">
                  <a:solidFill>
                    <a:schemeClr val="dk2"/>
                  </a:solidFill>
                </a:rPr>
                <a:t>Gaussian Heatmap</a:t>
              </a:r>
              <a:endParaRPr b="1" sz="7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700">
                  <a:solidFill>
                    <a:schemeClr val="dk2"/>
                  </a:solidFill>
                </a:rPr>
                <a:t>1</a:t>
              </a:r>
              <a:r>
                <a:rPr b="1" lang="vi" sz="700">
                  <a:solidFill>
                    <a:schemeClr val="dk2"/>
                  </a:solidFill>
                </a:rPr>
                <a:t>x200x177</a:t>
              </a:r>
              <a:endParaRPr b="1" sz="700">
                <a:solidFill>
                  <a:schemeClr val="dk2"/>
                </a:solidFill>
              </a:endParaRPr>
            </a:p>
          </p:txBody>
        </p:sp>
        <p:cxnSp>
          <p:nvCxnSpPr>
            <p:cNvPr id="296" name="Google Shape;296;p27"/>
            <p:cNvCxnSpPr>
              <a:stCxn id="290" idx="5"/>
              <a:endCxn id="285" idx="2"/>
            </p:cNvCxnSpPr>
            <p:nvPr/>
          </p:nvCxnSpPr>
          <p:spPr>
            <a:xfrm flipH="1" rot="10800000">
              <a:off x="7895269" y="1204893"/>
              <a:ext cx="144900" cy="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7" name="Google Shape;297;p27"/>
            <p:cNvCxnSpPr>
              <a:stCxn id="291" idx="5"/>
              <a:endCxn id="286" idx="2"/>
            </p:cNvCxnSpPr>
            <p:nvPr/>
          </p:nvCxnSpPr>
          <p:spPr>
            <a:xfrm flipH="1" rot="10800000">
              <a:off x="7898560" y="1641318"/>
              <a:ext cx="141600" cy="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8" name="Google Shape;298;p27"/>
            <p:cNvCxnSpPr>
              <a:stCxn id="292" idx="5"/>
              <a:endCxn id="287" idx="2"/>
            </p:cNvCxnSpPr>
            <p:nvPr/>
          </p:nvCxnSpPr>
          <p:spPr>
            <a:xfrm>
              <a:off x="7898502" y="2069043"/>
              <a:ext cx="1446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99" name="Google Shape;299;p27"/>
            <p:cNvSpPr txBox="1"/>
            <p:nvPr/>
          </p:nvSpPr>
          <p:spPr>
            <a:xfrm>
              <a:off x="8116588" y="599125"/>
              <a:ext cx="763500" cy="3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700">
                  <a:solidFill>
                    <a:schemeClr val="dk2"/>
                  </a:solidFill>
                </a:rPr>
                <a:t>Offset</a:t>
              </a:r>
              <a:endParaRPr b="1" sz="7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700">
                  <a:solidFill>
                    <a:schemeClr val="dk2"/>
                  </a:solidFill>
                </a:rPr>
                <a:t>2x200x177</a:t>
              </a:r>
              <a:endParaRPr b="1" sz="700">
                <a:solidFill>
                  <a:schemeClr val="dk2"/>
                </a:solidFill>
              </a:endParaRPr>
            </a:p>
          </p:txBody>
        </p:sp>
        <p:sp>
          <p:nvSpPr>
            <p:cNvPr id="300" name="Google Shape;300;p27"/>
            <p:cNvSpPr txBox="1"/>
            <p:nvPr/>
          </p:nvSpPr>
          <p:spPr>
            <a:xfrm>
              <a:off x="8132788" y="1032396"/>
              <a:ext cx="731100" cy="38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700">
                  <a:solidFill>
                    <a:schemeClr val="dk2"/>
                  </a:solidFill>
                </a:rPr>
                <a:t>Size</a:t>
              </a:r>
              <a:endParaRPr b="1" sz="7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700">
                  <a:solidFill>
                    <a:schemeClr val="dk2"/>
                  </a:solidFill>
                </a:rPr>
                <a:t>2x200x177</a:t>
              </a:r>
              <a:endParaRPr b="1" sz="700">
                <a:solidFill>
                  <a:schemeClr val="dk2"/>
                </a:solidFill>
              </a:endParaRPr>
            </a:p>
          </p:txBody>
        </p:sp>
        <p:sp>
          <p:nvSpPr>
            <p:cNvPr id="301" name="Google Shape;301;p27"/>
            <p:cNvSpPr txBox="1"/>
            <p:nvPr/>
          </p:nvSpPr>
          <p:spPr>
            <a:xfrm>
              <a:off x="8156938" y="1460475"/>
              <a:ext cx="6828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700">
                  <a:solidFill>
                    <a:schemeClr val="dk2"/>
                  </a:solidFill>
                </a:rPr>
                <a:t>Yaw</a:t>
              </a:r>
              <a:endParaRPr b="1" sz="7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700">
                  <a:solidFill>
                    <a:schemeClr val="dk2"/>
                  </a:solidFill>
                </a:rPr>
                <a:t>2x200x177</a:t>
              </a:r>
              <a:endParaRPr b="1" sz="700">
                <a:solidFill>
                  <a:schemeClr val="dk2"/>
                </a:solidFill>
              </a:endParaRPr>
            </a:p>
          </p:txBody>
        </p:sp>
        <p:sp>
          <p:nvSpPr>
            <p:cNvPr id="302" name="Google Shape;302;p27"/>
            <p:cNvSpPr txBox="1"/>
            <p:nvPr/>
          </p:nvSpPr>
          <p:spPr>
            <a:xfrm>
              <a:off x="8150788" y="1865750"/>
              <a:ext cx="695100" cy="42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700">
                  <a:solidFill>
                    <a:schemeClr val="dk2"/>
                  </a:solidFill>
                </a:rPr>
                <a:t>IoU Quality</a:t>
              </a:r>
              <a:endParaRPr b="1" sz="7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700">
                  <a:solidFill>
                    <a:schemeClr val="dk2"/>
                  </a:solidFill>
                </a:rPr>
                <a:t>1x200x177</a:t>
              </a:r>
              <a:endParaRPr b="1" sz="700">
                <a:solidFill>
                  <a:schemeClr val="dk2"/>
                </a:solidFill>
              </a:endParaRPr>
            </a:p>
          </p:txBody>
        </p:sp>
      </p:grpSp>
      <p:sp>
        <p:nvSpPr>
          <p:cNvPr id="303" name="Google Shape;303;p27"/>
          <p:cNvSpPr txBox="1"/>
          <p:nvPr/>
        </p:nvSpPr>
        <p:spPr>
          <a:xfrm>
            <a:off x="6675200" y="2605750"/>
            <a:ext cx="22410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85">
                <a:solidFill>
                  <a:srgbClr val="242629"/>
                </a:solidFill>
              </a:rPr>
              <a:t>Head: </a:t>
            </a:r>
            <a:r>
              <a:rPr b="1" lang="vi" sz="885">
                <a:solidFill>
                  <a:srgbClr val="242629"/>
                </a:solidFill>
              </a:rPr>
              <a:t>Group 2 Pedestrian/Cyclist</a:t>
            </a:r>
            <a:endParaRPr b="1" sz="885">
              <a:solidFill>
                <a:srgbClr val="242629"/>
              </a:solidFill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6791200" y="3577850"/>
            <a:ext cx="321600" cy="754200"/>
          </a:xfrm>
          <a:prstGeom prst="cube">
            <a:avLst>
              <a:gd fmla="val 63721" name="adj"/>
            </a:avLst>
          </a:prstGeom>
          <a:solidFill>
            <a:srgbClr val="C9DAF8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cxnSp>
        <p:nvCxnSpPr>
          <p:cNvPr id="305" name="Google Shape;305;p27"/>
          <p:cNvCxnSpPr>
            <a:stCxn id="256" idx="3"/>
            <a:endCxn id="280" idx="2"/>
          </p:cNvCxnSpPr>
          <p:nvPr/>
        </p:nvCxnSpPr>
        <p:spPr>
          <a:xfrm>
            <a:off x="6218253" y="957550"/>
            <a:ext cx="573000" cy="487500"/>
          </a:xfrm>
          <a:prstGeom prst="bentConnector3">
            <a:avLst>
              <a:gd fmla="val 5987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27"/>
          <p:cNvCxnSpPr>
            <a:stCxn id="256" idx="3"/>
            <a:endCxn id="304" idx="2"/>
          </p:cNvCxnSpPr>
          <p:nvPr/>
        </p:nvCxnSpPr>
        <p:spPr>
          <a:xfrm>
            <a:off x="6218253" y="957550"/>
            <a:ext cx="573000" cy="3099900"/>
          </a:xfrm>
          <a:prstGeom prst="bentConnector3">
            <a:avLst>
              <a:gd fmla="val 6024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27"/>
          <p:cNvCxnSpPr>
            <a:stCxn id="280" idx="5"/>
            <a:endCxn id="264" idx="2"/>
          </p:cNvCxnSpPr>
          <p:nvPr/>
        </p:nvCxnSpPr>
        <p:spPr>
          <a:xfrm flipH="1" rot="10800000">
            <a:off x="7112800" y="392762"/>
            <a:ext cx="237900" cy="847500"/>
          </a:xfrm>
          <a:prstGeom prst="bentConnector3">
            <a:avLst>
              <a:gd fmla="val 4996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27"/>
          <p:cNvCxnSpPr>
            <a:stCxn id="280" idx="5"/>
            <a:endCxn id="265" idx="2"/>
          </p:cNvCxnSpPr>
          <p:nvPr/>
        </p:nvCxnSpPr>
        <p:spPr>
          <a:xfrm flipH="1" rot="10800000">
            <a:off x="7112800" y="816062"/>
            <a:ext cx="241200" cy="4242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27"/>
          <p:cNvCxnSpPr>
            <a:stCxn id="280" idx="5"/>
            <a:endCxn id="266" idx="2"/>
          </p:cNvCxnSpPr>
          <p:nvPr/>
        </p:nvCxnSpPr>
        <p:spPr>
          <a:xfrm flipH="1" rot="10800000">
            <a:off x="7112800" y="1239362"/>
            <a:ext cx="237600" cy="9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" name="Google Shape;310;p27"/>
          <p:cNvCxnSpPr>
            <a:stCxn id="280" idx="5"/>
            <a:endCxn id="267" idx="2"/>
          </p:cNvCxnSpPr>
          <p:nvPr/>
        </p:nvCxnSpPr>
        <p:spPr>
          <a:xfrm>
            <a:off x="7112800" y="1240262"/>
            <a:ext cx="237600" cy="435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27"/>
          <p:cNvCxnSpPr>
            <a:stCxn id="280" idx="5"/>
            <a:endCxn id="268" idx="2"/>
          </p:cNvCxnSpPr>
          <p:nvPr/>
        </p:nvCxnSpPr>
        <p:spPr>
          <a:xfrm>
            <a:off x="7112800" y="1240262"/>
            <a:ext cx="237600" cy="858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27"/>
          <p:cNvCxnSpPr>
            <a:stCxn id="304" idx="5"/>
            <a:endCxn id="292" idx="2"/>
          </p:cNvCxnSpPr>
          <p:nvPr/>
        </p:nvCxnSpPr>
        <p:spPr>
          <a:xfrm>
            <a:off x="7112800" y="3852487"/>
            <a:ext cx="233700" cy="859200"/>
          </a:xfrm>
          <a:prstGeom prst="bentConnector3">
            <a:avLst>
              <a:gd fmla="val 5002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27"/>
          <p:cNvCxnSpPr>
            <a:stCxn id="304" idx="5"/>
            <a:endCxn id="291" idx="2"/>
          </p:cNvCxnSpPr>
          <p:nvPr/>
        </p:nvCxnSpPr>
        <p:spPr>
          <a:xfrm>
            <a:off x="7112800" y="3852487"/>
            <a:ext cx="237600" cy="435900"/>
          </a:xfrm>
          <a:prstGeom prst="bentConnector3">
            <a:avLst>
              <a:gd fmla="val 4997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27"/>
          <p:cNvCxnSpPr>
            <a:stCxn id="304" idx="5"/>
            <a:endCxn id="290" idx="2"/>
          </p:cNvCxnSpPr>
          <p:nvPr/>
        </p:nvCxnSpPr>
        <p:spPr>
          <a:xfrm>
            <a:off x="7112800" y="3852487"/>
            <a:ext cx="234000" cy="600"/>
          </a:xfrm>
          <a:prstGeom prst="bentConnector3">
            <a:avLst>
              <a:gd fmla="val 4997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27"/>
          <p:cNvCxnSpPr>
            <a:stCxn id="304" idx="5"/>
            <a:endCxn id="289" idx="2"/>
          </p:cNvCxnSpPr>
          <p:nvPr/>
        </p:nvCxnSpPr>
        <p:spPr>
          <a:xfrm flipH="1" rot="10800000">
            <a:off x="7112800" y="3428887"/>
            <a:ext cx="233700" cy="423600"/>
          </a:xfrm>
          <a:prstGeom prst="bentConnector3">
            <a:avLst>
              <a:gd fmla="val 5002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27"/>
          <p:cNvCxnSpPr>
            <a:stCxn id="304" idx="5"/>
            <a:endCxn id="288" idx="2"/>
          </p:cNvCxnSpPr>
          <p:nvPr/>
        </p:nvCxnSpPr>
        <p:spPr>
          <a:xfrm flipH="1" rot="10800000">
            <a:off x="7112800" y="3005587"/>
            <a:ext cx="237600" cy="846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27"/>
          <p:cNvSpPr/>
          <p:nvPr/>
        </p:nvSpPr>
        <p:spPr>
          <a:xfrm>
            <a:off x="5500" y="95950"/>
            <a:ext cx="747300" cy="1520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7"/>
          <p:cNvSpPr/>
          <p:nvPr/>
        </p:nvSpPr>
        <p:spPr>
          <a:xfrm>
            <a:off x="191495" y="259212"/>
            <a:ext cx="375300" cy="688500"/>
          </a:xfrm>
          <a:prstGeom prst="cube">
            <a:avLst>
              <a:gd fmla="val 25000" name="adj"/>
            </a:avLst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sp>
        <p:nvSpPr>
          <p:cNvPr id="319" name="Google Shape;319;p27"/>
          <p:cNvSpPr txBox="1"/>
          <p:nvPr/>
        </p:nvSpPr>
        <p:spPr>
          <a:xfrm>
            <a:off x="-303208" y="937208"/>
            <a:ext cx="13647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25">
                <a:solidFill>
                  <a:schemeClr val="dk2"/>
                </a:solidFill>
              </a:rPr>
              <a:t>Rich14 </a:t>
            </a:r>
            <a:endParaRPr b="1" sz="825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25">
                <a:solidFill>
                  <a:schemeClr val="dk2"/>
                </a:solidFill>
              </a:rPr>
              <a:t>14 x 800 x 704</a:t>
            </a:r>
            <a:endParaRPr b="1" sz="825">
              <a:solidFill>
                <a:schemeClr val="dk2"/>
              </a:solidFill>
            </a:endParaRPr>
          </a:p>
        </p:txBody>
      </p:sp>
      <p:sp>
        <p:nvSpPr>
          <p:cNvPr id="320" name="Google Shape;320;p27"/>
          <p:cNvSpPr txBox="1"/>
          <p:nvPr/>
        </p:nvSpPr>
        <p:spPr>
          <a:xfrm>
            <a:off x="60725" y="1321675"/>
            <a:ext cx="6306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825">
                <a:solidFill>
                  <a:schemeClr val="dk2"/>
                </a:solidFill>
              </a:rPr>
              <a:t>Encoder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21" name="Google Shape;321;p27"/>
          <p:cNvCxnSpPr>
            <a:stCxn id="318" idx="5"/>
            <a:endCxn id="197" idx="1"/>
          </p:cNvCxnSpPr>
          <p:nvPr/>
        </p:nvCxnSpPr>
        <p:spPr>
          <a:xfrm flipH="1" rot="10800000">
            <a:off x="566795" y="550549"/>
            <a:ext cx="526200" cy="6000"/>
          </a:xfrm>
          <a:prstGeom prst="straightConnector1">
            <a:avLst/>
          </a:prstGeom>
          <a:noFill/>
          <a:ln cap="flat" cmpd="sng" w="17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27"/>
          <p:cNvCxnSpPr>
            <a:stCxn id="197" idx="2"/>
            <a:endCxn id="198" idx="0"/>
          </p:cNvCxnSpPr>
          <p:nvPr/>
        </p:nvCxnSpPr>
        <p:spPr>
          <a:xfrm>
            <a:off x="2155535" y="866324"/>
            <a:ext cx="0" cy="1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27"/>
          <p:cNvCxnSpPr>
            <a:stCxn id="198" idx="2"/>
            <a:endCxn id="200" idx="0"/>
          </p:cNvCxnSpPr>
          <p:nvPr/>
        </p:nvCxnSpPr>
        <p:spPr>
          <a:xfrm>
            <a:off x="2155684" y="1224929"/>
            <a:ext cx="0" cy="1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27"/>
          <p:cNvCxnSpPr>
            <a:stCxn id="200" idx="2"/>
            <a:endCxn id="202" idx="0"/>
          </p:cNvCxnSpPr>
          <p:nvPr/>
        </p:nvCxnSpPr>
        <p:spPr>
          <a:xfrm>
            <a:off x="2155605" y="2153646"/>
            <a:ext cx="0" cy="16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27"/>
          <p:cNvCxnSpPr>
            <a:stCxn id="202" idx="2"/>
            <a:endCxn id="194" idx="0"/>
          </p:cNvCxnSpPr>
          <p:nvPr/>
        </p:nvCxnSpPr>
        <p:spPr>
          <a:xfrm>
            <a:off x="2155542" y="2543783"/>
            <a:ext cx="0" cy="16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27"/>
          <p:cNvCxnSpPr>
            <a:stCxn id="194" idx="2"/>
            <a:endCxn id="195" idx="0"/>
          </p:cNvCxnSpPr>
          <p:nvPr/>
        </p:nvCxnSpPr>
        <p:spPr>
          <a:xfrm>
            <a:off x="2155684" y="3485778"/>
            <a:ext cx="0" cy="1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p27"/>
          <p:cNvCxnSpPr>
            <a:stCxn id="195" idx="2"/>
            <a:endCxn id="205" idx="0"/>
          </p:cNvCxnSpPr>
          <p:nvPr/>
        </p:nvCxnSpPr>
        <p:spPr>
          <a:xfrm>
            <a:off x="2155684" y="3862867"/>
            <a:ext cx="0" cy="1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28"/>
          <p:cNvGrpSpPr/>
          <p:nvPr/>
        </p:nvGrpSpPr>
        <p:grpSpPr>
          <a:xfrm>
            <a:off x="316225" y="876600"/>
            <a:ext cx="8747824" cy="3169362"/>
            <a:chOff x="1467211" y="4906987"/>
            <a:chExt cx="4849933" cy="1807140"/>
          </a:xfrm>
        </p:grpSpPr>
        <p:sp>
          <p:nvSpPr>
            <p:cNvPr id="333" name="Google Shape;333;p28"/>
            <p:cNvSpPr/>
            <p:nvPr/>
          </p:nvSpPr>
          <p:spPr>
            <a:xfrm>
              <a:off x="1467211" y="4906987"/>
              <a:ext cx="4783715" cy="1807140"/>
            </a:xfrm>
            <a:custGeom>
              <a:rect b="b" l="l" r="r" t="t"/>
              <a:pathLst>
                <a:path extrusionOk="0" h="1807140" w="4748104">
                  <a:moveTo>
                    <a:pt x="42205" y="1807141"/>
                  </a:moveTo>
                  <a:lnTo>
                    <a:pt x="4705899" y="1807141"/>
                  </a:lnTo>
                  <a:cubicBezTo>
                    <a:pt x="4734037" y="1807141"/>
                    <a:pt x="4748105" y="1793095"/>
                    <a:pt x="4748105" y="1764943"/>
                  </a:cubicBezTo>
                  <a:lnTo>
                    <a:pt x="4748105" y="42211"/>
                  </a:lnTo>
                  <a:cubicBezTo>
                    <a:pt x="4748105" y="14070"/>
                    <a:pt x="4734037" y="0"/>
                    <a:pt x="4705899" y="0"/>
                  </a:cubicBezTo>
                  <a:lnTo>
                    <a:pt x="42205" y="0"/>
                  </a:lnTo>
                  <a:cubicBezTo>
                    <a:pt x="14068" y="0"/>
                    <a:pt x="0" y="14070"/>
                    <a:pt x="0" y="42211"/>
                  </a:cubicBezTo>
                  <a:lnTo>
                    <a:pt x="0" y="1764943"/>
                  </a:lnTo>
                  <a:cubicBezTo>
                    <a:pt x="0" y="1793095"/>
                    <a:pt x="14068" y="1807141"/>
                    <a:pt x="42205" y="1807141"/>
                  </a:cubicBezTo>
                  <a:close/>
                </a:path>
              </a:pathLst>
            </a:custGeom>
            <a:solidFill>
              <a:srgbClr val="DFEAF5"/>
            </a:solidFill>
            <a:ln cap="flat" cmpd="sng" w="9525">
              <a:solidFill>
                <a:srgbClr val="242629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4" name="Google Shape;334;p28"/>
            <p:cNvGrpSpPr/>
            <p:nvPr/>
          </p:nvGrpSpPr>
          <p:grpSpPr>
            <a:xfrm>
              <a:off x="1616223" y="5810210"/>
              <a:ext cx="285090" cy="24427"/>
              <a:chOff x="1616223" y="5810210"/>
              <a:chExt cx="285090" cy="24427"/>
            </a:xfrm>
          </p:grpSpPr>
          <p:sp>
            <p:nvSpPr>
              <p:cNvPr id="335" name="Google Shape;335;p28"/>
              <p:cNvSpPr/>
              <p:nvPr/>
            </p:nvSpPr>
            <p:spPr>
              <a:xfrm>
                <a:off x="1616223" y="5822419"/>
                <a:ext cx="285090" cy="6121"/>
              </a:xfrm>
              <a:custGeom>
                <a:rect b="b" l="l" r="r" t="t"/>
                <a:pathLst>
                  <a:path extrusionOk="0" h="6106" w="170203">
                    <a:moveTo>
                      <a:pt x="0" y="0"/>
                    </a:moveTo>
                    <a:cubicBezTo>
                      <a:pt x="59351" y="0"/>
                      <a:pt x="116086" y="0"/>
                      <a:pt x="170203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28"/>
              <p:cNvSpPr/>
              <p:nvPr/>
            </p:nvSpPr>
            <p:spPr>
              <a:xfrm>
                <a:off x="1876771" y="5810210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7" name="Google Shape;337;p28"/>
            <p:cNvGrpSpPr/>
            <p:nvPr/>
          </p:nvGrpSpPr>
          <p:grpSpPr>
            <a:xfrm>
              <a:off x="2370667" y="5810210"/>
              <a:ext cx="150417" cy="24427"/>
              <a:chOff x="2370667" y="5810210"/>
              <a:chExt cx="150417" cy="24427"/>
            </a:xfrm>
          </p:grpSpPr>
          <p:sp>
            <p:nvSpPr>
              <p:cNvPr id="338" name="Google Shape;338;p28"/>
              <p:cNvSpPr/>
              <p:nvPr/>
            </p:nvSpPr>
            <p:spPr>
              <a:xfrm>
                <a:off x="2370667" y="5822423"/>
                <a:ext cx="150417" cy="6106"/>
              </a:xfrm>
              <a:custGeom>
                <a:rect b="b" l="l" r="r" t="t"/>
                <a:pathLst>
                  <a:path extrusionOk="0" h="6106" w="150417">
                    <a:moveTo>
                      <a:pt x="0" y="0"/>
                    </a:moveTo>
                    <a:cubicBezTo>
                      <a:pt x="52757" y="0"/>
                      <a:pt x="102894" y="0"/>
                      <a:pt x="150418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28"/>
              <p:cNvSpPr/>
              <p:nvPr/>
            </p:nvSpPr>
            <p:spPr>
              <a:xfrm>
                <a:off x="2496660" y="5810210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0" name="Google Shape;340;p28"/>
            <p:cNvGrpSpPr/>
            <p:nvPr/>
          </p:nvGrpSpPr>
          <p:grpSpPr>
            <a:xfrm>
              <a:off x="2832288" y="5810210"/>
              <a:ext cx="130634" cy="24427"/>
              <a:chOff x="2832288" y="5810210"/>
              <a:chExt cx="130634" cy="24427"/>
            </a:xfrm>
          </p:grpSpPr>
          <p:sp>
            <p:nvSpPr>
              <p:cNvPr id="341" name="Google Shape;341;p28"/>
              <p:cNvSpPr/>
              <p:nvPr/>
            </p:nvSpPr>
            <p:spPr>
              <a:xfrm>
                <a:off x="2832288" y="5822423"/>
                <a:ext cx="130634" cy="6106"/>
              </a:xfrm>
              <a:custGeom>
                <a:rect b="b" l="l" r="r" t="t"/>
                <a:pathLst>
                  <a:path extrusionOk="0" h="6106" w="130634">
                    <a:moveTo>
                      <a:pt x="0" y="0"/>
                    </a:moveTo>
                    <a:cubicBezTo>
                      <a:pt x="46162" y="0"/>
                      <a:pt x="89705" y="0"/>
                      <a:pt x="130634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28"/>
              <p:cNvSpPr/>
              <p:nvPr/>
            </p:nvSpPr>
            <p:spPr>
              <a:xfrm>
                <a:off x="2938498" y="5810210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28"/>
            <p:cNvGrpSpPr/>
            <p:nvPr/>
          </p:nvGrpSpPr>
          <p:grpSpPr>
            <a:xfrm>
              <a:off x="3603855" y="5810210"/>
              <a:ext cx="145142" cy="24427"/>
              <a:chOff x="3603855" y="5810210"/>
              <a:chExt cx="145142" cy="24427"/>
            </a:xfrm>
          </p:grpSpPr>
          <p:sp>
            <p:nvSpPr>
              <p:cNvPr id="344" name="Google Shape;344;p28"/>
              <p:cNvSpPr/>
              <p:nvPr/>
            </p:nvSpPr>
            <p:spPr>
              <a:xfrm>
                <a:off x="3603855" y="5822423"/>
                <a:ext cx="145142" cy="6106"/>
              </a:xfrm>
              <a:custGeom>
                <a:rect b="b" l="l" r="r" t="t"/>
                <a:pathLst>
                  <a:path extrusionOk="0" h="6106" w="145142">
                    <a:moveTo>
                      <a:pt x="0" y="0"/>
                    </a:moveTo>
                    <a:cubicBezTo>
                      <a:pt x="50998" y="0"/>
                      <a:pt x="99377" y="0"/>
                      <a:pt x="145142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28"/>
              <p:cNvSpPr/>
              <p:nvPr/>
            </p:nvSpPr>
            <p:spPr>
              <a:xfrm>
                <a:off x="3724573" y="5810210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28"/>
            <p:cNvGrpSpPr/>
            <p:nvPr/>
          </p:nvGrpSpPr>
          <p:grpSpPr>
            <a:xfrm>
              <a:off x="4152525" y="5810210"/>
              <a:ext cx="155693" cy="24427"/>
              <a:chOff x="4152525" y="5810210"/>
              <a:chExt cx="155693" cy="24427"/>
            </a:xfrm>
          </p:grpSpPr>
          <p:sp>
            <p:nvSpPr>
              <p:cNvPr id="347" name="Google Shape;347;p28"/>
              <p:cNvSpPr/>
              <p:nvPr/>
            </p:nvSpPr>
            <p:spPr>
              <a:xfrm>
                <a:off x="4152525" y="5822423"/>
                <a:ext cx="155693" cy="6106"/>
              </a:xfrm>
              <a:custGeom>
                <a:rect b="b" l="l" r="r" t="t"/>
                <a:pathLst>
                  <a:path extrusionOk="0" h="6106" w="155693">
                    <a:moveTo>
                      <a:pt x="0" y="0"/>
                    </a:moveTo>
                    <a:cubicBezTo>
                      <a:pt x="54515" y="0"/>
                      <a:pt x="106411" y="0"/>
                      <a:pt x="155693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8"/>
              <p:cNvSpPr/>
              <p:nvPr/>
            </p:nvSpPr>
            <p:spPr>
              <a:xfrm>
                <a:off x="4283794" y="5810210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28"/>
            <p:cNvGrpSpPr/>
            <p:nvPr/>
          </p:nvGrpSpPr>
          <p:grpSpPr>
            <a:xfrm>
              <a:off x="4949151" y="5810210"/>
              <a:ext cx="102937" cy="24427"/>
              <a:chOff x="4949151" y="5810210"/>
              <a:chExt cx="102937" cy="24427"/>
            </a:xfrm>
          </p:grpSpPr>
          <p:sp>
            <p:nvSpPr>
              <p:cNvPr id="350" name="Google Shape;350;p28"/>
              <p:cNvSpPr/>
              <p:nvPr/>
            </p:nvSpPr>
            <p:spPr>
              <a:xfrm>
                <a:off x="4949151" y="5822423"/>
                <a:ext cx="102936" cy="6106"/>
              </a:xfrm>
              <a:custGeom>
                <a:rect b="b" l="l" r="r" t="t"/>
                <a:pathLst>
                  <a:path extrusionOk="0" h="6106" w="102936">
                    <a:moveTo>
                      <a:pt x="0" y="0"/>
                    </a:moveTo>
                    <a:cubicBezTo>
                      <a:pt x="36930" y="0"/>
                      <a:pt x="71240" y="0"/>
                      <a:pt x="102937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28"/>
              <p:cNvSpPr/>
              <p:nvPr/>
            </p:nvSpPr>
            <p:spPr>
              <a:xfrm>
                <a:off x="5027664" y="5810210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2" name="Google Shape;352;p28"/>
            <p:cNvGrpSpPr/>
            <p:nvPr/>
          </p:nvGrpSpPr>
          <p:grpSpPr>
            <a:xfrm>
              <a:off x="5350103" y="5810210"/>
              <a:ext cx="110850" cy="24427"/>
              <a:chOff x="5350103" y="5810210"/>
              <a:chExt cx="110850" cy="24427"/>
            </a:xfrm>
          </p:grpSpPr>
          <p:sp>
            <p:nvSpPr>
              <p:cNvPr id="353" name="Google Shape;353;p28"/>
              <p:cNvSpPr/>
              <p:nvPr/>
            </p:nvSpPr>
            <p:spPr>
              <a:xfrm>
                <a:off x="5350103" y="5822423"/>
                <a:ext cx="110850" cy="6106"/>
              </a:xfrm>
              <a:custGeom>
                <a:rect b="b" l="l" r="r" t="t"/>
                <a:pathLst>
                  <a:path extrusionOk="0" h="6106" w="110850">
                    <a:moveTo>
                      <a:pt x="0" y="0"/>
                    </a:moveTo>
                    <a:cubicBezTo>
                      <a:pt x="39567" y="0"/>
                      <a:pt x="76516" y="0"/>
                      <a:pt x="110850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28"/>
              <p:cNvSpPr/>
              <p:nvPr/>
            </p:nvSpPr>
            <p:spPr>
              <a:xfrm>
                <a:off x="5436528" y="5810210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" name="Google Shape;355;p28"/>
            <p:cNvGrpSpPr/>
            <p:nvPr/>
          </p:nvGrpSpPr>
          <p:grpSpPr>
            <a:xfrm>
              <a:off x="5679832" y="5810210"/>
              <a:ext cx="176796" cy="24427"/>
              <a:chOff x="5679832" y="5810210"/>
              <a:chExt cx="176796" cy="24427"/>
            </a:xfrm>
          </p:grpSpPr>
          <p:sp>
            <p:nvSpPr>
              <p:cNvPr id="356" name="Google Shape;356;p28"/>
              <p:cNvSpPr/>
              <p:nvPr/>
            </p:nvSpPr>
            <p:spPr>
              <a:xfrm>
                <a:off x="5679832" y="5822423"/>
                <a:ext cx="176795" cy="6106"/>
              </a:xfrm>
              <a:custGeom>
                <a:rect b="b" l="l" r="r" t="t"/>
                <a:pathLst>
                  <a:path extrusionOk="0" h="6106" w="176795">
                    <a:moveTo>
                      <a:pt x="0" y="0"/>
                    </a:moveTo>
                    <a:cubicBezTo>
                      <a:pt x="61550" y="0"/>
                      <a:pt x="120480" y="0"/>
                      <a:pt x="176796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28"/>
              <p:cNvSpPr/>
              <p:nvPr/>
            </p:nvSpPr>
            <p:spPr>
              <a:xfrm>
                <a:off x="5832204" y="5810210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8" name="Google Shape;358;p28"/>
            <p:cNvGrpSpPr/>
            <p:nvPr/>
          </p:nvGrpSpPr>
          <p:grpSpPr>
            <a:xfrm>
              <a:off x="6022751" y="5810210"/>
              <a:ext cx="92384" cy="24427"/>
              <a:chOff x="6022751" y="5810210"/>
              <a:chExt cx="92384" cy="24427"/>
            </a:xfrm>
          </p:grpSpPr>
          <p:sp>
            <p:nvSpPr>
              <p:cNvPr id="359" name="Google Shape;359;p28"/>
              <p:cNvSpPr/>
              <p:nvPr/>
            </p:nvSpPr>
            <p:spPr>
              <a:xfrm>
                <a:off x="6022751" y="5822423"/>
                <a:ext cx="92384" cy="6106"/>
              </a:xfrm>
              <a:custGeom>
                <a:rect b="b" l="l" r="r" t="t"/>
                <a:pathLst>
                  <a:path extrusionOk="0" h="6106" w="92384">
                    <a:moveTo>
                      <a:pt x="0" y="0"/>
                    </a:moveTo>
                    <a:cubicBezTo>
                      <a:pt x="33412" y="0"/>
                      <a:pt x="64205" y="0"/>
                      <a:pt x="92385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28"/>
              <p:cNvSpPr/>
              <p:nvPr/>
            </p:nvSpPr>
            <p:spPr>
              <a:xfrm>
                <a:off x="6090711" y="5810210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1" name="Google Shape;361;p28"/>
            <p:cNvSpPr/>
            <p:nvPr/>
          </p:nvSpPr>
          <p:spPr>
            <a:xfrm>
              <a:off x="1730992" y="5822423"/>
              <a:ext cx="4212623" cy="509165"/>
            </a:xfrm>
            <a:custGeom>
              <a:rect b="b" l="l" r="r" t="t"/>
              <a:pathLst>
                <a:path extrusionOk="0" h="509165" w="4212623">
                  <a:moveTo>
                    <a:pt x="0" y="0"/>
                  </a:moveTo>
                  <a:lnTo>
                    <a:pt x="0" y="509166"/>
                  </a:lnTo>
                  <a:lnTo>
                    <a:pt x="4212624" y="509166"/>
                  </a:lnTo>
                </a:path>
              </a:pathLst>
            </a:custGeom>
            <a:noFill/>
            <a:ln cap="sq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2" name="Google Shape;362;p28"/>
            <p:cNvGrpSpPr/>
            <p:nvPr/>
          </p:nvGrpSpPr>
          <p:grpSpPr>
            <a:xfrm>
              <a:off x="5931403" y="5909421"/>
              <a:ext cx="24424" cy="422167"/>
              <a:chOff x="5931403" y="5909421"/>
              <a:chExt cx="24424" cy="422167"/>
            </a:xfrm>
          </p:grpSpPr>
          <p:sp>
            <p:nvSpPr>
              <p:cNvPr id="363" name="Google Shape;363;p28"/>
              <p:cNvSpPr/>
              <p:nvPr/>
            </p:nvSpPr>
            <p:spPr>
              <a:xfrm>
                <a:off x="5943616" y="5909421"/>
                <a:ext cx="6106" cy="422167"/>
              </a:xfrm>
              <a:custGeom>
                <a:rect b="b" l="l" r="r" t="t"/>
                <a:pathLst>
                  <a:path extrusionOk="0" h="422167" w="6106">
                    <a:moveTo>
                      <a:pt x="0" y="422167"/>
                    </a:moveTo>
                    <a:cubicBezTo>
                      <a:pt x="0" y="278839"/>
                      <a:pt x="0" y="138107"/>
                      <a:pt x="0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28"/>
              <p:cNvSpPr/>
              <p:nvPr/>
            </p:nvSpPr>
            <p:spPr>
              <a:xfrm>
                <a:off x="5931403" y="5909421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24427"/>
                    </a:moveTo>
                    <a:lnTo>
                      <a:pt x="12212" y="0"/>
                    </a:lnTo>
                    <a:lnTo>
                      <a:pt x="24424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5" name="Google Shape;365;p28"/>
            <p:cNvSpPr/>
            <p:nvPr/>
          </p:nvSpPr>
          <p:spPr>
            <a:xfrm>
              <a:off x="1909046" y="5636378"/>
              <a:ext cx="476391" cy="30393"/>
            </a:xfrm>
            <a:custGeom>
              <a:rect b="b" l="l" r="r" t="t"/>
              <a:pathLst>
                <a:path extrusionOk="0" h="30393" w="476391">
                  <a:moveTo>
                    <a:pt x="0" y="30394"/>
                  </a:moveTo>
                  <a:lnTo>
                    <a:pt x="41150" y="0"/>
                  </a:lnTo>
                  <a:lnTo>
                    <a:pt x="476392" y="0"/>
                  </a:lnTo>
                  <a:lnTo>
                    <a:pt x="435243" y="30394"/>
                  </a:lnTo>
                  <a:close/>
                </a:path>
              </a:pathLst>
            </a:custGeom>
            <a:solidFill>
              <a:srgbClr val="E7EFF8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2344289" y="5636378"/>
              <a:ext cx="41149" cy="341696"/>
            </a:xfrm>
            <a:custGeom>
              <a:rect b="b" l="l" r="r" t="t"/>
              <a:pathLst>
                <a:path extrusionOk="0" h="341696" w="41149">
                  <a:moveTo>
                    <a:pt x="0" y="341697"/>
                  </a:moveTo>
                  <a:lnTo>
                    <a:pt x="41149" y="311303"/>
                  </a:lnTo>
                  <a:lnTo>
                    <a:pt x="41149" y="0"/>
                  </a:lnTo>
                  <a:lnTo>
                    <a:pt x="0" y="30394"/>
                  </a:lnTo>
                  <a:close/>
                </a:path>
              </a:pathLst>
            </a:custGeom>
            <a:solidFill>
              <a:srgbClr val="B7C0C9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1909046" y="5666771"/>
              <a:ext cx="435242" cy="311303"/>
            </a:xfrm>
            <a:custGeom>
              <a:rect b="b" l="l" r="r" t="t"/>
              <a:pathLst>
                <a:path extrusionOk="0" h="311303" w="435242">
                  <a:moveTo>
                    <a:pt x="0" y="311303"/>
                  </a:moveTo>
                  <a:lnTo>
                    <a:pt x="435243" y="311303"/>
                  </a:lnTo>
                  <a:lnTo>
                    <a:pt x="4352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EAF5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8"/>
            <p:cNvSpPr/>
            <p:nvPr/>
          </p:nvSpPr>
          <p:spPr>
            <a:xfrm>
              <a:off x="2528937" y="5666771"/>
              <a:ext cx="303351" cy="311303"/>
            </a:xfrm>
            <a:custGeom>
              <a:rect b="b" l="l" r="r" t="t"/>
              <a:pathLst>
                <a:path extrusionOk="0" h="311303" w="303351">
                  <a:moveTo>
                    <a:pt x="42205" y="311303"/>
                  </a:moveTo>
                  <a:lnTo>
                    <a:pt x="261146" y="311303"/>
                  </a:lnTo>
                  <a:cubicBezTo>
                    <a:pt x="289283" y="311303"/>
                    <a:pt x="303351" y="297233"/>
                    <a:pt x="303351" y="269093"/>
                  </a:cubicBezTo>
                  <a:lnTo>
                    <a:pt x="303351" y="42211"/>
                  </a:lnTo>
                  <a:cubicBezTo>
                    <a:pt x="303351" y="14070"/>
                    <a:pt x="289283" y="0"/>
                    <a:pt x="261146" y="0"/>
                  </a:cubicBezTo>
                  <a:lnTo>
                    <a:pt x="42205" y="0"/>
                  </a:lnTo>
                  <a:cubicBezTo>
                    <a:pt x="14068" y="0"/>
                    <a:pt x="0" y="14070"/>
                    <a:pt x="0" y="42211"/>
                  </a:cubicBezTo>
                  <a:lnTo>
                    <a:pt x="0" y="269093"/>
                  </a:lnTo>
                  <a:cubicBezTo>
                    <a:pt x="0" y="297233"/>
                    <a:pt x="14068" y="311303"/>
                    <a:pt x="42205" y="311303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8"/>
            <p:cNvSpPr/>
            <p:nvPr/>
          </p:nvSpPr>
          <p:spPr>
            <a:xfrm>
              <a:off x="2970775" y="5636378"/>
              <a:ext cx="647851" cy="30393"/>
            </a:xfrm>
            <a:custGeom>
              <a:rect b="b" l="l" r="r" t="t"/>
              <a:pathLst>
                <a:path extrusionOk="0" h="30393" w="647851">
                  <a:moveTo>
                    <a:pt x="0" y="30394"/>
                  </a:moveTo>
                  <a:lnTo>
                    <a:pt x="41149" y="0"/>
                  </a:lnTo>
                  <a:lnTo>
                    <a:pt x="647851" y="0"/>
                  </a:lnTo>
                  <a:lnTo>
                    <a:pt x="606702" y="30394"/>
                  </a:lnTo>
                  <a:close/>
                </a:path>
              </a:pathLst>
            </a:custGeom>
            <a:solidFill>
              <a:srgbClr val="F9DAC2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8"/>
            <p:cNvSpPr/>
            <p:nvPr/>
          </p:nvSpPr>
          <p:spPr>
            <a:xfrm>
              <a:off x="3577477" y="5636378"/>
              <a:ext cx="41148" cy="341696"/>
            </a:xfrm>
            <a:custGeom>
              <a:rect b="b" l="l" r="r" t="t"/>
              <a:pathLst>
                <a:path extrusionOk="0" h="341696" w="41148">
                  <a:moveTo>
                    <a:pt x="0" y="341697"/>
                  </a:moveTo>
                  <a:lnTo>
                    <a:pt x="41149" y="311303"/>
                  </a:lnTo>
                  <a:lnTo>
                    <a:pt x="41149" y="0"/>
                  </a:lnTo>
                  <a:lnTo>
                    <a:pt x="0" y="30394"/>
                  </a:lnTo>
                  <a:close/>
                </a:path>
              </a:pathLst>
            </a:custGeom>
            <a:solidFill>
              <a:srgbClr val="CBA88F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2970775" y="5666771"/>
              <a:ext cx="606702" cy="311303"/>
            </a:xfrm>
            <a:custGeom>
              <a:rect b="b" l="l" r="r" t="t"/>
              <a:pathLst>
                <a:path extrusionOk="0" h="311303" w="606702">
                  <a:moveTo>
                    <a:pt x="0" y="311303"/>
                  </a:moveTo>
                  <a:lnTo>
                    <a:pt x="606702" y="311303"/>
                  </a:lnTo>
                  <a:lnTo>
                    <a:pt x="6067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CDAE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3756850" y="5666771"/>
              <a:ext cx="395675" cy="311303"/>
            </a:xfrm>
            <a:custGeom>
              <a:rect b="b" l="l" r="r" t="t"/>
              <a:pathLst>
                <a:path extrusionOk="0" h="311303" w="395675">
                  <a:moveTo>
                    <a:pt x="42205" y="311303"/>
                  </a:moveTo>
                  <a:lnTo>
                    <a:pt x="353470" y="311303"/>
                  </a:lnTo>
                  <a:cubicBezTo>
                    <a:pt x="381607" y="311303"/>
                    <a:pt x="395676" y="297233"/>
                    <a:pt x="395676" y="269093"/>
                  </a:cubicBezTo>
                  <a:lnTo>
                    <a:pt x="395676" y="42211"/>
                  </a:lnTo>
                  <a:cubicBezTo>
                    <a:pt x="395676" y="14070"/>
                    <a:pt x="381607" y="0"/>
                    <a:pt x="353470" y="0"/>
                  </a:cubicBezTo>
                  <a:lnTo>
                    <a:pt x="42205" y="0"/>
                  </a:lnTo>
                  <a:cubicBezTo>
                    <a:pt x="14069" y="0"/>
                    <a:pt x="0" y="14070"/>
                    <a:pt x="0" y="42211"/>
                  </a:cubicBezTo>
                  <a:lnTo>
                    <a:pt x="0" y="269093"/>
                  </a:lnTo>
                  <a:cubicBezTo>
                    <a:pt x="0" y="297233"/>
                    <a:pt x="14069" y="311303"/>
                    <a:pt x="42205" y="311303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4316071" y="5636378"/>
              <a:ext cx="647851" cy="30393"/>
            </a:xfrm>
            <a:custGeom>
              <a:rect b="b" l="l" r="r" t="t"/>
              <a:pathLst>
                <a:path extrusionOk="0" h="30393" w="647851">
                  <a:moveTo>
                    <a:pt x="0" y="30394"/>
                  </a:moveTo>
                  <a:lnTo>
                    <a:pt x="41149" y="0"/>
                  </a:lnTo>
                  <a:lnTo>
                    <a:pt x="647851" y="0"/>
                  </a:lnTo>
                  <a:lnTo>
                    <a:pt x="606702" y="30394"/>
                  </a:lnTo>
                  <a:close/>
                </a:path>
              </a:pathLst>
            </a:custGeom>
            <a:solidFill>
              <a:srgbClr val="F9DAC2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4922773" y="5636378"/>
              <a:ext cx="41149" cy="341696"/>
            </a:xfrm>
            <a:custGeom>
              <a:rect b="b" l="l" r="r" t="t"/>
              <a:pathLst>
                <a:path extrusionOk="0" h="341696" w="41149">
                  <a:moveTo>
                    <a:pt x="0" y="341697"/>
                  </a:moveTo>
                  <a:lnTo>
                    <a:pt x="41149" y="311303"/>
                  </a:lnTo>
                  <a:lnTo>
                    <a:pt x="41149" y="0"/>
                  </a:lnTo>
                  <a:lnTo>
                    <a:pt x="0" y="30394"/>
                  </a:lnTo>
                  <a:close/>
                </a:path>
              </a:pathLst>
            </a:custGeom>
            <a:solidFill>
              <a:srgbClr val="CBA88F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4316071" y="5666771"/>
              <a:ext cx="606702" cy="311303"/>
            </a:xfrm>
            <a:custGeom>
              <a:rect b="b" l="l" r="r" t="t"/>
              <a:pathLst>
                <a:path extrusionOk="0" h="311303" w="606702">
                  <a:moveTo>
                    <a:pt x="0" y="311303"/>
                  </a:moveTo>
                  <a:lnTo>
                    <a:pt x="606702" y="311303"/>
                  </a:lnTo>
                  <a:lnTo>
                    <a:pt x="6067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CDAE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5059940" y="5666771"/>
              <a:ext cx="290162" cy="311303"/>
            </a:xfrm>
            <a:custGeom>
              <a:rect b="b" l="l" r="r" t="t"/>
              <a:pathLst>
                <a:path extrusionOk="0" h="311303" w="290162">
                  <a:moveTo>
                    <a:pt x="42206" y="311303"/>
                  </a:moveTo>
                  <a:lnTo>
                    <a:pt x="247957" y="311303"/>
                  </a:lnTo>
                  <a:cubicBezTo>
                    <a:pt x="276094" y="311303"/>
                    <a:pt x="290162" y="297233"/>
                    <a:pt x="290162" y="269093"/>
                  </a:cubicBezTo>
                  <a:lnTo>
                    <a:pt x="290162" y="42211"/>
                  </a:lnTo>
                  <a:cubicBezTo>
                    <a:pt x="290162" y="14070"/>
                    <a:pt x="276094" y="0"/>
                    <a:pt x="247957" y="0"/>
                  </a:cubicBezTo>
                  <a:lnTo>
                    <a:pt x="42206" y="0"/>
                  </a:lnTo>
                  <a:cubicBezTo>
                    <a:pt x="14069" y="0"/>
                    <a:pt x="0" y="14070"/>
                    <a:pt x="0" y="42211"/>
                  </a:cubicBezTo>
                  <a:lnTo>
                    <a:pt x="0" y="269093"/>
                  </a:lnTo>
                  <a:cubicBezTo>
                    <a:pt x="0" y="297233"/>
                    <a:pt x="14069" y="311303"/>
                    <a:pt x="42206" y="311303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5468805" y="5666771"/>
              <a:ext cx="211026" cy="311303"/>
            </a:xfrm>
            <a:custGeom>
              <a:rect b="b" l="l" r="r" t="t"/>
              <a:pathLst>
                <a:path extrusionOk="0" h="311303" w="211026">
                  <a:moveTo>
                    <a:pt x="42205" y="311303"/>
                  </a:moveTo>
                  <a:lnTo>
                    <a:pt x="168822" y="311303"/>
                  </a:lnTo>
                  <a:cubicBezTo>
                    <a:pt x="196958" y="311303"/>
                    <a:pt x="211027" y="297233"/>
                    <a:pt x="211027" y="269093"/>
                  </a:cubicBezTo>
                  <a:lnTo>
                    <a:pt x="211027" y="42211"/>
                  </a:lnTo>
                  <a:cubicBezTo>
                    <a:pt x="211027" y="14070"/>
                    <a:pt x="196958" y="0"/>
                    <a:pt x="168822" y="0"/>
                  </a:cubicBezTo>
                  <a:lnTo>
                    <a:pt x="42205" y="0"/>
                  </a:lnTo>
                  <a:cubicBezTo>
                    <a:pt x="14069" y="0"/>
                    <a:pt x="0" y="14070"/>
                    <a:pt x="0" y="42211"/>
                  </a:cubicBezTo>
                  <a:lnTo>
                    <a:pt x="0" y="269093"/>
                  </a:lnTo>
                  <a:cubicBezTo>
                    <a:pt x="0" y="297233"/>
                    <a:pt x="14069" y="311303"/>
                    <a:pt x="42205" y="311303"/>
                  </a:cubicBezTo>
                  <a:close/>
                </a:path>
              </a:pathLst>
            </a:custGeom>
            <a:solidFill>
              <a:srgbClr val="D5C5E8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5864480" y="5743278"/>
              <a:ext cx="158270" cy="158289"/>
            </a:xfrm>
            <a:custGeom>
              <a:rect b="b" l="l" r="r" t="t"/>
              <a:pathLst>
                <a:path extrusionOk="0" h="158289" w="158270">
                  <a:moveTo>
                    <a:pt x="79135" y="158290"/>
                  </a:moveTo>
                  <a:cubicBezTo>
                    <a:pt x="100122" y="158290"/>
                    <a:pt x="120254" y="149948"/>
                    <a:pt x="135092" y="135108"/>
                  </a:cubicBezTo>
                  <a:cubicBezTo>
                    <a:pt x="149929" y="120269"/>
                    <a:pt x="158270" y="100134"/>
                    <a:pt x="158270" y="79145"/>
                  </a:cubicBezTo>
                  <a:cubicBezTo>
                    <a:pt x="158270" y="58156"/>
                    <a:pt x="149929" y="38021"/>
                    <a:pt x="135092" y="23182"/>
                  </a:cubicBezTo>
                  <a:cubicBezTo>
                    <a:pt x="120254" y="8342"/>
                    <a:pt x="100122" y="0"/>
                    <a:pt x="79135" y="0"/>
                  </a:cubicBezTo>
                  <a:cubicBezTo>
                    <a:pt x="58148" y="0"/>
                    <a:pt x="38017" y="8342"/>
                    <a:pt x="23179" y="23182"/>
                  </a:cubicBezTo>
                  <a:cubicBezTo>
                    <a:pt x="8341" y="38021"/>
                    <a:pt x="0" y="58156"/>
                    <a:pt x="0" y="79145"/>
                  </a:cubicBezTo>
                  <a:cubicBezTo>
                    <a:pt x="0" y="100134"/>
                    <a:pt x="8341" y="120269"/>
                    <a:pt x="23179" y="135108"/>
                  </a:cubicBezTo>
                  <a:cubicBezTo>
                    <a:pt x="38017" y="149948"/>
                    <a:pt x="58148" y="158290"/>
                    <a:pt x="79135" y="15829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28"/>
            <p:cNvSpPr txBox="1"/>
            <p:nvPr/>
          </p:nvSpPr>
          <p:spPr>
            <a:xfrm>
              <a:off x="1468092" y="4932949"/>
              <a:ext cx="1521000" cy="1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15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(A) MobilePixorNeXt block</a:t>
              </a:r>
              <a:endParaRPr sz="1100"/>
            </a:p>
          </p:txBody>
        </p:sp>
        <p:sp>
          <p:nvSpPr>
            <p:cNvPr id="380" name="Google Shape;380;p28"/>
            <p:cNvSpPr txBox="1"/>
            <p:nvPr/>
          </p:nvSpPr>
          <p:spPr>
            <a:xfrm>
              <a:off x="2551766" y="5366282"/>
              <a:ext cx="2790600" cy="15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Depthwise spatial mixing → pointwise channel expansion → residual</a:t>
              </a:r>
              <a:endParaRPr sz="1100"/>
            </a:p>
          </p:txBody>
        </p:sp>
        <p:sp>
          <p:nvSpPr>
            <p:cNvPr id="381" name="Google Shape;381;p28"/>
            <p:cNvSpPr txBox="1"/>
            <p:nvPr/>
          </p:nvSpPr>
          <p:spPr>
            <a:xfrm>
              <a:off x="1480209" y="5720905"/>
              <a:ext cx="237900" cy="1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15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grpSp>
          <p:nvGrpSpPr>
            <p:cNvPr id="382" name="Google Shape;382;p28"/>
            <p:cNvGrpSpPr/>
            <p:nvPr/>
          </p:nvGrpSpPr>
          <p:grpSpPr>
            <a:xfrm>
              <a:off x="1926489" y="5699467"/>
              <a:ext cx="408900" cy="273534"/>
              <a:chOff x="1926489" y="5699467"/>
              <a:chExt cx="408900" cy="273534"/>
            </a:xfrm>
          </p:grpSpPr>
          <p:sp>
            <p:nvSpPr>
              <p:cNvPr id="383" name="Google Shape;383;p28"/>
              <p:cNvSpPr txBox="1"/>
              <p:nvPr/>
            </p:nvSpPr>
            <p:spPr>
              <a:xfrm>
                <a:off x="1926489" y="5699467"/>
                <a:ext cx="408900" cy="15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42629"/>
                    </a:solidFill>
                    <a:latin typeface="Arial"/>
                    <a:ea typeface="Arial"/>
                    <a:cs typeface="Arial"/>
                    <a:sym typeface="Arial"/>
                  </a:rPr>
                  <a:t>DW 7×7</a:t>
                </a:r>
                <a:endParaRPr sz="1100"/>
              </a:p>
            </p:txBody>
          </p:sp>
          <p:sp>
            <p:nvSpPr>
              <p:cNvPr id="384" name="Google Shape;384;p28"/>
              <p:cNvSpPr txBox="1"/>
              <p:nvPr/>
            </p:nvSpPr>
            <p:spPr>
              <a:xfrm>
                <a:off x="1982393" y="5814301"/>
                <a:ext cx="329400" cy="15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42629"/>
                    </a:solidFill>
                    <a:latin typeface="Arial"/>
                    <a:ea typeface="Arial"/>
                    <a:cs typeface="Arial"/>
                    <a:sym typeface="Arial"/>
                  </a:rPr>
                  <a:t>C→C</a:t>
                </a:r>
                <a:endParaRPr sz="1100"/>
              </a:p>
            </p:txBody>
          </p:sp>
        </p:grpSp>
        <p:sp>
          <p:nvSpPr>
            <p:cNvPr id="385" name="Google Shape;385;p28"/>
            <p:cNvSpPr txBox="1"/>
            <p:nvPr/>
          </p:nvSpPr>
          <p:spPr>
            <a:xfrm>
              <a:off x="2546818" y="5739047"/>
              <a:ext cx="2685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</a:t>
              </a:r>
              <a:endParaRPr sz="1100"/>
            </a:p>
          </p:txBody>
        </p:sp>
        <p:grpSp>
          <p:nvGrpSpPr>
            <p:cNvPr id="386" name="Google Shape;386;p28"/>
            <p:cNvGrpSpPr/>
            <p:nvPr/>
          </p:nvGrpSpPr>
          <p:grpSpPr>
            <a:xfrm>
              <a:off x="3065840" y="5681638"/>
              <a:ext cx="420900" cy="283932"/>
              <a:chOff x="3065840" y="5681638"/>
              <a:chExt cx="420900" cy="283932"/>
            </a:xfrm>
          </p:grpSpPr>
          <p:sp>
            <p:nvSpPr>
              <p:cNvPr id="387" name="Google Shape;387;p28"/>
              <p:cNvSpPr txBox="1"/>
              <p:nvPr/>
            </p:nvSpPr>
            <p:spPr>
              <a:xfrm>
                <a:off x="3069724" y="5681638"/>
                <a:ext cx="408900" cy="15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42629"/>
                    </a:solidFill>
                    <a:latin typeface="Arial"/>
                    <a:ea typeface="Arial"/>
                    <a:cs typeface="Arial"/>
                    <a:sym typeface="Arial"/>
                  </a:rPr>
                  <a:t>PW 1×1</a:t>
                </a:r>
                <a:endParaRPr sz="1100"/>
              </a:p>
            </p:txBody>
          </p:sp>
          <p:sp>
            <p:nvSpPr>
              <p:cNvPr id="388" name="Google Shape;388;p28"/>
              <p:cNvSpPr txBox="1"/>
              <p:nvPr/>
            </p:nvSpPr>
            <p:spPr>
              <a:xfrm>
                <a:off x="3065840" y="5806870"/>
                <a:ext cx="420900" cy="15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42629"/>
                    </a:solidFill>
                    <a:latin typeface="Arial"/>
                    <a:ea typeface="Arial"/>
                    <a:cs typeface="Arial"/>
                    <a:sym typeface="Arial"/>
                  </a:rPr>
                  <a:t>C→2.5C</a:t>
                </a:r>
                <a:endParaRPr sz="1100"/>
              </a:p>
            </p:txBody>
          </p:sp>
        </p:grpSp>
        <p:sp>
          <p:nvSpPr>
            <p:cNvPr id="389" name="Google Shape;389;p28"/>
            <p:cNvSpPr txBox="1"/>
            <p:nvPr/>
          </p:nvSpPr>
          <p:spPr>
            <a:xfrm>
              <a:off x="3799814" y="5737870"/>
              <a:ext cx="3171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SiLU</a:t>
              </a:r>
              <a:endParaRPr sz="1100"/>
            </a:p>
          </p:txBody>
        </p:sp>
        <p:grpSp>
          <p:nvGrpSpPr>
            <p:cNvPr id="390" name="Google Shape;390;p28"/>
            <p:cNvGrpSpPr/>
            <p:nvPr/>
          </p:nvGrpSpPr>
          <p:grpSpPr>
            <a:xfrm>
              <a:off x="4422393" y="5684950"/>
              <a:ext cx="420900" cy="278833"/>
              <a:chOff x="4422393" y="5684950"/>
              <a:chExt cx="420900" cy="278833"/>
            </a:xfrm>
          </p:grpSpPr>
          <p:sp>
            <p:nvSpPr>
              <p:cNvPr id="391" name="Google Shape;391;p28"/>
              <p:cNvSpPr txBox="1"/>
              <p:nvPr/>
            </p:nvSpPr>
            <p:spPr>
              <a:xfrm>
                <a:off x="4431071" y="5684950"/>
                <a:ext cx="408900" cy="15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42629"/>
                    </a:solidFill>
                    <a:latin typeface="Arial"/>
                    <a:ea typeface="Arial"/>
                    <a:cs typeface="Arial"/>
                    <a:sym typeface="Arial"/>
                  </a:rPr>
                  <a:t>PW 1×1</a:t>
                </a:r>
                <a:endParaRPr sz="1100"/>
              </a:p>
            </p:txBody>
          </p:sp>
          <p:sp>
            <p:nvSpPr>
              <p:cNvPr id="392" name="Google Shape;392;p28"/>
              <p:cNvSpPr txBox="1"/>
              <p:nvPr/>
            </p:nvSpPr>
            <p:spPr>
              <a:xfrm>
                <a:off x="4422393" y="5805083"/>
                <a:ext cx="420900" cy="15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42629"/>
                    </a:solidFill>
                    <a:latin typeface="Arial"/>
                    <a:ea typeface="Arial"/>
                    <a:cs typeface="Arial"/>
                    <a:sym typeface="Arial"/>
                  </a:rPr>
                  <a:t>2.5C→C</a:t>
                </a:r>
                <a:endParaRPr sz="1100"/>
              </a:p>
            </p:txBody>
          </p:sp>
        </p:grpSp>
        <p:sp>
          <p:nvSpPr>
            <p:cNvPr id="393" name="Google Shape;393;p28"/>
            <p:cNvSpPr txBox="1"/>
            <p:nvPr/>
          </p:nvSpPr>
          <p:spPr>
            <a:xfrm>
              <a:off x="5070394" y="5745016"/>
              <a:ext cx="2685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</a:t>
              </a:r>
              <a:endParaRPr sz="1100"/>
            </a:p>
          </p:txBody>
        </p:sp>
        <p:sp>
          <p:nvSpPr>
            <p:cNvPr id="394" name="Google Shape;394;p28"/>
            <p:cNvSpPr txBox="1"/>
            <p:nvPr/>
          </p:nvSpPr>
          <p:spPr>
            <a:xfrm>
              <a:off x="5465524" y="5733118"/>
              <a:ext cx="2196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γ</a:t>
              </a:r>
              <a:endParaRPr sz="1100"/>
            </a:p>
          </p:txBody>
        </p:sp>
        <p:sp>
          <p:nvSpPr>
            <p:cNvPr id="395" name="Google Shape;395;p28"/>
            <p:cNvSpPr txBox="1"/>
            <p:nvPr/>
          </p:nvSpPr>
          <p:spPr>
            <a:xfrm>
              <a:off x="5826262" y="5728088"/>
              <a:ext cx="2316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100"/>
            </a:p>
          </p:txBody>
        </p:sp>
        <p:sp>
          <p:nvSpPr>
            <p:cNvPr id="396" name="Google Shape;396;p28"/>
            <p:cNvSpPr txBox="1"/>
            <p:nvPr/>
          </p:nvSpPr>
          <p:spPr>
            <a:xfrm>
              <a:off x="6091522" y="5740938"/>
              <a:ext cx="225622" cy="176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1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100"/>
            </a:p>
          </p:txBody>
        </p:sp>
        <p:sp>
          <p:nvSpPr>
            <p:cNvPr id="397" name="Google Shape;397;p28"/>
            <p:cNvSpPr txBox="1"/>
            <p:nvPr/>
          </p:nvSpPr>
          <p:spPr>
            <a:xfrm>
              <a:off x="3523895" y="6176067"/>
              <a:ext cx="868200" cy="15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Identity shortcut</a:t>
              </a:r>
              <a:endParaRPr sz="1100"/>
            </a:p>
          </p:txBody>
        </p:sp>
        <p:sp>
          <p:nvSpPr>
            <p:cNvPr id="398" name="Google Shape;398;p28"/>
            <p:cNvSpPr txBox="1"/>
            <p:nvPr/>
          </p:nvSpPr>
          <p:spPr>
            <a:xfrm>
              <a:off x="2684091" y="6463943"/>
              <a:ext cx="25509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Y = X + γ </a:t>
              </a:r>
              <a:r>
                <a:rPr lang="vi" spc="0" sz="1200">
                  <a:solidFill>
                    <a:srgbClr val="242629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⊙</a:t>
              </a:r>
              <a:r>
                <a:rPr lang="vi"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 F(X) · γ is learned per channel; initialized to 10</a:t>
              </a:r>
              <a:r>
                <a:rPr lang="vi" spc="0" sz="1200">
                  <a:solidFill>
                    <a:srgbClr val="242629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⁻</a:t>
              </a:r>
              <a:r>
                <a:rPr lang="vi"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⁵</a:t>
              </a:r>
              <a:endParaRPr sz="11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29"/>
          <p:cNvGrpSpPr/>
          <p:nvPr/>
        </p:nvGrpSpPr>
        <p:grpSpPr>
          <a:xfrm>
            <a:off x="890722" y="983197"/>
            <a:ext cx="7283155" cy="3053411"/>
            <a:chOff x="930422" y="1340397"/>
            <a:chExt cx="7283155" cy="3053411"/>
          </a:xfrm>
        </p:grpSpPr>
        <p:sp>
          <p:nvSpPr>
            <p:cNvPr id="404" name="Google Shape;404;p29"/>
            <p:cNvSpPr/>
            <p:nvPr/>
          </p:nvSpPr>
          <p:spPr>
            <a:xfrm>
              <a:off x="930422" y="1340397"/>
              <a:ext cx="7283155" cy="3023985"/>
            </a:xfrm>
            <a:custGeom>
              <a:rect b="b" l="l" r="r" t="t"/>
              <a:pathLst>
                <a:path extrusionOk="0" h="1807140" w="4352429">
                  <a:moveTo>
                    <a:pt x="42205" y="1807141"/>
                  </a:moveTo>
                  <a:lnTo>
                    <a:pt x="4310236" y="1807141"/>
                  </a:lnTo>
                  <a:cubicBezTo>
                    <a:pt x="4338386" y="1807141"/>
                    <a:pt x="4352429" y="1793095"/>
                    <a:pt x="4352429" y="1764943"/>
                  </a:cubicBezTo>
                  <a:lnTo>
                    <a:pt x="4352429" y="42211"/>
                  </a:lnTo>
                  <a:cubicBezTo>
                    <a:pt x="4352429" y="14070"/>
                    <a:pt x="4338386" y="0"/>
                    <a:pt x="4310236" y="0"/>
                  </a:cubicBezTo>
                  <a:lnTo>
                    <a:pt x="42205" y="0"/>
                  </a:lnTo>
                  <a:cubicBezTo>
                    <a:pt x="14069" y="0"/>
                    <a:pt x="0" y="14070"/>
                    <a:pt x="0" y="42211"/>
                  </a:cubicBezTo>
                  <a:lnTo>
                    <a:pt x="0" y="1764943"/>
                  </a:lnTo>
                  <a:cubicBezTo>
                    <a:pt x="0" y="1793095"/>
                    <a:pt x="14069" y="1807141"/>
                    <a:pt x="42205" y="1807141"/>
                  </a:cubicBezTo>
                  <a:close/>
                </a:path>
              </a:pathLst>
            </a:custGeom>
            <a:solidFill>
              <a:srgbClr val="FFE49B"/>
            </a:solidFill>
            <a:ln cap="flat" cmpd="sng" w="9525">
              <a:solidFill>
                <a:srgbClr val="242629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5" name="Google Shape;405;p29"/>
            <p:cNvGrpSpPr/>
            <p:nvPr/>
          </p:nvGrpSpPr>
          <p:grpSpPr>
            <a:xfrm>
              <a:off x="1526317" y="2556041"/>
              <a:ext cx="693105" cy="40875"/>
              <a:chOff x="6716502" y="5633452"/>
              <a:chExt cx="414201" cy="24427"/>
            </a:xfrm>
          </p:grpSpPr>
          <p:sp>
            <p:nvSpPr>
              <p:cNvPr id="406" name="Google Shape;406;p29"/>
              <p:cNvSpPr/>
              <p:nvPr/>
            </p:nvSpPr>
            <p:spPr>
              <a:xfrm>
                <a:off x="6716502" y="5645666"/>
                <a:ext cx="414201" cy="6106"/>
              </a:xfrm>
              <a:custGeom>
                <a:rect b="b" l="l" r="r" t="t"/>
                <a:pathLst>
                  <a:path extrusionOk="0" h="6106" w="414201">
                    <a:moveTo>
                      <a:pt x="0" y="0"/>
                    </a:moveTo>
                    <a:cubicBezTo>
                      <a:pt x="140684" y="0"/>
                      <a:pt x="278750" y="0"/>
                      <a:pt x="414201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29"/>
              <p:cNvSpPr/>
              <p:nvPr/>
            </p:nvSpPr>
            <p:spPr>
              <a:xfrm>
                <a:off x="7106278" y="5633452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8" name="Google Shape;408;p29"/>
            <p:cNvSpPr/>
            <p:nvPr/>
          </p:nvSpPr>
          <p:spPr>
            <a:xfrm>
              <a:off x="1526317" y="3583045"/>
              <a:ext cx="838665" cy="10217"/>
            </a:xfrm>
            <a:custGeom>
              <a:rect b="b" l="l" r="r" t="t"/>
              <a:pathLst>
                <a:path extrusionOk="0" h="6106" w="501188">
                  <a:moveTo>
                    <a:pt x="0" y="0"/>
                  </a:moveTo>
                  <a:lnTo>
                    <a:pt x="501189" y="0"/>
                  </a:lnTo>
                </a:path>
              </a:pathLst>
            </a:custGeom>
            <a:noFill/>
            <a:ln cap="sq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9" name="Google Shape;409;p29"/>
            <p:cNvGrpSpPr/>
            <p:nvPr/>
          </p:nvGrpSpPr>
          <p:grpSpPr>
            <a:xfrm>
              <a:off x="2344547" y="2722059"/>
              <a:ext cx="40870" cy="860984"/>
              <a:chOff x="7205478" y="5732665"/>
              <a:chExt cx="24424" cy="514526"/>
            </a:xfrm>
          </p:grpSpPr>
          <p:sp>
            <p:nvSpPr>
              <p:cNvPr id="410" name="Google Shape;410;p29"/>
              <p:cNvSpPr/>
              <p:nvPr/>
            </p:nvSpPr>
            <p:spPr>
              <a:xfrm>
                <a:off x="7217690" y="5732665"/>
                <a:ext cx="6106" cy="514526"/>
              </a:xfrm>
              <a:custGeom>
                <a:rect b="b" l="l" r="r" t="t"/>
                <a:pathLst>
                  <a:path extrusionOk="0" h="514526" w="6106">
                    <a:moveTo>
                      <a:pt x="0" y="514527"/>
                    </a:moveTo>
                    <a:cubicBezTo>
                      <a:pt x="0" y="340384"/>
                      <a:pt x="0" y="168885"/>
                      <a:pt x="0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29"/>
              <p:cNvSpPr/>
              <p:nvPr/>
            </p:nvSpPr>
            <p:spPr>
              <a:xfrm>
                <a:off x="7205478" y="5732665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24427"/>
                    </a:moveTo>
                    <a:lnTo>
                      <a:pt x="12212" y="0"/>
                    </a:lnTo>
                    <a:lnTo>
                      <a:pt x="24424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" name="Google Shape;412;p29"/>
            <p:cNvGrpSpPr/>
            <p:nvPr/>
          </p:nvGrpSpPr>
          <p:grpSpPr>
            <a:xfrm>
              <a:off x="2497403" y="2556041"/>
              <a:ext cx="273732" cy="40875"/>
              <a:chOff x="7296825" y="5633452"/>
              <a:chExt cx="163583" cy="24427"/>
            </a:xfrm>
          </p:grpSpPr>
          <p:sp>
            <p:nvSpPr>
              <p:cNvPr id="413" name="Google Shape;413;p29"/>
              <p:cNvSpPr/>
              <p:nvPr/>
            </p:nvSpPr>
            <p:spPr>
              <a:xfrm>
                <a:off x="7296825" y="5645666"/>
                <a:ext cx="163582" cy="6106"/>
              </a:xfrm>
              <a:custGeom>
                <a:rect b="b" l="l" r="r" t="t"/>
                <a:pathLst>
                  <a:path extrusionOk="0" h="6106" w="163582">
                    <a:moveTo>
                      <a:pt x="0" y="0"/>
                    </a:moveTo>
                    <a:cubicBezTo>
                      <a:pt x="57153" y="0"/>
                      <a:pt x="111687" y="0"/>
                      <a:pt x="163583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29"/>
              <p:cNvSpPr/>
              <p:nvPr/>
            </p:nvSpPr>
            <p:spPr>
              <a:xfrm>
                <a:off x="7436008" y="5633452"/>
                <a:ext cx="24400" cy="24427"/>
              </a:xfrm>
              <a:custGeom>
                <a:rect b="b" l="l" r="r" t="t"/>
                <a:pathLst>
                  <a:path extrusionOk="0" h="24427" w="24400">
                    <a:moveTo>
                      <a:pt x="0" y="0"/>
                    </a:moveTo>
                    <a:lnTo>
                      <a:pt x="24400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29"/>
            <p:cNvGrpSpPr/>
            <p:nvPr/>
          </p:nvGrpSpPr>
          <p:grpSpPr>
            <a:xfrm>
              <a:off x="3967318" y="2556041"/>
              <a:ext cx="295801" cy="40875"/>
              <a:chOff x="8175249" y="5633452"/>
              <a:chExt cx="176771" cy="24427"/>
            </a:xfrm>
          </p:grpSpPr>
          <p:sp>
            <p:nvSpPr>
              <p:cNvPr id="416" name="Google Shape;416;p29"/>
              <p:cNvSpPr/>
              <p:nvPr/>
            </p:nvSpPr>
            <p:spPr>
              <a:xfrm>
                <a:off x="8175249" y="5645666"/>
                <a:ext cx="176771" cy="6106"/>
              </a:xfrm>
              <a:custGeom>
                <a:rect b="b" l="l" r="r" t="t"/>
                <a:pathLst>
                  <a:path extrusionOk="0" h="6106" w="176771">
                    <a:moveTo>
                      <a:pt x="0" y="0"/>
                    </a:moveTo>
                    <a:cubicBezTo>
                      <a:pt x="61549" y="0"/>
                      <a:pt x="120473" y="0"/>
                      <a:pt x="176771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29"/>
              <p:cNvSpPr/>
              <p:nvPr/>
            </p:nvSpPr>
            <p:spPr>
              <a:xfrm>
                <a:off x="8327596" y="5633452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29"/>
            <p:cNvGrpSpPr/>
            <p:nvPr/>
          </p:nvGrpSpPr>
          <p:grpSpPr>
            <a:xfrm>
              <a:off x="5088401" y="2556041"/>
              <a:ext cx="719631" cy="40875"/>
              <a:chOff x="8845211" y="5633452"/>
              <a:chExt cx="430053" cy="24427"/>
            </a:xfrm>
          </p:grpSpPr>
          <p:sp>
            <p:nvSpPr>
              <p:cNvPr id="419" name="Google Shape;419;p29"/>
              <p:cNvSpPr/>
              <p:nvPr/>
            </p:nvSpPr>
            <p:spPr>
              <a:xfrm>
                <a:off x="8845211" y="5645666"/>
                <a:ext cx="430053" cy="6106"/>
              </a:xfrm>
              <a:custGeom>
                <a:rect b="b" l="l" r="r" t="t"/>
                <a:pathLst>
                  <a:path extrusionOk="0" h="6106" w="430053">
                    <a:moveTo>
                      <a:pt x="0" y="0"/>
                    </a:moveTo>
                    <a:cubicBezTo>
                      <a:pt x="145997" y="0"/>
                      <a:pt x="289307" y="0"/>
                      <a:pt x="430053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29"/>
              <p:cNvSpPr/>
              <p:nvPr/>
            </p:nvSpPr>
            <p:spPr>
              <a:xfrm>
                <a:off x="9250839" y="5633452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1" name="Google Shape;421;p29"/>
            <p:cNvSpPr/>
            <p:nvPr/>
          </p:nvSpPr>
          <p:spPr>
            <a:xfrm>
              <a:off x="1680808" y="2187996"/>
              <a:ext cx="4272825" cy="388483"/>
            </a:xfrm>
            <a:custGeom>
              <a:rect b="b" l="l" r="r" t="t"/>
              <a:pathLst>
                <a:path extrusionOk="0" h="232158" w="2553449">
                  <a:moveTo>
                    <a:pt x="0" y="232158"/>
                  </a:moveTo>
                  <a:lnTo>
                    <a:pt x="0" y="0"/>
                  </a:lnTo>
                  <a:lnTo>
                    <a:pt x="2553450" y="0"/>
                  </a:lnTo>
                </a:path>
              </a:pathLst>
            </a:custGeom>
            <a:noFill/>
            <a:ln cap="sq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2" name="Google Shape;422;p29"/>
            <p:cNvGrpSpPr/>
            <p:nvPr/>
          </p:nvGrpSpPr>
          <p:grpSpPr>
            <a:xfrm>
              <a:off x="5933197" y="2187996"/>
              <a:ext cx="40870" cy="242904"/>
              <a:chOff x="9350063" y="5413508"/>
              <a:chExt cx="24424" cy="145160"/>
            </a:xfrm>
          </p:grpSpPr>
          <p:sp>
            <p:nvSpPr>
              <p:cNvPr id="423" name="Google Shape;423;p29"/>
              <p:cNvSpPr/>
              <p:nvPr/>
            </p:nvSpPr>
            <p:spPr>
              <a:xfrm>
                <a:off x="9362276" y="5413508"/>
                <a:ext cx="6106" cy="145160"/>
              </a:xfrm>
              <a:custGeom>
                <a:rect b="b" l="l" r="r" t="t"/>
                <a:pathLst>
                  <a:path extrusionOk="0" h="145160" w="6106">
                    <a:moveTo>
                      <a:pt x="0" y="0"/>
                    </a:moveTo>
                    <a:cubicBezTo>
                      <a:pt x="0" y="51004"/>
                      <a:pt x="0" y="99389"/>
                      <a:pt x="0" y="14516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29"/>
              <p:cNvSpPr/>
              <p:nvPr/>
            </p:nvSpPr>
            <p:spPr>
              <a:xfrm>
                <a:off x="9350063" y="5534241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24424" y="0"/>
                    </a:moveTo>
                    <a:lnTo>
                      <a:pt x="12212" y="244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5" name="Google Shape;425;p29"/>
            <p:cNvSpPr/>
            <p:nvPr/>
          </p:nvSpPr>
          <p:spPr>
            <a:xfrm>
              <a:off x="6086054" y="2576479"/>
              <a:ext cx="1068155" cy="10217"/>
            </a:xfrm>
            <a:custGeom>
              <a:rect b="b" l="l" r="r" t="t"/>
              <a:pathLst>
                <a:path extrusionOk="0" h="6106" w="638332">
                  <a:moveTo>
                    <a:pt x="0" y="0"/>
                  </a:moveTo>
                  <a:lnTo>
                    <a:pt x="638332" y="0"/>
                  </a:lnTo>
                </a:path>
              </a:pathLst>
            </a:custGeom>
            <a:noFill/>
            <a:ln cap="sq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" name="Google Shape;426;p29"/>
            <p:cNvGrpSpPr/>
            <p:nvPr/>
          </p:nvGrpSpPr>
          <p:grpSpPr>
            <a:xfrm>
              <a:off x="7133774" y="2576479"/>
              <a:ext cx="40870" cy="450390"/>
              <a:chOff x="10067530" y="5645666"/>
              <a:chExt cx="24424" cy="269154"/>
            </a:xfrm>
          </p:grpSpPr>
          <p:sp>
            <p:nvSpPr>
              <p:cNvPr id="427" name="Google Shape;427;p29"/>
              <p:cNvSpPr/>
              <p:nvPr/>
            </p:nvSpPr>
            <p:spPr>
              <a:xfrm>
                <a:off x="10079743" y="5645666"/>
                <a:ext cx="6106" cy="269153"/>
              </a:xfrm>
              <a:custGeom>
                <a:rect b="b" l="l" r="r" t="t"/>
                <a:pathLst>
                  <a:path extrusionOk="0" h="269153" w="6106">
                    <a:moveTo>
                      <a:pt x="0" y="0"/>
                    </a:moveTo>
                    <a:cubicBezTo>
                      <a:pt x="0" y="92336"/>
                      <a:pt x="0" y="182052"/>
                      <a:pt x="0" y="269154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9"/>
              <p:cNvSpPr/>
              <p:nvPr/>
            </p:nvSpPr>
            <p:spPr>
              <a:xfrm>
                <a:off x="10067530" y="5890393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24424" y="0"/>
                    </a:moveTo>
                    <a:lnTo>
                      <a:pt x="12212" y="244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9" name="Google Shape;429;p29"/>
            <p:cNvSpPr/>
            <p:nvPr/>
          </p:nvSpPr>
          <p:spPr>
            <a:xfrm>
              <a:off x="2364982" y="3583045"/>
              <a:ext cx="4789227" cy="10217"/>
            </a:xfrm>
            <a:custGeom>
              <a:rect b="b" l="l" r="r" t="t"/>
              <a:pathLst>
                <a:path extrusionOk="0" h="6106" w="2862052">
                  <a:moveTo>
                    <a:pt x="0" y="0"/>
                  </a:moveTo>
                  <a:lnTo>
                    <a:pt x="2862052" y="0"/>
                  </a:lnTo>
                </a:path>
              </a:pathLst>
            </a:custGeom>
            <a:noFill/>
            <a:ln cap="sq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0" name="Google Shape;430;p29"/>
            <p:cNvGrpSpPr/>
            <p:nvPr/>
          </p:nvGrpSpPr>
          <p:grpSpPr>
            <a:xfrm>
              <a:off x="7133774" y="3318027"/>
              <a:ext cx="40870" cy="265015"/>
              <a:chOff x="10067530" y="6088817"/>
              <a:chExt cx="24424" cy="158374"/>
            </a:xfrm>
          </p:grpSpPr>
          <p:sp>
            <p:nvSpPr>
              <p:cNvPr id="431" name="Google Shape;431;p29"/>
              <p:cNvSpPr/>
              <p:nvPr/>
            </p:nvSpPr>
            <p:spPr>
              <a:xfrm>
                <a:off x="10079743" y="6088817"/>
                <a:ext cx="6106" cy="158374"/>
              </a:xfrm>
              <a:custGeom>
                <a:rect b="b" l="l" r="r" t="t"/>
                <a:pathLst>
                  <a:path extrusionOk="0" h="158374" w="6106">
                    <a:moveTo>
                      <a:pt x="0" y="158375"/>
                    </a:moveTo>
                    <a:cubicBezTo>
                      <a:pt x="0" y="102925"/>
                      <a:pt x="0" y="50162"/>
                      <a:pt x="0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29"/>
              <p:cNvSpPr/>
              <p:nvPr/>
            </p:nvSpPr>
            <p:spPr>
              <a:xfrm>
                <a:off x="10067530" y="6088817"/>
                <a:ext cx="24424" cy="24451"/>
              </a:xfrm>
              <a:custGeom>
                <a:rect b="b" l="l" r="r" t="t"/>
                <a:pathLst>
                  <a:path extrusionOk="0" h="24451" w="24424">
                    <a:moveTo>
                      <a:pt x="0" y="24452"/>
                    </a:moveTo>
                    <a:lnTo>
                      <a:pt x="12212" y="0"/>
                    </a:lnTo>
                    <a:lnTo>
                      <a:pt x="24424" y="24452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3" name="Google Shape;433;p29"/>
            <p:cNvGrpSpPr/>
            <p:nvPr/>
          </p:nvGrpSpPr>
          <p:grpSpPr>
            <a:xfrm>
              <a:off x="7286630" y="3152008"/>
              <a:ext cx="516504" cy="40875"/>
              <a:chOff x="10158877" y="5989604"/>
              <a:chExt cx="308664" cy="24427"/>
            </a:xfrm>
          </p:grpSpPr>
          <p:sp>
            <p:nvSpPr>
              <p:cNvPr id="434" name="Google Shape;434;p29"/>
              <p:cNvSpPr/>
              <p:nvPr/>
            </p:nvSpPr>
            <p:spPr>
              <a:xfrm>
                <a:off x="10158877" y="6001818"/>
                <a:ext cx="308663" cy="6106"/>
              </a:xfrm>
              <a:custGeom>
                <a:rect b="b" l="l" r="r" t="t"/>
                <a:pathLst>
                  <a:path extrusionOk="0" h="6106" w="308663">
                    <a:moveTo>
                      <a:pt x="0" y="0"/>
                    </a:moveTo>
                    <a:cubicBezTo>
                      <a:pt x="105514" y="0"/>
                      <a:pt x="208401" y="0"/>
                      <a:pt x="308664" y="0"/>
                    </a:cubicBezTo>
                  </a:path>
                </a:pathLst>
              </a:custGeom>
              <a:noFill/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29"/>
              <p:cNvSpPr/>
              <p:nvPr/>
            </p:nvSpPr>
            <p:spPr>
              <a:xfrm>
                <a:off x="10443117" y="5989604"/>
                <a:ext cx="24424" cy="24427"/>
              </a:xfrm>
              <a:custGeom>
                <a:rect b="b" l="l" r="r" t="t"/>
                <a:pathLst>
                  <a:path extrusionOk="0" h="24427" w="24424">
                    <a:moveTo>
                      <a:pt x="0" y="0"/>
                    </a:moveTo>
                    <a:lnTo>
                      <a:pt x="24424" y="12214"/>
                    </a:lnTo>
                    <a:lnTo>
                      <a:pt x="0" y="24427"/>
                    </a:lnTo>
                    <a:close/>
                  </a:path>
                </a:pathLst>
              </a:custGeom>
              <a:solidFill>
                <a:srgbClr val="242629"/>
              </a:solidFill>
              <a:ln cap="rnd" cmpd="sng" w="9525">
                <a:solidFill>
                  <a:srgbClr val="24262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6" name="Google Shape;436;p29"/>
            <p:cNvSpPr/>
            <p:nvPr/>
          </p:nvSpPr>
          <p:spPr>
            <a:xfrm>
              <a:off x="2784317" y="2355750"/>
              <a:ext cx="1183001" cy="441458"/>
            </a:xfrm>
            <a:custGeom>
              <a:rect b="b" l="l" r="r" t="t"/>
              <a:pathLst>
                <a:path extrusionOk="0" h="263816" w="706964">
                  <a:moveTo>
                    <a:pt x="42193" y="263816"/>
                  </a:moveTo>
                  <a:lnTo>
                    <a:pt x="664710" y="263816"/>
                  </a:lnTo>
                  <a:cubicBezTo>
                    <a:pt x="692859" y="263816"/>
                    <a:pt x="706965" y="249746"/>
                    <a:pt x="706965" y="221606"/>
                  </a:cubicBezTo>
                  <a:lnTo>
                    <a:pt x="706965" y="42211"/>
                  </a:lnTo>
                  <a:cubicBezTo>
                    <a:pt x="706965" y="14070"/>
                    <a:pt x="692859" y="0"/>
                    <a:pt x="664710" y="0"/>
                  </a:cubicBezTo>
                  <a:lnTo>
                    <a:pt x="42193" y="0"/>
                  </a:lnTo>
                  <a:cubicBezTo>
                    <a:pt x="14044" y="0"/>
                    <a:pt x="0" y="14070"/>
                    <a:pt x="0" y="42211"/>
                  </a:cubicBezTo>
                  <a:lnTo>
                    <a:pt x="0" y="221606"/>
                  </a:lnTo>
                  <a:cubicBezTo>
                    <a:pt x="0" y="249746"/>
                    <a:pt x="14044" y="263816"/>
                    <a:pt x="42193" y="263816"/>
                  </a:cubicBezTo>
                  <a:close/>
                </a:path>
              </a:pathLst>
            </a:custGeom>
            <a:solidFill>
              <a:srgbClr val="A9CE91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4276301" y="2355750"/>
              <a:ext cx="812099" cy="441458"/>
            </a:xfrm>
            <a:custGeom>
              <a:rect b="b" l="l" r="r" t="t"/>
              <a:pathLst>
                <a:path extrusionOk="0" h="263816" w="485312">
                  <a:moveTo>
                    <a:pt x="42193" y="263816"/>
                  </a:moveTo>
                  <a:lnTo>
                    <a:pt x="443119" y="263816"/>
                  </a:lnTo>
                  <a:cubicBezTo>
                    <a:pt x="471269" y="263816"/>
                    <a:pt x="485313" y="249746"/>
                    <a:pt x="485313" y="221606"/>
                  </a:cubicBezTo>
                  <a:lnTo>
                    <a:pt x="485313" y="42211"/>
                  </a:lnTo>
                  <a:cubicBezTo>
                    <a:pt x="485313" y="14070"/>
                    <a:pt x="471269" y="0"/>
                    <a:pt x="443119" y="0"/>
                  </a:cubicBezTo>
                  <a:lnTo>
                    <a:pt x="42193" y="0"/>
                  </a:lnTo>
                  <a:cubicBezTo>
                    <a:pt x="14044" y="0"/>
                    <a:pt x="0" y="14070"/>
                    <a:pt x="0" y="42211"/>
                  </a:cubicBezTo>
                  <a:lnTo>
                    <a:pt x="0" y="221606"/>
                  </a:lnTo>
                  <a:cubicBezTo>
                    <a:pt x="0" y="249746"/>
                    <a:pt x="14044" y="263816"/>
                    <a:pt x="42193" y="263816"/>
                  </a:cubicBezTo>
                  <a:close/>
                </a:path>
              </a:pathLst>
            </a:custGeom>
            <a:solidFill>
              <a:srgbClr val="D5C5E8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2232561" y="2444042"/>
              <a:ext cx="264842" cy="264874"/>
            </a:xfrm>
            <a:custGeom>
              <a:rect b="b" l="l" r="r" t="t"/>
              <a:pathLst>
                <a:path extrusionOk="0" h="158289" w="158270">
                  <a:moveTo>
                    <a:pt x="79135" y="158290"/>
                  </a:moveTo>
                  <a:cubicBezTo>
                    <a:pt x="100122" y="158290"/>
                    <a:pt x="120254" y="149947"/>
                    <a:pt x="135092" y="135108"/>
                  </a:cubicBezTo>
                  <a:cubicBezTo>
                    <a:pt x="149929" y="120268"/>
                    <a:pt x="158270" y="100134"/>
                    <a:pt x="158270" y="79145"/>
                  </a:cubicBezTo>
                  <a:cubicBezTo>
                    <a:pt x="158270" y="58156"/>
                    <a:pt x="149929" y="38021"/>
                    <a:pt x="135092" y="23181"/>
                  </a:cubicBezTo>
                  <a:cubicBezTo>
                    <a:pt x="120254" y="8342"/>
                    <a:pt x="100122" y="0"/>
                    <a:pt x="79135" y="0"/>
                  </a:cubicBezTo>
                  <a:cubicBezTo>
                    <a:pt x="58148" y="0"/>
                    <a:pt x="38017" y="8342"/>
                    <a:pt x="23179" y="23181"/>
                  </a:cubicBezTo>
                  <a:cubicBezTo>
                    <a:pt x="8341" y="38021"/>
                    <a:pt x="0" y="58156"/>
                    <a:pt x="0" y="79145"/>
                  </a:cubicBezTo>
                  <a:cubicBezTo>
                    <a:pt x="0" y="100134"/>
                    <a:pt x="8341" y="120268"/>
                    <a:pt x="23179" y="135108"/>
                  </a:cubicBezTo>
                  <a:cubicBezTo>
                    <a:pt x="38017" y="149947"/>
                    <a:pt x="58148" y="158290"/>
                    <a:pt x="79135" y="15829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5821212" y="2444042"/>
              <a:ext cx="264842" cy="264874"/>
            </a:xfrm>
            <a:custGeom>
              <a:rect b="b" l="l" r="r" t="t"/>
              <a:pathLst>
                <a:path extrusionOk="0" h="158289" w="158270">
                  <a:moveTo>
                    <a:pt x="79136" y="158290"/>
                  </a:moveTo>
                  <a:cubicBezTo>
                    <a:pt x="100079" y="158290"/>
                    <a:pt x="120230" y="149947"/>
                    <a:pt x="135067" y="135108"/>
                  </a:cubicBezTo>
                  <a:cubicBezTo>
                    <a:pt x="149905" y="120268"/>
                    <a:pt x="158270" y="100134"/>
                    <a:pt x="158270" y="79145"/>
                  </a:cubicBezTo>
                  <a:cubicBezTo>
                    <a:pt x="158270" y="58156"/>
                    <a:pt x="149905" y="38021"/>
                    <a:pt x="135067" y="23181"/>
                  </a:cubicBezTo>
                  <a:cubicBezTo>
                    <a:pt x="120230" y="8342"/>
                    <a:pt x="100079" y="0"/>
                    <a:pt x="79136" y="0"/>
                  </a:cubicBezTo>
                  <a:cubicBezTo>
                    <a:pt x="58130" y="0"/>
                    <a:pt x="37981" y="8342"/>
                    <a:pt x="23142" y="23181"/>
                  </a:cubicBezTo>
                  <a:cubicBezTo>
                    <a:pt x="8304" y="38021"/>
                    <a:pt x="0" y="58156"/>
                    <a:pt x="0" y="79145"/>
                  </a:cubicBezTo>
                  <a:cubicBezTo>
                    <a:pt x="0" y="100134"/>
                    <a:pt x="8304" y="120268"/>
                    <a:pt x="23142" y="135108"/>
                  </a:cubicBezTo>
                  <a:cubicBezTo>
                    <a:pt x="37981" y="149947"/>
                    <a:pt x="58130" y="158290"/>
                    <a:pt x="79136" y="15829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7021788" y="3040011"/>
              <a:ext cx="264841" cy="264874"/>
            </a:xfrm>
            <a:custGeom>
              <a:rect b="b" l="l" r="r" t="t"/>
              <a:pathLst>
                <a:path extrusionOk="0" h="158289" w="158270">
                  <a:moveTo>
                    <a:pt x="79136" y="158290"/>
                  </a:moveTo>
                  <a:cubicBezTo>
                    <a:pt x="100140" y="158290"/>
                    <a:pt x="120230" y="149947"/>
                    <a:pt x="135067" y="135108"/>
                  </a:cubicBezTo>
                  <a:cubicBezTo>
                    <a:pt x="149905" y="120268"/>
                    <a:pt x="158270" y="100134"/>
                    <a:pt x="158270" y="79145"/>
                  </a:cubicBezTo>
                  <a:cubicBezTo>
                    <a:pt x="158270" y="58155"/>
                    <a:pt x="149905" y="38021"/>
                    <a:pt x="135067" y="23181"/>
                  </a:cubicBezTo>
                  <a:cubicBezTo>
                    <a:pt x="120230" y="8342"/>
                    <a:pt x="100140" y="0"/>
                    <a:pt x="79136" y="0"/>
                  </a:cubicBezTo>
                  <a:cubicBezTo>
                    <a:pt x="58130" y="0"/>
                    <a:pt x="38041" y="8342"/>
                    <a:pt x="23203" y="23181"/>
                  </a:cubicBezTo>
                  <a:cubicBezTo>
                    <a:pt x="8365" y="38021"/>
                    <a:pt x="0" y="58155"/>
                    <a:pt x="0" y="79145"/>
                  </a:cubicBezTo>
                  <a:cubicBezTo>
                    <a:pt x="0" y="100134"/>
                    <a:pt x="8365" y="120268"/>
                    <a:pt x="23203" y="135108"/>
                  </a:cubicBezTo>
                  <a:cubicBezTo>
                    <a:pt x="38041" y="149947"/>
                    <a:pt x="58130" y="158290"/>
                    <a:pt x="79136" y="15829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4262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9"/>
            <p:cNvSpPr txBox="1"/>
            <p:nvPr/>
          </p:nvSpPr>
          <p:spPr>
            <a:xfrm>
              <a:off x="954568" y="1363341"/>
              <a:ext cx="2311425" cy="395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15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(B) Scale-gated fusion</a:t>
              </a:r>
              <a:endParaRPr sz="1100"/>
            </a:p>
          </p:txBody>
        </p:sp>
        <p:sp>
          <p:nvSpPr>
            <p:cNvPr id="442" name="Google Shape;442;p29"/>
            <p:cNvSpPr txBox="1"/>
            <p:nvPr/>
          </p:nvSpPr>
          <p:spPr>
            <a:xfrm>
              <a:off x="3130754" y="1840054"/>
              <a:ext cx="2882700" cy="353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L: lateral feature U: upsampled feature</a:t>
              </a:r>
              <a:endParaRPr sz="1100"/>
            </a:p>
          </p:txBody>
        </p:sp>
        <p:sp>
          <p:nvSpPr>
            <p:cNvPr id="443" name="Google Shape;443;p29"/>
            <p:cNvSpPr txBox="1"/>
            <p:nvPr/>
          </p:nvSpPr>
          <p:spPr>
            <a:xfrm>
              <a:off x="1186772" y="2408431"/>
              <a:ext cx="387900" cy="3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1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 sz="1100"/>
            </a:p>
          </p:txBody>
        </p:sp>
        <p:sp>
          <p:nvSpPr>
            <p:cNvPr id="444" name="Google Shape;444;p29"/>
            <p:cNvSpPr txBox="1"/>
            <p:nvPr/>
          </p:nvSpPr>
          <p:spPr>
            <a:xfrm>
              <a:off x="1181663" y="3420495"/>
              <a:ext cx="397981" cy="306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1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sz="1100"/>
            </a:p>
          </p:txBody>
        </p:sp>
        <p:sp>
          <p:nvSpPr>
            <p:cNvPr id="445" name="Google Shape;445;p29"/>
            <p:cNvSpPr txBox="1"/>
            <p:nvPr/>
          </p:nvSpPr>
          <p:spPr>
            <a:xfrm>
              <a:off x="2170349" y="2421594"/>
              <a:ext cx="387900" cy="3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100"/>
            </a:p>
          </p:txBody>
        </p:sp>
        <p:grpSp>
          <p:nvGrpSpPr>
            <p:cNvPr id="446" name="Google Shape;446;p29"/>
            <p:cNvGrpSpPr/>
            <p:nvPr/>
          </p:nvGrpSpPr>
          <p:grpSpPr>
            <a:xfrm>
              <a:off x="2819039" y="2338940"/>
              <a:ext cx="1124495" cy="472986"/>
              <a:chOff x="7489035" y="5503711"/>
              <a:chExt cx="672000" cy="282658"/>
            </a:xfrm>
          </p:grpSpPr>
          <p:sp>
            <p:nvSpPr>
              <p:cNvPr id="447" name="Google Shape;447;p29"/>
              <p:cNvSpPr txBox="1"/>
              <p:nvPr/>
            </p:nvSpPr>
            <p:spPr>
              <a:xfrm>
                <a:off x="7489035" y="5503711"/>
                <a:ext cx="672000" cy="19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42629"/>
                    </a:solidFill>
                    <a:latin typeface="Arial"/>
                    <a:ea typeface="Arial"/>
                    <a:cs typeface="Arial"/>
                    <a:sym typeface="Arial"/>
                  </a:rPr>
                  <a:t>DWConv3×3</a:t>
                </a:r>
                <a:endParaRPr sz="1100"/>
              </a:p>
            </p:txBody>
          </p:sp>
          <p:sp>
            <p:nvSpPr>
              <p:cNvPr id="448" name="Google Shape;448;p29"/>
              <p:cNvSpPr txBox="1"/>
              <p:nvPr/>
            </p:nvSpPr>
            <p:spPr>
              <a:xfrm>
                <a:off x="7629056" y="5627754"/>
                <a:ext cx="414911" cy="1586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42629"/>
                    </a:solidFill>
                    <a:latin typeface="Arial"/>
                    <a:ea typeface="Arial"/>
                    <a:cs typeface="Arial"/>
                    <a:sym typeface="Arial"/>
                  </a:rPr>
                  <a:t>zero-init</a:t>
                </a:r>
                <a:endParaRPr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9" name="Google Shape;449;p29"/>
            <p:cNvSpPr txBox="1"/>
            <p:nvPr/>
          </p:nvSpPr>
          <p:spPr>
            <a:xfrm>
              <a:off x="4222191" y="2431910"/>
              <a:ext cx="921300" cy="29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 · sigmoid</a:t>
              </a:r>
              <a:endParaRPr sz="1100"/>
            </a:p>
          </p:txBody>
        </p:sp>
        <p:sp>
          <p:nvSpPr>
            <p:cNvPr id="450" name="Google Shape;450;p29"/>
            <p:cNvSpPr txBox="1"/>
            <p:nvPr/>
          </p:nvSpPr>
          <p:spPr>
            <a:xfrm>
              <a:off x="5755116" y="2422410"/>
              <a:ext cx="387900" cy="3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×</a:t>
              </a:r>
              <a:endParaRPr sz="1100"/>
            </a:p>
          </p:txBody>
        </p:sp>
        <p:sp>
          <p:nvSpPr>
            <p:cNvPr id="451" name="Google Shape;451;p29"/>
            <p:cNvSpPr txBox="1"/>
            <p:nvPr/>
          </p:nvSpPr>
          <p:spPr>
            <a:xfrm>
              <a:off x="6959867" y="3006207"/>
              <a:ext cx="387900" cy="3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100"/>
            </a:p>
          </p:txBody>
        </p:sp>
        <p:sp>
          <p:nvSpPr>
            <p:cNvPr id="452" name="Google Shape;452;p29"/>
            <p:cNvSpPr txBox="1"/>
            <p:nvPr/>
          </p:nvSpPr>
          <p:spPr>
            <a:xfrm>
              <a:off x="7750776" y="3040011"/>
              <a:ext cx="397981" cy="3062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1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sz="1100"/>
            </a:p>
          </p:txBody>
        </p:sp>
        <p:sp>
          <p:nvSpPr>
            <p:cNvPr id="453" name="Google Shape;453;p29"/>
            <p:cNvSpPr txBox="1"/>
            <p:nvPr/>
          </p:nvSpPr>
          <p:spPr>
            <a:xfrm>
              <a:off x="3185163" y="3692375"/>
              <a:ext cx="2773800" cy="39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P = U + 2σ(DWConv(L + U)) </a:t>
              </a:r>
              <a:r>
                <a:rPr lang="vi" spc="0" sz="1200">
                  <a:solidFill>
                    <a:srgbClr val="242629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⊙</a:t>
              </a:r>
              <a:r>
                <a:rPr lang="vi" spc="0" sz="1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 L</a:t>
              </a:r>
              <a:endParaRPr sz="1100"/>
            </a:p>
          </p:txBody>
        </p:sp>
        <p:sp>
          <p:nvSpPr>
            <p:cNvPr id="454" name="Google Shape;454;p29"/>
            <p:cNvSpPr txBox="1"/>
            <p:nvPr/>
          </p:nvSpPr>
          <p:spPr>
            <a:xfrm>
              <a:off x="3144356" y="4040333"/>
              <a:ext cx="2855475" cy="353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2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At initialization: gate = 1, so P = U + L</a:t>
              </a:r>
              <a:endParaRPr sz="11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30"/>
          <p:cNvGrpSpPr/>
          <p:nvPr/>
        </p:nvGrpSpPr>
        <p:grpSpPr>
          <a:xfrm>
            <a:off x="428040" y="2457109"/>
            <a:ext cx="7507847" cy="888900"/>
            <a:chOff x="428040" y="2457109"/>
            <a:chExt cx="7507847" cy="888900"/>
          </a:xfrm>
        </p:grpSpPr>
        <p:sp>
          <p:nvSpPr>
            <p:cNvPr id="460" name="Google Shape;460;p30"/>
            <p:cNvSpPr/>
            <p:nvPr/>
          </p:nvSpPr>
          <p:spPr>
            <a:xfrm>
              <a:off x="428040" y="2457109"/>
              <a:ext cx="1720942" cy="888838"/>
            </a:xfrm>
            <a:prstGeom prst="roundRect">
              <a:avLst>
                <a:gd fmla="val 16667" name="adj"/>
              </a:avLst>
            </a:prstGeom>
            <a:noFill/>
            <a:ln cap="flat" cmpd="sng" w="25200">
              <a:solidFill>
                <a:srgbClr val="2473AA">
                  <a:alpha val="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2357008" y="2457109"/>
              <a:ext cx="1720942" cy="888838"/>
            </a:xfrm>
            <a:prstGeom prst="roundRect">
              <a:avLst>
                <a:gd fmla="val 16667" name="adj"/>
              </a:avLst>
            </a:prstGeom>
            <a:noFill/>
            <a:ln cap="flat" cmpd="sng" w="25200">
              <a:solidFill>
                <a:srgbClr val="2473AA">
                  <a:alpha val="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4285977" y="2457109"/>
              <a:ext cx="1720800" cy="888900"/>
            </a:xfrm>
            <a:prstGeom prst="roundRect">
              <a:avLst>
                <a:gd fmla="val 16667" name="adj"/>
              </a:avLst>
            </a:prstGeom>
            <a:noFill/>
            <a:ln cap="flat" cmpd="sng" w="25200">
              <a:solidFill>
                <a:srgbClr val="2473AA">
                  <a:alpha val="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30"/>
            <p:cNvSpPr/>
            <p:nvPr/>
          </p:nvSpPr>
          <p:spPr>
            <a:xfrm>
              <a:off x="6214945" y="2457109"/>
              <a:ext cx="1720942" cy="888838"/>
            </a:xfrm>
            <a:prstGeom prst="roundRect">
              <a:avLst>
                <a:gd fmla="val 16667" name="adj"/>
              </a:avLst>
            </a:prstGeom>
            <a:noFill/>
            <a:ln cap="flat" cmpd="sng" w="25200">
              <a:solidFill>
                <a:srgbClr val="2473AA">
                  <a:alpha val="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0"/>
            <p:cNvSpPr/>
            <p:nvPr/>
          </p:nvSpPr>
          <p:spPr>
            <a:xfrm>
              <a:off x="456407" y="2485476"/>
              <a:ext cx="1664207" cy="832104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" name="Google Shape;465;p30"/>
            <p:cNvGrpSpPr/>
            <p:nvPr/>
          </p:nvGrpSpPr>
          <p:grpSpPr>
            <a:xfrm>
              <a:off x="643133" y="2661649"/>
              <a:ext cx="1290758" cy="469145"/>
              <a:chOff x="1022880" y="2342635"/>
              <a:chExt cx="1721011" cy="625527"/>
            </a:xfrm>
          </p:grpSpPr>
          <p:sp>
            <p:nvSpPr>
              <p:cNvPr id="466" name="Google Shape;466;p30"/>
              <p:cNvSpPr/>
              <p:nvPr/>
            </p:nvSpPr>
            <p:spPr>
              <a:xfrm>
                <a:off x="1151788" y="2342635"/>
                <a:ext cx="14631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Stage input</a:t>
                </a:r>
                <a:endParaRPr sz="1100"/>
              </a:p>
            </p:txBody>
          </p:sp>
          <p:sp>
            <p:nvSpPr>
              <p:cNvPr id="467" name="Google Shape;467;p30"/>
              <p:cNvSpPr/>
              <p:nvPr/>
            </p:nvSpPr>
            <p:spPr>
              <a:xfrm>
                <a:off x="1022880" y="2624570"/>
                <a:ext cx="1721011" cy="343592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32 × 400 × 352</a:t>
                </a:r>
                <a:endParaRPr sz="1100"/>
              </a:p>
            </p:txBody>
          </p:sp>
        </p:grpSp>
        <p:sp>
          <p:nvSpPr>
            <p:cNvPr id="468" name="Google Shape;468;p30"/>
            <p:cNvSpPr/>
            <p:nvPr/>
          </p:nvSpPr>
          <p:spPr>
            <a:xfrm>
              <a:off x="2385376" y="2485476"/>
              <a:ext cx="1664207" cy="832104"/>
            </a:xfrm>
            <a:prstGeom prst="roundRect">
              <a:avLst>
                <a:gd fmla="val 16667" name="adj"/>
              </a:avLst>
            </a:prstGeom>
            <a:solidFill>
              <a:srgbClr val="A8CF91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9" name="Google Shape;469;p30"/>
            <p:cNvGrpSpPr/>
            <p:nvPr/>
          </p:nvGrpSpPr>
          <p:grpSpPr>
            <a:xfrm>
              <a:off x="2539006" y="2575245"/>
              <a:ext cx="1356949" cy="654835"/>
              <a:chOff x="3550711" y="2227430"/>
              <a:chExt cx="1809265" cy="873113"/>
            </a:xfrm>
          </p:grpSpPr>
          <p:sp>
            <p:nvSpPr>
              <p:cNvPr id="470" name="Google Shape;470;p30"/>
              <p:cNvSpPr/>
              <p:nvPr/>
            </p:nvSpPr>
            <p:spPr>
              <a:xfrm>
                <a:off x="3550711" y="2227430"/>
                <a:ext cx="1809265" cy="343592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Conv 3×3 · s2 +</a:t>
                </a:r>
                <a:endParaRPr sz="1100"/>
              </a:p>
            </p:txBody>
          </p:sp>
          <p:sp>
            <p:nvSpPr>
              <p:cNvPr id="471" name="Google Shape;471;p30"/>
              <p:cNvSpPr/>
              <p:nvPr/>
            </p:nvSpPr>
            <p:spPr>
              <a:xfrm>
                <a:off x="3828079" y="2492190"/>
                <a:ext cx="1254529" cy="343592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BN + SiLU</a:t>
                </a:r>
                <a:endParaRPr sz="1100"/>
              </a:p>
            </p:txBody>
          </p:sp>
          <p:sp>
            <p:nvSpPr>
              <p:cNvPr id="472" name="Google Shape;472;p30"/>
              <p:cNvSpPr/>
              <p:nvPr/>
            </p:nvSpPr>
            <p:spPr>
              <a:xfrm>
                <a:off x="3594837" y="2756951"/>
                <a:ext cx="1721011" cy="343592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200 × 176</a:t>
                </a:r>
                <a:endParaRPr sz="1100"/>
              </a:p>
            </p:txBody>
          </p:sp>
        </p:grpSp>
        <p:sp>
          <p:nvSpPr>
            <p:cNvPr id="473" name="Google Shape;473;p30"/>
            <p:cNvSpPr/>
            <p:nvPr/>
          </p:nvSpPr>
          <p:spPr>
            <a:xfrm>
              <a:off x="4314344" y="2485476"/>
              <a:ext cx="1664207" cy="832104"/>
            </a:xfrm>
            <a:prstGeom prst="roundRect">
              <a:avLst>
                <a:gd fmla="val 16667" name="adj"/>
              </a:avLst>
            </a:prstGeom>
            <a:solidFill>
              <a:srgbClr val="DCE8F5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4" name="Google Shape;474;p30"/>
            <p:cNvGrpSpPr/>
            <p:nvPr/>
          </p:nvGrpSpPr>
          <p:grpSpPr>
            <a:xfrm>
              <a:off x="4501069" y="2661645"/>
              <a:ext cx="1290758" cy="469149"/>
              <a:chOff x="6166795" y="2342630"/>
              <a:chExt cx="1721011" cy="625532"/>
            </a:xfrm>
          </p:grpSpPr>
          <p:sp>
            <p:nvSpPr>
              <p:cNvPr id="475" name="Google Shape;475;p30"/>
              <p:cNvSpPr/>
              <p:nvPr/>
            </p:nvSpPr>
            <p:spPr>
              <a:xfrm>
                <a:off x="6226362" y="2342630"/>
                <a:ext cx="16020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NeXt block 1</a:t>
                </a:r>
                <a:endParaRPr sz="1100"/>
              </a:p>
            </p:txBody>
          </p:sp>
          <p:sp>
            <p:nvSpPr>
              <p:cNvPr id="476" name="Google Shape;476;p30"/>
              <p:cNvSpPr/>
              <p:nvPr/>
            </p:nvSpPr>
            <p:spPr>
              <a:xfrm>
                <a:off x="6166795" y="2624570"/>
                <a:ext cx="1721011" cy="343592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200 × 176</a:t>
                </a:r>
                <a:endParaRPr sz="1100"/>
              </a:p>
            </p:txBody>
          </p:sp>
        </p:grpSp>
        <p:sp>
          <p:nvSpPr>
            <p:cNvPr id="477" name="Google Shape;477;p30"/>
            <p:cNvSpPr/>
            <p:nvPr/>
          </p:nvSpPr>
          <p:spPr>
            <a:xfrm>
              <a:off x="6243313" y="2485476"/>
              <a:ext cx="1664207" cy="832104"/>
            </a:xfrm>
            <a:prstGeom prst="roundRect">
              <a:avLst>
                <a:gd fmla="val 16667" name="adj"/>
              </a:avLst>
            </a:prstGeom>
            <a:solidFill>
              <a:srgbClr val="DCE8F5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8" name="Google Shape;478;p30"/>
            <p:cNvGrpSpPr/>
            <p:nvPr/>
          </p:nvGrpSpPr>
          <p:grpSpPr>
            <a:xfrm>
              <a:off x="6430037" y="2661645"/>
              <a:ext cx="1290758" cy="469149"/>
              <a:chOff x="8738753" y="2342630"/>
              <a:chExt cx="1721011" cy="625532"/>
            </a:xfrm>
          </p:grpSpPr>
          <p:sp>
            <p:nvSpPr>
              <p:cNvPr id="479" name="Google Shape;479;p30"/>
              <p:cNvSpPr/>
              <p:nvPr/>
            </p:nvSpPr>
            <p:spPr>
              <a:xfrm>
                <a:off x="8798320" y="2342630"/>
                <a:ext cx="16020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NeXt block 2</a:t>
                </a:r>
                <a:endParaRPr sz="1100"/>
              </a:p>
            </p:txBody>
          </p:sp>
          <p:sp>
            <p:nvSpPr>
              <p:cNvPr id="480" name="Google Shape;480;p30"/>
              <p:cNvSpPr/>
              <p:nvPr/>
            </p:nvSpPr>
            <p:spPr>
              <a:xfrm>
                <a:off x="8738753" y="2624570"/>
                <a:ext cx="1721011" cy="343592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200 × 176</a:t>
                </a:r>
                <a:endParaRPr sz="1100"/>
              </a:p>
            </p:txBody>
          </p:sp>
        </p:grpSp>
        <p:cxnSp>
          <p:nvCxnSpPr>
            <p:cNvPr id="481" name="Google Shape;481;p30"/>
            <p:cNvCxnSpPr>
              <a:stCxn id="464" idx="3"/>
              <a:endCxn id="468" idx="1"/>
            </p:cNvCxnSpPr>
            <p:nvPr/>
          </p:nvCxnSpPr>
          <p:spPr>
            <a:xfrm>
              <a:off x="2120615" y="2901528"/>
              <a:ext cx="264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482" name="Google Shape;482;p30"/>
            <p:cNvCxnSpPr>
              <a:stCxn id="468" idx="3"/>
              <a:endCxn id="473" idx="1"/>
            </p:cNvCxnSpPr>
            <p:nvPr/>
          </p:nvCxnSpPr>
          <p:spPr>
            <a:xfrm>
              <a:off x="4049583" y="2901528"/>
              <a:ext cx="264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483" name="Google Shape;483;p30"/>
            <p:cNvCxnSpPr>
              <a:stCxn id="473" idx="3"/>
              <a:endCxn id="477" idx="1"/>
            </p:cNvCxnSpPr>
            <p:nvPr/>
          </p:nvCxnSpPr>
          <p:spPr>
            <a:xfrm>
              <a:off x="5978552" y="2901528"/>
              <a:ext cx="264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sp>
        <p:nvSpPr>
          <p:cNvPr id="484" name="Google Shape;484;p30"/>
          <p:cNvSpPr txBox="1"/>
          <p:nvPr/>
        </p:nvSpPr>
        <p:spPr>
          <a:xfrm>
            <a:off x="426524" y="1265246"/>
            <a:ext cx="2946169" cy="3424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1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Stage 2: Each residual block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1"/>
          <p:cNvSpPr/>
          <p:nvPr/>
        </p:nvSpPr>
        <p:spPr>
          <a:xfrm>
            <a:off x="5919698" y="2334161"/>
            <a:ext cx="1217530" cy="630921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1"/>
          <p:cNvSpPr/>
          <p:nvPr/>
        </p:nvSpPr>
        <p:spPr>
          <a:xfrm>
            <a:off x="3654224" y="2334205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1"/>
          <p:cNvSpPr/>
          <p:nvPr/>
        </p:nvSpPr>
        <p:spPr>
          <a:xfrm>
            <a:off x="1602355" y="2390812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1"/>
          <p:cNvSpPr/>
          <p:nvPr/>
        </p:nvSpPr>
        <p:spPr>
          <a:xfrm>
            <a:off x="2877881" y="2413748"/>
            <a:ext cx="531755" cy="45832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1"/>
          <p:cNvSpPr/>
          <p:nvPr/>
        </p:nvSpPr>
        <p:spPr>
          <a:xfrm>
            <a:off x="159588" y="2327449"/>
            <a:ext cx="1217530" cy="630921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1492171" y="2327449"/>
            <a:ext cx="1217530" cy="630921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6" name="Google Shape;496;p31"/>
          <p:cNvGrpSpPr/>
          <p:nvPr/>
        </p:nvGrpSpPr>
        <p:grpSpPr>
          <a:xfrm>
            <a:off x="8053051" y="2467473"/>
            <a:ext cx="294347" cy="327271"/>
            <a:chOff x="9865466" y="3186484"/>
            <a:chExt cx="283712" cy="315446"/>
          </a:xfrm>
        </p:grpSpPr>
        <p:sp>
          <p:nvSpPr>
            <p:cNvPr id="497" name="Google Shape;497;p31"/>
            <p:cNvSpPr/>
            <p:nvPr/>
          </p:nvSpPr>
          <p:spPr>
            <a:xfrm>
              <a:off x="9865466" y="3217276"/>
              <a:ext cx="283712" cy="284654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31"/>
            <p:cNvSpPr/>
            <p:nvPr/>
          </p:nvSpPr>
          <p:spPr>
            <a:xfrm>
              <a:off x="9883280" y="3186484"/>
              <a:ext cx="253808" cy="259644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5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γ</a:t>
              </a:r>
              <a:endParaRPr sz="1100"/>
            </a:p>
          </p:txBody>
        </p:sp>
      </p:grpSp>
      <p:grpSp>
        <p:nvGrpSpPr>
          <p:cNvPr id="499" name="Google Shape;499;p31"/>
          <p:cNvGrpSpPr/>
          <p:nvPr/>
        </p:nvGrpSpPr>
        <p:grpSpPr>
          <a:xfrm>
            <a:off x="8547323" y="2489841"/>
            <a:ext cx="294347" cy="300732"/>
            <a:chOff x="11180862" y="3223236"/>
            <a:chExt cx="283712" cy="289866"/>
          </a:xfrm>
        </p:grpSpPr>
        <p:sp>
          <p:nvSpPr>
            <p:cNvPr id="500" name="Google Shape;500;p31"/>
            <p:cNvSpPr/>
            <p:nvPr/>
          </p:nvSpPr>
          <p:spPr>
            <a:xfrm>
              <a:off x="11180862" y="3228448"/>
              <a:ext cx="283712" cy="284654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31"/>
            <p:cNvSpPr/>
            <p:nvPr/>
          </p:nvSpPr>
          <p:spPr>
            <a:xfrm>
              <a:off x="11197870" y="3223236"/>
              <a:ext cx="266704" cy="259644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5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100"/>
            </a:p>
          </p:txBody>
        </p:sp>
      </p:grpSp>
      <p:sp>
        <p:nvSpPr>
          <p:cNvPr id="502" name="Google Shape;502;p31"/>
          <p:cNvSpPr/>
          <p:nvPr/>
        </p:nvSpPr>
        <p:spPr>
          <a:xfrm>
            <a:off x="5052904" y="2425183"/>
            <a:ext cx="674400" cy="45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SiLU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1"/>
          <p:cNvSpPr/>
          <p:nvPr/>
        </p:nvSpPr>
        <p:spPr>
          <a:xfrm>
            <a:off x="3646689" y="2423526"/>
            <a:ext cx="1217547" cy="51619"/>
          </a:xfrm>
          <a:custGeom>
            <a:rect b="b" l="l" r="r" t="t"/>
            <a:pathLst>
              <a:path extrusionOk="0" h="30393" w="647851">
                <a:moveTo>
                  <a:pt x="0" y="30394"/>
                </a:moveTo>
                <a:lnTo>
                  <a:pt x="41149" y="0"/>
                </a:lnTo>
                <a:lnTo>
                  <a:pt x="647851" y="0"/>
                </a:lnTo>
                <a:lnTo>
                  <a:pt x="606702" y="30394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1"/>
          <p:cNvSpPr/>
          <p:nvPr/>
        </p:nvSpPr>
        <p:spPr>
          <a:xfrm>
            <a:off x="4795204" y="2423520"/>
            <a:ext cx="76568" cy="455253"/>
          </a:xfrm>
          <a:custGeom>
            <a:rect b="b" l="l" r="r" t="t"/>
            <a:pathLst>
              <a:path extrusionOk="0" h="341696" w="41148">
                <a:moveTo>
                  <a:pt x="0" y="341697"/>
                </a:moveTo>
                <a:lnTo>
                  <a:pt x="41149" y="311303"/>
                </a:lnTo>
                <a:lnTo>
                  <a:pt x="41149" y="0"/>
                </a:lnTo>
                <a:lnTo>
                  <a:pt x="0" y="30394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3646690" y="2475154"/>
            <a:ext cx="1148515" cy="403620"/>
          </a:xfrm>
          <a:custGeom>
            <a:rect b="b" l="l" r="r" t="t"/>
            <a:pathLst>
              <a:path extrusionOk="0" h="311303" w="606702">
                <a:moveTo>
                  <a:pt x="0" y="311303"/>
                </a:moveTo>
                <a:lnTo>
                  <a:pt x="606702" y="311303"/>
                </a:lnTo>
                <a:lnTo>
                  <a:pt x="60670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6" name="Google Shape;506;p31"/>
          <p:cNvGrpSpPr/>
          <p:nvPr/>
        </p:nvGrpSpPr>
        <p:grpSpPr>
          <a:xfrm>
            <a:off x="3597497" y="2441986"/>
            <a:ext cx="1354871" cy="425062"/>
            <a:chOff x="4130901" y="3177067"/>
            <a:chExt cx="1305900" cy="409698"/>
          </a:xfrm>
        </p:grpSpPr>
        <p:sp>
          <p:nvSpPr>
            <p:cNvPr id="507" name="Google Shape;507;p31"/>
            <p:cNvSpPr/>
            <p:nvPr/>
          </p:nvSpPr>
          <p:spPr>
            <a:xfrm>
              <a:off x="4130901" y="3177067"/>
              <a:ext cx="1305900" cy="2673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PW 1×1 · expand</a:t>
              </a:r>
              <a:endParaRPr sz="1100"/>
            </a:p>
          </p:txBody>
        </p:sp>
        <p:sp>
          <p:nvSpPr>
            <p:cNvPr id="508" name="Google Shape;508;p31"/>
            <p:cNvSpPr/>
            <p:nvPr/>
          </p:nvSpPr>
          <p:spPr>
            <a:xfrm>
              <a:off x="4160793" y="3343765"/>
              <a:ext cx="1137300" cy="243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120 × 200 × 176</a:t>
              </a:r>
              <a:endParaRPr sz="1100"/>
            </a:p>
          </p:txBody>
        </p:sp>
      </p:grpSp>
      <p:sp>
        <p:nvSpPr>
          <p:cNvPr id="509" name="Google Shape;509;p31"/>
          <p:cNvSpPr/>
          <p:nvPr/>
        </p:nvSpPr>
        <p:spPr>
          <a:xfrm>
            <a:off x="5912163" y="2423480"/>
            <a:ext cx="1217530" cy="51618"/>
          </a:xfrm>
          <a:custGeom>
            <a:rect b="b" l="l" r="r" t="t"/>
            <a:pathLst>
              <a:path extrusionOk="0" h="30393" w="647851">
                <a:moveTo>
                  <a:pt x="0" y="30394"/>
                </a:moveTo>
                <a:lnTo>
                  <a:pt x="41149" y="0"/>
                </a:lnTo>
                <a:lnTo>
                  <a:pt x="647851" y="0"/>
                </a:lnTo>
                <a:lnTo>
                  <a:pt x="606702" y="30394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1"/>
          <p:cNvSpPr/>
          <p:nvPr/>
        </p:nvSpPr>
        <p:spPr>
          <a:xfrm>
            <a:off x="7060661" y="2423475"/>
            <a:ext cx="76566" cy="455247"/>
          </a:xfrm>
          <a:custGeom>
            <a:rect b="b" l="l" r="r" t="t"/>
            <a:pathLst>
              <a:path extrusionOk="0" h="341696" w="41148">
                <a:moveTo>
                  <a:pt x="0" y="341697"/>
                </a:moveTo>
                <a:lnTo>
                  <a:pt x="41149" y="311303"/>
                </a:lnTo>
                <a:lnTo>
                  <a:pt x="41149" y="0"/>
                </a:lnTo>
                <a:lnTo>
                  <a:pt x="0" y="30394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1"/>
          <p:cNvSpPr/>
          <p:nvPr/>
        </p:nvSpPr>
        <p:spPr>
          <a:xfrm>
            <a:off x="5912164" y="2475108"/>
            <a:ext cx="1148499" cy="403614"/>
          </a:xfrm>
          <a:custGeom>
            <a:rect b="b" l="l" r="r" t="t"/>
            <a:pathLst>
              <a:path extrusionOk="0" h="311303" w="606702">
                <a:moveTo>
                  <a:pt x="0" y="311303"/>
                </a:moveTo>
                <a:lnTo>
                  <a:pt x="606702" y="311303"/>
                </a:lnTo>
                <a:lnTo>
                  <a:pt x="60670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2" name="Google Shape;512;p31"/>
          <p:cNvGrpSpPr/>
          <p:nvPr/>
        </p:nvGrpSpPr>
        <p:grpSpPr>
          <a:xfrm>
            <a:off x="5860336" y="2452430"/>
            <a:ext cx="1354853" cy="394088"/>
            <a:chOff x="4128361" y="3187177"/>
            <a:chExt cx="1305900" cy="379849"/>
          </a:xfrm>
        </p:grpSpPr>
        <p:sp>
          <p:nvSpPr>
            <p:cNvPr id="513" name="Google Shape;513;p31"/>
            <p:cNvSpPr/>
            <p:nvPr/>
          </p:nvSpPr>
          <p:spPr>
            <a:xfrm>
              <a:off x="4128361" y="3187177"/>
              <a:ext cx="1305900" cy="2673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PW 1×1 · expand</a:t>
              </a:r>
              <a:endParaRPr sz="1100"/>
            </a:p>
          </p:txBody>
        </p:sp>
        <p:sp>
          <p:nvSpPr>
            <p:cNvPr id="514" name="Google Shape;514;p31"/>
            <p:cNvSpPr/>
            <p:nvPr/>
          </p:nvSpPr>
          <p:spPr>
            <a:xfrm>
              <a:off x="4212495" y="3346226"/>
              <a:ext cx="1034100" cy="2208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48 × 200 × 176</a:t>
              </a:r>
              <a:endParaRPr spc="0" sz="11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5" name="Google Shape;515;p31"/>
          <p:cNvSpPr/>
          <p:nvPr/>
        </p:nvSpPr>
        <p:spPr>
          <a:xfrm>
            <a:off x="7319384" y="2423475"/>
            <a:ext cx="531755" cy="45832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BN</a:t>
            </a:r>
            <a:endParaRPr sz="1100"/>
          </a:p>
        </p:txBody>
      </p:sp>
      <p:sp>
        <p:nvSpPr>
          <p:cNvPr id="516" name="Google Shape;516;p31"/>
          <p:cNvSpPr/>
          <p:nvPr/>
        </p:nvSpPr>
        <p:spPr>
          <a:xfrm>
            <a:off x="1549712" y="2228512"/>
            <a:ext cx="1155771" cy="73736"/>
          </a:xfrm>
          <a:custGeom>
            <a:rect b="b" l="l" r="r" t="t"/>
            <a:pathLst>
              <a:path extrusionOk="0" h="30393" w="476391">
                <a:moveTo>
                  <a:pt x="0" y="30394"/>
                </a:moveTo>
                <a:lnTo>
                  <a:pt x="41150" y="0"/>
                </a:lnTo>
                <a:lnTo>
                  <a:pt x="476392" y="0"/>
                </a:lnTo>
                <a:lnTo>
                  <a:pt x="435243" y="30394"/>
                </a:lnTo>
                <a:close/>
              </a:path>
            </a:pathLst>
          </a:custGeom>
          <a:solidFill>
            <a:srgbClr val="E7EFF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1"/>
          <p:cNvSpPr/>
          <p:nvPr/>
        </p:nvSpPr>
        <p:spPr>
          <a:xfrm>
            <a:off x="2605654" y="2228512"/>
            <a:ext cx="99831" cy="828988"/>
          </a:xfrm>
          <a:custGeom>
            <a:rect b="b" l="l" r="r" t="t"/>
            <a:pathLst>
              <a:path extrusionOk="0" h="341696" w="41149">
                <a:moveTo>
                  <a:pt x="0" y="341697"/>
                </a:moveTo>
                <a:lnTo>
                  <a:pt x="41149" y="311303"/>
                </a:lnTo>
                <a:lnTo>
                  <a:pt x="41149" y="0"/>
                </a:lnTo>
                <a:lnTo>
                  <a:pt x="0" y="30394"/>
                </a:lnTo>
                <a:close/>
              </a:path>
            </a:pathLst>
          </a:custGeom>
          <a:solidFill>
            <a:srgbClr val="B7C0C9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1"/>
          <p:cNvSpPr/>
          <p:nvPr/>
        </p:nvSpPr>
        <p:spPr>
          <a:xfrm>
            <a:off x="1549712" y="2302248"/>
            <a:ext cx="1055940" cy="755252"/>
          </a:xfrm>
          <a:custGeom>
            <a:rect b="b" l="l" r="r" t="t"/>
            <a:pathLst>
              <a:path extrusionOk="0" h="311303" w="435242">
                <a:moveTo>
                  <a:pt x="0" y="311303"/>
                </a:moveTo>
                <a:lnTo>
                  <a:pt x="435243" y="311303"/>
                </a:lnTo>
                <a:lnTo>
                  <a:pt x="43524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1"/>
          <p:cNvSpPr/>
          <p:nvPr/>
        </p:nvSpPr>
        <p:spPr>
          <a:xfrm>
            <a:off x="1357049" y="2642910"/>
            <a:ext cx="187312" cy="671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2721753" y="2642910"/>
            <a:ext cx="187312" cy="671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1"/>
          <p:cNvSpPr/>
          <p:nvPr/>
        </p:nvSpPr>
        <p:spPr>
          <a:xfrm>
            <a:off x="4086457" y="2642910"/>
            <a:ext cx="187312" cy="671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1"/>
          <p:cNvSpPr/>
          <p:nvPr/>
        </p:nvSpPr>
        <p:spPr>
          <a:xfrm>
            <a:off x="5451161" y="2642910"/>
            <a:ext cx="187312" cy="671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1"/>
          <p:cNvSpPr/>
          <p:nvPr/>
        </p:nvSpPr>
        <p:spPr>
          <a:xfrm>
            <a:off x="6815866" y="2642910"/>
            <a:ext cx="187312" cy="671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1"/>
          <p:cNvSpPr/>
          <p:nvPr/>
        </p:nvSpPr>
        <p:spPr>
          <a:xfrm>
            <a:off x="8180569" y="2642910"/>
            <a:ext cx="187312" cy="671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179657" y="2347585"/>
            <a:ext cx="1177392" cy="59064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6" name="Google Shape;526;p31"/>
          <p:cNvGrpSpPr/>
          <p:nvPr/>
        </p:nvGrpSpPr>
        <p:grpSpPr>
          <a:xfrm>
            <a:off x="215118" y="2458687"/>
            <a:ext cx="1106478" cy="381604"/>
            <a:chOff x="266308" y="3193208"/>
            <a:chExt cx="1066500" cy="367817"/>
          </a:xfrm>
        </p:grpSpPr>
        <p:sp>
          <p:nvSpPr>
            <p:cNvPr id="527" name="Google Shape;527;p31"/>
            <p:cNvSpPr/>
            <p:nvPr/>
          </p:nvSpPr>
          <p:spPr>
            <a:xfrm>
              <a:off x="672650" y="3193208"/>
              <a:ext cx="253808" cy="220828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266308" y="3318025"/>
              <a:ext cx="1066500" cy="243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48 × 200 × 176</a:t>
              </a:r>
              <a:endParaRPr sz="1100"/>
            </a:p>
          </p:txBody>
        </p:sp>
      </p:grpSp>
      <p:grpSp>
        <p:nvGrpSpPr>
          <p:cNvPr id="529" name="Google Shape;529;p31"/>
          <p:cNvGrpSpPr/>
          <p:nvPr/>
        </p:nvGrpSpPr>
        <p:grpSpPr>
          <a:xfrm>
            <a:off x="1522706" y="2447232"/>
            <a:ext cx="1106478" cy="499882"/>
            <a:chOff x="1526651" y="3182167"/>
            <a:chExt cx="1066500" cy="481821"/>
          </a:xfrm>
        </p:grpSpPr>
        <p:sp>
          <p:nvSpPr>
            <p:cNvPr id="530" name="Google Shape;530;p31"/>
            <p:cNvSpPr/>
            <p:nvPr/>
          </p:nvSpPr>
          <p:spPr>
            <a:xfrm>
              <a:off x="1749343" y="3182167"/>
              <a:ext cx="669300" cy="243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DW 7×7</a:t>
              </a:r>
              <a:endParaRPr sz="1100"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1526651" y="3420987"/>
              <a:ext cx="1066500" cy="243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48 × 200 × 176</a:t>
              </a:r>
              <a:endParaRPr sz="1100"/>
            </a:p>
          </p:txBody>
        </p:sp>
      </p:grpSp>
      <p:sp>
        <p:nvSpPr>
          <p:cNvPr id="532" name="Google Shape;532;p31"/>
          <p:cNvSpPr/>
          <p:nvPr/>
        </p:nvSpPr>
        <p:spPr>
          <a:xfrm>
            <a:off x="6983108" y="2327449"/>
            <a:ext cx="1217530" cy="630921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3" name="Google Shape;533;p31"/>
          <p:cNvCxnSpPr>
            <a:stCxn id="525" idx="3"/>
          </p:cNvCxnSpPr>
          <p:nvPr/>
        </p:nvCxnSpPr>
        <p:spPr>
          <a:xfrm>
            <a:off x="1357049" y="2642909"/>
            <a:ext cx="18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34" name="Google Shape;534;p31"/>
          <p:cNvCxnSpPr>
            <a:stCxn id="495" idx="3"/>
            <a:endCxn id="493" idx="1"/>
          </p:cNvCxnSpPr>
          <p:nvPr/>
        </p:nvCxnSpPr>
        <p:spPr>
          <a:xfrm>
            <a:off x="2709701" y="2642910"/>
            <a:ext cx="16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35" name="Google Shape;535;p31"/>
          <p:cNvCxnSpPr>
            <a:stCxn id="493" idx="3"/>
            <a:endCxn id="491" idx="1"/>
          </p:cNvCxnSpPr>
          <p:nvPr/>
        </p:nvCxnSpPr>
        <p:spPr>
          <a:xfrm>
            <a:off x="3409636" y="2642910"/>
            <a:ext cx="244500" cy="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36" name="Google Shape;536;p31"/>
          <p:cNvCxnSpPr>
            <a:stCxn id="502" idx="3"/>
            <a:endCxn id="490" idx="1"/>
          </p:cNvCxnSpPr>
          <p:nvPr/>
        </p:nvCxnSpPr>
        <p:spPr>
          <a:xfrm flipH="1" rot="10800000">
            <a:off x="5727304" y="2649583"/>
            <a:ext cx="1923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37" name="Google Shape;537;p31"/>
          <p:cNvCxnSpPr>
            <a:stCxn id="491" idx="3"/>
            <a:endCxn id="502" idx="1"/>
          </p:cNvCxnSpPr>
          <p:nvPr/>
        </p:nvCxnSpPr>
        <p:spPr>
          <a:xfrm>
            <a:off x="4871624" y="2649655"/>
            <a:ext cx="1812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38" name="Google Shape;538;p31"/>
          <p:cNvSpPr/>
          <p:nvPr/>
        </p:nvSpPr>
        <p:spPr>
          <a:xfrm>
            <a:off x="6435350" y="2642910"/>
            <a:ext cx="187312" cy="671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" name="Google Shape;539;p31"/>
          <p:cNvCxnSpPr>
            <a:stCxn id="490" idx="3"/>
            <a:endCxn id="515" idx="1"/>
          </p:cNvCxnSpPr>
          <p:nvPr/>
        </p:nvCxnSpPr>
        <p:spPr>
          <a:xfrm>
            <a:off x="7137228" y="2649621"/>
            <a:ext cx="1821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40" name="Google Shape;540;p31"/>
          <p:cNvCxnSpPr>
            <a:stCxn id="515" idx="3"/>
            <a:endCxn id="497" idx="1"/>
          </p:cNvCxnSpPr>
          <p:nvPr/>
        </p:nvCxnSpPr>
        <p:spPr>
          <a:xfrm flipH="1" rot="10800000">
            <a:off x="7851139" y="2646938"/>
            <a:ext cx="201900" cy="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41" name="Google Shape;541;p31"/>
          <p:cNvCxnSpPr>
            <a:stCxn id="497" idx="3"/>
            <a:endCxn id="500" idx="1"/>
          </p:cNvCxnSpPr>
          <p:nvPr/>
        </p:nvCxnSpPr>
        <p:spPr>
          <a:xfrm flipH="1" rot="10800000">
            <a:off x="8347398" y="2642881"/>
            <a:ext cx="1998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42" name="Google Shape;542;p31"/>
          <p:cNvCxnSpPr>
            <a:stCxn id="494" idx="2"/>
            <a:endCxn id="500" idx="2"/>
          </p:cNvCxnSpPr>
          <p:nvPr/>
        </p:nvCxnSpPr>
        <p:spPr>
          <a:xfrm rot="-5400000">
            <a:off x="4647503" y="-1088480"/>
            <a:ext cx="167700" cy="7926000"/>
          </a:xfrm>
          <a:prstGeom prst="bentConnector3">
            <a:avLst>
              <a:gd fmla="val -248065" name="adj1"/>
            </a:avLst>
          </a:prstGeom>
          <a:noFill/>
          <a:ln cap="flat" cmpd="sng" w="19050">
            <a:solidFill>
              <a:srgbClr val="AEABAB"/>
            </a:solidFill>
            <a:prstDash val="dashDot"/>
            <a:miter lim="8000"/>
            <a:headEnd len="sm" w="sm" type="none"/>
            <a:tailEnd len="med" w="med" type="triangle"/>
          </a:ln>
        </p:spPr>
      </p:cxnSp>
      <p:sp>
        <p:nvSpPr>
          <p:cNvPr id="543" name="Google Shape;543;p31"/>
          <p:cNvSpPr txBox="1"/>
          <p:nvPr/>
        </p:nvSpPr>
        <p:spPr>
          <a:xfrm>
            <a:off x="312224" y="1150946"/>
            <a:ext cx="2946169" cy="3424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1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MobilePixorNeXt block Stage 2</a:t>
            </a:r>
            <a:endParaRPr sz="1100"/>
          </a:p>
        </p:txBody>
      </p:sp>
      <p:sp>
        <p:nvSpPr>
          <p:cNvPr id="544" name="Google Shape;544;p31"/>
          <p:cNvSpPr txBox="1"/>
          <p:nvPr/>
        </p:nvSpPr>
        <p:spPr>
          <a:xfrm>
            <a:off x="1710175" y="1862276"/>
            <a:ext cx="5016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Depthwise spatial mixing → pointwise channel expansion → residual</a:t>
            </a:r>
            <a:endParaRPr sz="1100"/>
          </a:p>
        </p:txBody>
      </p:sp>
      <p:sp>
        <p:nvSpPr>
          <p:cNvPr id="545" name="Google Shape;545;p31"/>
          <p:cNvSpPr txBox="1"/>
          <p:nvPr/>
        </p:nvSpPr>
        <p:spPr>
          <a:xfrm>
            <a:off x="2079611" y="3851583"/>
            <a:ext cx="45180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Y = X + γ </a:t>
            </a:r>
            <a:r>
              <a:rPr lang="vi" spc="0" sz="1200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⊙</a:t>
            </a: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F(X) · γ is learned per channel; initialized to 10</a:t>
            </a:r>
            <a:r>
              <a:rPr lang="vi" spc="0" sz="1200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⁻</a:t>
            </a: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⁵</a:t>
            </a:r>
            <a:endParaRPr sz="1100"/>
          </a:p>
        </p:txBody>
      </p:sp>
      <p:sp>
        <p:nvSpPr>
          <p:cNvPr id="546" name="Google Shape;546;p31"/>
          <p:cNvSpPr txBox="1"/>
          <p:nvPr/>
        </p:nvSpPr>
        <p:spPr>
          <a:xfrm>
            <a:off x="4030796" y="3088286"/>
            <a:ext cx="12246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Identity shortcut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32"/>
          <p:cNvGrpSpPr/>
          <p:nvPr/>
        </p:nvGrpSpPr>
        <p:grpSpPr>
          <a:xfrm>
            <a:off x="947071" y="2166302"/>
            <a:ext cx="1839321" cy="919661"/>
            <a:chOff x="773913" y="2107738"/>
            <a:chExt cx="2218943" cy="1109472"/>
          </a:xfrm>
        </p:grpSpPr>
        <p:sp>
          <p:nvSpPr>
            <p:cNvPr id="552" name="Google Shape;552;p32"/>
            <p:cNvSpPr/>
            <p:nvPr/>
          </p:nvSpPr>
          <p:spPr>
            <a:xfrm>
              <a:off x="773913" y="2107738"/>
              <a:ext cx="2218943" cy="1109472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3" name="Google Shape;553;p32"/>
            <p:cNvGrpSpPr/>
            <p:nvPr/>
          </p:nvGrpSpPr>
          <p:grpSpPr>
            <a:xfrm>
              <a:off x="936829" y="2342630"/>
              <a:ext cx="1893000" cy="642760"/>
              <a:chOff x="936829" y="2342630"/>
              <a:chExt cx="1893000" cy="642760"/>
            </a:xfrm>
          </p:grpSpPr>
          <p:sp>
            <p:nvSpPr>
              <p:cNvPr id="554" name="Google Shape;554;p32"/>
              <p:cNvSpPr/>
              <p:nvPr/>
            </p:nvSpPr>
            <p:spPr>
              <a:xfrm>
                <a:off x="1151789" y="2342630"/>
                <a:ext cx="14631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Stage input</a:t>
                </a:r>
                <a:endParaRPr sz="1100"/>
              </a:p>
            </p:txBody>
          </p:sp>
          <p:sp>
            <p:nvSpPr>
              <p:cNvPr id="555" name="Google Shape;555;p32"/>
              <p:cNvSpPr/>
              <p:nvPr/>
            </p:nvSpPr>
            <p:spPr>
              <a:xfrm>
                <a:off x="936829" y="2607390"/>
                <a:ext cx="18930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32 × 400 × 352</a:t>
                </a:r>
                <a:endParaRPr sz="1100"/>
              </a:p>
            </p:txBody>
          </p:sp>
        </p:grpSp>
      </p:grpSp>
      <p:grpSp>
        <p:nvGrpSpPr>
          <p:cNvPr id="556" name="Google Shape;556;p32"/>
          <p:cNvGrpSpPr/>
          <p:nvPr/>
        </p:nvGrpSpPr>
        <p:grpSpPr>
          <a:xfrm>
            <a:off x="947071" y="3514307"/>
            <a:ext cx="1839321" cy="919661"/>
            <a:chOff x="3345871" y="2107738"/>
            <a:chExt cx="2218943" cy="1109472"/>
          </a:xfrm>
        </p:grpSpPr>
        <p:sp>
          <p:nvSpPr>
            <p:cNvPr id="557" name="Google Shape;557;p32"/>
            <p:cNvSpPr/>
            <p:nvPr/>
          </p:nvSpPr>
          <p:spPr>
            <a:xfrm>
              <a:off x="3345871" y="2107738"/>
              <a:ext cx="2218943" cy="1109472"/>
            </a:xfrm>
            <a:prstGeom prst="roundRect">
              <a:avLst>
                <a:gd fmla="val 16667" name="adj"/>
              </a:avLst>
            </a:prstGeom>
            <a:solidFill>
              <a:srgbClr val="A8CF91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8" name="Google Shape;558;p32"/>
            <p:cNvGrpSpPr/>
            <p:nvPr/>
          </p:nvGrpSpPr>
          <p:grpSpPr>
            <a:xfrm>
              <a:off x="3474611" y="2210250"/>
              <a:ext cx="1990200" cy="907521"/>
              <a:chOff x="3474611" y="2210250"/>
              <a:chExt cx="1990200" cy="907521"/>
            </a:xfrm>
          </p:grpSpPr>
          <p:sp>
            <p:nvSpPr>
              <p:cNvPr id="559" name="Google Shape;559;p32"/>
              <p:cNvSpPr/>
              <p:nvPr/>
            </p:nvSpPr>
            <p:spPr>
              <a:xfrm>
                <a:off x="3474611" y="2210250"/>
                <a:ext cx="19902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Conv 3×3 · s2 +</a:t>
                </a:r>
                <a:endParaRPr sz="1100"/>
              </a:p>
            </p:txBody>
          </p:sp>
          <p:sp>
            <p:nvSpPr>
              <p:cNvPr id="560" name="Google Shape;560;p32"/>
              <p:cNvSpPr/>
              <p:nvPr/>
            </p:nvSpPr>
            <p:spPr>
              <a:xfrm>
                <a:off x="3765353" y="2475010"/>
                <a:ext cx="13800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BN + SiLU</a:t>
                </a:r>
                <a:endParaRPr sz="1100"/>
              </a:p>
            </p:txBody>
          </p:sp>
          <p:sp>
            <p:nvSpPr>
              <p:cNvPr id="561" name="Google Shape;561;p32"/>
              <p:cNvSpPr/>
              <p:nvPr/>
            </p:nvSpPr>
            <p:spPr>
              <a:xfrm>
                <a:off x="3508786" y="2739771"/>
                <a:ext cx="18930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200 × 176</a:t>
                </a:r>
                <a:endParaRPr sz="1100"/>
              </a:p>
            </p:txBody>
          </p:sp>
        </p:grpSp>
      </p:grpSp>
      <p:grpSp>
        <p:nvGrpSpPr>
          <p:cNvPr id="562" name="Google Shape;562;p32"/>
          <p:cNvGrpSpPr/>
          <p:nvPr/>
        </p:nvGrpSpPr>
        <p:grpSpPr>
          <a:xfrm>
            <a:off x="5454316" y="3514269"/>
            <a:ext cx="1839282" cy="919641"/>
            <a:chOff x="8489787" y="2107738"/>
            <a:chExt cx="2218943" cy="1109472"/>
          </a:xfrm>
        </p:grpSpPr>
        <p:sp>
          <p:nvSpPr>
            <p:cNvPr id="563" name="Google Shape;563;p32"/>
            <p:cNvSpPr/>
            <p:nvPr/>
          </p:nvSpPr>
          <p:spPr>
            <a:xfrm>
              <a:off x="8489787" y="2107738"/>
              <a:ext cx="2218943" cy="1109472"/>
            </a:xfrm>
            <a:prstGeom prst="roundRect">
              <a:avLst>
                <a:gd fmla="val 16667" name="adj"/>
              </a:avLst>
            </a:prstGeom>
            <a:solidFill>
              <a:srgbClr val="DCE8F5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4" name="Google Shape;564;p32"/>
            <p:cNvGrpSpPr/>
            <p:nvPr/>
          </p:nvGrpSpPr>
          <p:grpSpPr>
            <a:xfrm>
              <a:off x="8652702" y="2342630"/>
              <a:ext cx="1893000" cy="642760"/>
              <a:chOff x="8652702" y="2342630"/>
              <a:chExt cx="1893000" cy="642760"/>
            </a:xfrm>
          </p:grpSpPr>
          <p:sp>
            <p:nvSpPr>
              <p:cNvPr id="565" name="Google Shape;565;p32"/>
              <p:cNvSpPr/>
              <p:nvPr/>
            </p:nvSpPr>
            <p:spPr>
              <a:xfrm>
                <a:off x="8798320" y="2342630"/>
                <a:ext cx="16020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NeXt block </a:t>
                </a:r>
                <a:r>
                  <a:rPr lang="vi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pc="0" sz="15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32"/>
              <p:cNvSpPr/>
              <p:nvPr/>
            </p:nvSpPr>
            <p:spPr>
              <a:xfrm>
                <a:off x="8652702" y="2607390"/>
                <a:ext cx="18930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96</a:t>
                </a: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 × </a:t>
                </a:r>
                <a:r>
                  <a:rPr lang="vi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 × 176</a:t>
                </a:r>
                <a:endParaRPr sz="1100"/>
              </a:p>
            </p:txBody>
          </p:sp>
        </p:grpSp>
      </p:grpSp>
      <p:sp>
        <p:nvSpPr>
          <p:cNvPr id="567" name="Google Shape;567;p32"/>
          <p:cNvSpPr txBox="1"/>
          <p:nvPr/>
        </p:nvSpPr>
        <p:spPr>
          <a:xfrm>
            <a:off x="426524" y="1265246"/>
            <a:ext cx="2946169" cy="3424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1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Stage 3: Each residual block</a:t>
            </a:r>
            <a:endParaRPr sz="1100"/>
          </a:p>
        </p:txBody>
      </p:sp>
      <p:grpSp>
        <p:nvGrpSpPr>
          <p:cNvPr id="568" name="Google Shape;568;p32"/>
          <p:cNvGrpSpPr/>
          <p:nvPr/>
        </p:nvGrpSpPr>
        <p:grpSpPr>
          <a:xfrm>
            <a:off x="3193865" y="3514269"/>
            <a:ext cx="1839163" cy="919582"/>
            <a:chOff x="5917829" y="2107738"/>
            <a:chExt cx="2218800" cy="1109400"/>
          </a:xfrm>
        </p:grpSpPr>
        <p:sp>
          <p:nvSpPr>
            <p:cNvPr id="569" name="Google Shape;569;p32"/>
            <p:cNvSpPr/>
            <p:nvPr/>
          </p:nvSpPr>
          <p:spPr>
            <a:xfrm>
              <a:off x="5917829" y="2107738"/>
              <a:ext cx="2218800" cy="1109400"/>
            </a:xfrm>
            <a:prstGeom prst="roundRect">
              <a:avLst>
                <a:gd fmla="val 16667" name="adj"/>
              </a:avLst>
            </a:prstGeom>
            <a:solidFill>
              <a:srgbClr val="DCE8F5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0" name="Google Shape;570;p32"/>
            <p:cNvGrpSpPr/>
            <p:nvPr/>
          </p:nvGrpSpPr>
          <p:grpSpPr>
            <a:xfrm>
              <a:off x="6166795" y="2342635"/>
              <a:ext cx="1721100" cy="625435"/>
              <a:chOff x="6166795" y="2342635"/>
              <a:chExt cx="1721100" cy="625435"/>
            </a:xfrm>
          </p:grpSpPr>
          <p:sp>
            <p:nvSpPr>
              <p:cNvPr id="571" name="Google Shape;571;p32"/>
              <p:cNvSpPr/>
              <p:nvPr/>
            </p:nvSpPr>
            <p:spPr>
              <a:xfrm>
                <a:off x="6226365" y="2342635"/>
                <a:ext cx="16017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NeXt block 1</a:t>
                </a:r>
                <a:endParaRPr sz="1100"/>
              </a:p>
            </p:txBody>
          </p:sp>
          <p:sp>
            <p:nvSpPr>
              <p:cNvPr id="572" name="Google Shape;572;p32"/>
              <p:cNvSpPr/>
              <p:nvPr/>
            </p:nvSpPr>
            <p:spPr>
              <a:xfrm>
                <a:off x="6166795" y="2624570"/>
                <a:ext cx="1721100" cy="3435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96 × 100 × 88</a:t>
                </a:r>
                <a:endParaRPr sz="1100"/>
              </a:p>
            </p:txBody>
          </p:sp>
        </p:grpSp>
      </p:grpSp>
      <p:cxnSp>
        <p:nvCxnSpPr>
          <p:cNvPr id="573" name="Google Shape;573;p32"/>
          <p:cNvCxnSpPr>
            <a:stCxn id="552" idx="2"/>
            <a:endCxn id="574" idx="0"/>
          </p:cNvCxnSpPr>
          <p:nvPr/>
        </p:nvCxnSpPr>
        <p:spPr>
          <a:xfrm>
            <a:off x="1866732" y="3085963"/>
            <a:ext cx="0" cy="3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grpSp>
        <p:nvGrpSpPr>
          <p:cNvPr id="575" name="Google Shape;575;p32"/>
          <p:cNvGrpSpPr/>
          <p:nvPr/>
        </p:nvGrpSpPr>
        <p:grpSpPr>
          <a:xfrm>
            <a:off x="3192408" y="2166265"/>
            <a:ext cx="1839163" cy="919582"/>
            <a:chOff x="8489787" y="2107738"/>
            <a:chExt cx="2218800" cy="1109400"/>
          </a:xfrm>
        </p:grpSpPr>
        <p:sp>
          <p:nvSpPr>
            <p:cNvPr id="576" name="Google Shape;576;p32"/>
            <p:cNvSpPr/>
            <p:nvPr/>
          </p:nvSpPr>
          <p:spPr>
            <a:xfrm>
              <a:off x="8489787" y="2107738"/>
              <a:ext cx="2218800" cy="1109400"/>
            </a:xfrm>
            <a:prstGeom prst="roundRect">
              <a:avLst>
                <a:gd fmla="val 16667" name="adj"/>
              </a:avLst>
            </a:prstGeom>
            <a:solidFill>
              <a:srgbClr val="DCE8F5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7" name="Google Shape;577;p32"/>
            <p:cNvGrpSpPr/>
            <p:nvPr/>
          </p:nvGrpSpPr>
          <p:grpSpPr>
            <a:xfrm>
              <a:off x="8738753" y="2342635"/>
              <a:ext cx="1721100" cy="625435"/>
              <a:chOff x="8738753" y="2342635"/>
              <a:chExt cx="1721100" cy="625435"/>
            </a:xfrm>
          </p:grpSpPr>
          <p:sp>
            <p:nvSpPr>
              <p:cNvPr id="578" name="Google Shape;578;p32"/>
              <p:cNvSpPr/>
              <p:nvPr/>
            </p:nvSpPr>
            <p:spPr>
              <a:xfrm>
                <a:off x="8798323" y="2342635"/>
                <a:ext cx="16017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NeXt block 2</a:t>
                </a:r>
                <a:endParaRPr sz="1100"/>
              </a:p>
            </p:txBody>
          </p:sp>
          <p:sp>
            <p:nvSpPr>
              <p:cNvPr id="579" name="Google Shape;579;p32"/>
              <p:cNvSpPr/>
              <p:nvPr/>
            </p:nvSpPr>
            <p:spPr>
              <a:xfrm>
                <a:off x="8738753" y="2624570"/>
                <a:ext cx="1721100" cy="3435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96 × 100 × 88</a:t>
                </a:r>
                <a:endParaRPr sz="1100"/>
              </a:p>
            </p:txBody>
          </p:sp>
        </p:grpSp>
      </p:grpSp>
      <p:grpSp>
        <p:nvGrpSpPr>
          <p:cNvPr id="580" name="Google Shape;580;p32"/>
          <p:cNvGrpSpPr/>
          <p:nvPr/>
        </p:nvGrpSpPr>
        <p:grpSpPr>
          <a:xfrm>
            <a:off x="5454316" y="2166810"/>
            <a:ext cx="1839163" cy="919582"/>
            <a:chOff x="8489787" y="2107738"/>
            <a:chExt cx="2218800" cy="1109400"/>
          </a:xfrm>
        </p:grpSpPr>
        <p:sp>
          <p:nvSpPr>
            <p:cNvPr id="581" name="Google Shape;581;p32"/>
            <p:cNvSpPr/>
            <p:nvPr/>
          </p:nvSpPr>
          <p:spPr>
            <a:xfrm>
              <a:off x="8489787" y="2107738"/>
              <a:ext cx="2218800" cy="1109400"/>
            </a:xfrm>
            <a:prstGeom prst="roundRect">
              <a:avLst>
                <a:gd fmla="val 16667" name="adj"/>
              </a:avLst>
            </a:prstGeom>
            <a:solidFill>
              <a:srgbClr val="DCE8F5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2" name="Google Shape;582;p32"/>
            <p:cNvGrpSpPr/>
            <p:nvPr/>
          </p:nvGrpSpPr>
          <p:grpSpPr>
            <a:xfrm>
              <a:off x="8652698" y="2342635"/>
              <a:ext cx="1893300" cy="642760"/>
              <a:chOff x="8652698" y="2342635"/>
              <a:chExt cx="1893300" cy="642760"/>
            </a:xfrm>
          </p:grpSpPr>
          <p:sp>
            <p:nvSpPr>
              <p:cNvPr id="583" name="Google Shape;583;p32"/>
              <p:cNvSpPr/>
              <p:nvPr/>
            </p:nvSpPr>
            <p:spPr>
              <a:xfrm>
                <a:off x="8798323" y="2342635"/>
                <a:ext cx="16017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NeXt block 3</a:t>
                </a:r>
                <a:endParaRPr sz="1100"/>
              </a:p>
            </p:txBody>
          </p:sp>
          <p:sp>
            <p:nvSpPr>
              <p:cNvPr id="584" name="Google Shape;584;p32"/>
              <p:cNvSpPr/>
              <p:nvPr/>
            </p:nvSpPr>
            <p:spPr>
              <a:xfrm>
                <a:off x="8652698" y="2607395"/>
                <a:ext cx="18933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96</a:t>
                </a: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 × </a:t>
                </a:r>
                <a:r>
                  <a:rPr lang="vi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 × 176</a:t>
                </a:r>
                <a:endParaRPr sz="1100"/>
              </a:p>
            </p:txBody>
          </p:sp>
        </p:grpSp>
      </p:grpSp>
      <p:cxnSp>
        <p:nvCxnSpPr>
          <p:cNvPr id="585" name="Google Shape;585;p32"/>
          <p:cNvCxnSpPr>
            <a:stCxn id="557" idx="3"/>
            <a:endCxn id="569" idx="1"/>
          </p:cNvCxnSpPr>
          <p:nvPr/>
        </p:nvCxnSpPr>
        <p:spPr>
          <a:xfrm>
            <a:off x="2786392" y="3974137"/>
            <a:ext cx="40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86" name="Google Shape;586;p32"/>
          <p:cNvCxnSpPr>
            <a:stCxn id="587" idx="0"/>
            <a:endCxn id="576" idx="2"/>
          </p:cNvCxnSpPr>
          <p:nvPr/>
        </p:nvCxnSpPr>
        <p:spPr>
          <a:xfrm rot="10800000">
            <a:off x="4111989" y="3085847"/>
            <a:ext cx="1500" cy="3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88" name="Google Shape;588;p32"/>
          <p:cNvCxnSpPr>
            <a:stCxn id="576" idx="3"/>
            <a:endCxn id="581" idx="1"/>
          </p:cNvCxnSpPr>
          <p:nvPr/>
        </p:nvCxnSpPr>
        <p:spPr>
          <a:xfrm>
            <a:off x="5031571" y="2626056"/>
            <a:ext cx="422700" cy="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89" name="Google Shape;589;p32"/>
          <p:cNvCxnSpPr>
            <a:stCxn id="581" idx="2"/>
            <a:endCxn id="563" idx="0"/>
          </p:cNvCxnSpPr>
          <p:nvPr/>
        </p:nvCxnSpPr>
        <p:spPr>
          <a:xfrm>
            <a:off x="6373897" y="3086392"/>
            <a:ext cx="0" cy="42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3"/>
          <p:cNvSpPr/>
          <p:nvPr/>
        </p:nvSpPr>
        <p:spPr>
          <a:xfrm>
            <a:off x="5919698" y="2334161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3"/>
          <p:cNvSpPr/>
          <p:nvPr/>
        </p:nvSpPr>
        <p:spPr>
          <a:xfrm>
            <a:off x="3654224" y="2334205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3"/>
          <p:cNvSpPr/>
          <p:nvPr/>
        </p:nvSpPr>
        <p:spPr>
          <a:xfrm>
            <a:off x="1602355" y="2390812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3"/>
          <p:cNvSpPr/>
          <p:nvPr/>
        </p:nvSpPr>
        <p:spPr>
          <a:xfrm>
            <a:off x="2877881" y="2413748"/>
            <a:ext cx="531900" cy="45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3"/>
          <p:cNvSpPr/>
          <p:nvPr/>
        </p:nvSpPr>
        <p:spPr>
          <a:xfrm>
            <a:off x="159588" y="2327449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3"/>
          <p:cNvSpPr/>
          <p:nvPr/>
        </p:nvSpPr>
        <p:spPr>
          <a:xfrm>
            <a:off x="1492171" y="2327449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1" name="Google Shape;601;p33"/>
          <p:cNvGrpSpPr/>
          <p:nvPr/>
        </p:nvGrpSpPr>
        <p:grpSpPr>
          <a:xfrm>
            <a:off x="8053192" y="2467518"/>
            <a:ext cx="294443" cy="327323"/>
            <a:chOff x="9865466" y="3186484"/>
            <a:chExt cx="283800" cy="315492"/>
          </a:xfrm>
        </p:grpSpPr>
        <p:sp>
          <p:nvSpPr>
            <p:cNvPr id="602" name="Google Shape;602;p33"/>
            <p:cNvSpPr/>
            <p:nvPr/>
          </p:nvSpPr>
          <p:spPr>
            <a:xfrm>
              <a:off x="9865466" y="3217276"/>
              <a:ext cx="283800" cy="284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9883280" y="3186484"/>
              <a:ext cx="253800" cy="2595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5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γ</a:t>
              </a:r>
              <a:endParaRPr sz="1100"/>
            </a:p>
          </p:txBody>
        </p:sp>
      </p:grpSp>
      <p:grpSp>
        <p:nvGrpSpPr>
          <p:cNvPr id="604" name="Google Shape;604;p33"/>
          <p:cNvGrpSpPr/>
          <p:nvPr/>
        </p:nvGrpSpPr>
        <p:grpSpPr>
          <a:xfrm>
            <a:off x="8547484" y="2489887"/>
            <a:ext cx="294442" cy="300784"/>
            <a:chOff x="11180862" y="3223236"/>
            <a:chExt cx="283800" cy="289912"/>
          </a:xfrm>
        </p:grpSpPr>
        <p:sp>
          <p:nvSpPr>
            <p:cNvPr id="605" name="Google Shape;605;p33"/>
            <p:cNvSpPr/>
            <p:nvPr/>
          </p:nvSpPr>
          <p:spPr>
            <a:xfrm>
              <a:off x="11180862" y="3228448"/>
              <a:ext cx="283800" cy="284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11197870" y="3223236"/>
              <a:ext cx="266700" cy="2595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5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100"/>
            </a:p>
          </p:txBody>
        </p:sp>
      </p:grpSp>
      <p:sp>
        <p:nvSpPr>
          <p:cNvPr id="607" name="Google Shape;607;p33"/>
          <p:cNvSpPr/>
          <p:nvPr/>
        </p:nvSpPr>
        <p:spPr>
          <a:xfrm>
            <a:off x="5052904" y="2425183"/>
            <a:ext cx="674400" cy="45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SiLU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3"/>
          <p:cNvSpPr/>
          <p:nvPr/>
        </p:nvSpPr>
        <p:spPr>
          <a:xfrm>
            <a:off x="3646689" y="2423526"/>
            <a:ext cx="1217960" cy="51592"/>
          </a:xfrm>
          <a:custGeom>
            <a:rect b="b" l="l" r="r" t="t"/>
            <a:pathLst>
              <a:path extrusionOk="0" h="30393" w="647851">
                <a:moveTo>
                  <a:pt x="0" y="30394"/>
                </a:moveTo>
                <a:lnTo>
                  <a:pt x="41149" y="0"/>
                </a:lnTo>
                <a:lnTo>
                  <a:pt x="647851" y="0"/>
                </a:lnTo>
                <a:lnTo>
                  <a:pt x="606702" y="30394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3"/>
          <p:cNvSpPr/>
          <p:nvPr/>
        </p:nvSpPr>
        <p:spPr>
          <a:xfrm>
            <a:off x="4795204" y="2423520"/>
            <a:ext cx="76535" cy="455310"/>
          </a:xfrm>
          <a:custGeom>
            <a:rect b="b" l="l" r="r" t="t"/>
            <a:pathLst>
              <a:path extrusionOk="0" h="341696" w="41148">
                <a:moveTo>
                  <a:pt x="0" y="341697"/>
                </a:moveTo>
                <a:lnTo>
                  <a:pt x="41149" y="311303"/>
                </a:lnTo>
                <a:lnTo>
                  <a:pt x="41149" y="0"/>
                </a:lnTo>
                <a:lnTo>
                  <a:pt x="0" y="30394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3"/>
          <p:cNvSpPr/>
          <p:nvPr/>
        </p:nvSpPr>
        <p:spPr>
          <a:xfrm>
            <a:off x="3646690" y="2475154"/>
            <a:ext cx="1148184" cy="403916"/>
          </a:xfrm>
          <a:custGeom>
            <a:rect b="b" l="l" r="r" t="t"/>
            <a:pathLst>
              <a:path extrusionOk="0" h="311303" w="606702">
                <a:moveTo>
                  <a:pt x="0" y="311303"/>
                </a:moveTo>
                <a:lnTo>
                  <a:pt x="606702" y="311303"/>
                </a:lnTo>
                <a:lnTo>
                  <a:pt x="60670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" name="Google Shape;611;p33"/>
          <p:cNvGrpSpPr/>
          <p:nvPr/>
        </p:nvGrpSpPr>
        <p:grpSpPr>
          <a:xfrm>
            <a:off x="3597497" y="2441986"/>
            <a:ext cx="1354871" cy="425062"/>
            <a:chOff x="4130901" y="3177067"/>
            <a:chExt cx="1305900" cy="409698"/>
          </a:xfrm>
        </p:grpSpPr>
        <p:sp>
          <p:nvSpPr>
            <p:cNvPr id="612" name="Google Shape;612;p33"/>
            <p:cNvSpPr/>
            <p:nvPr/>
          </p:nvSpPr>
          <p:spPr>
            <a:xfrm>
              <a:off x="4130901" y="3177067"/>
              <a:ext cx="1305900" cy="2673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PW 1×1 · expand</a:t>
              </a:r>
              <a:endParaRPr sz="1100"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4160793" y="3343765"/>
              <a:ext cx="1137300" cy="243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>
                  <a:solidFill>
                    <a:srgbClr val="202020"/>
                  </a:solidFill>
                </a:rPr>
                <a:t>240 × 100 × 88</a:t>
              </a:r>
              <a:endParaRPr sz="1100">
                <a:solidFill>
                  <a:srgbClr val="202020"/>
                </a:solidFill>
              </a:endParaRPr>
            </a:p>
          </p:txBody>
        </p:sp>
      </p:grpSp>
      <p:sp>
        <p:nvSpPr>
          <p:cNvPr id="614" name="Google Shape;614;p33"/>
          <p:cNvSpPr/>
          <p:nvPr/>
        </p:nvSpPr>
        <p:spPr>
          <a:xfrm>
            <a:off x="5912163" y="2423480"/>
            <a:ext cx="1217960" cy="51592"/>
          </a:xfrm>
          <a:custGeom>
            <a:rect b="b" l="l" r="r" t="t"/>
            <a:pathLst>
              <a:path extrusionOk="0" h="30393" w="647851">
                <a:moveTo>
                  <a:pt x="0" y="30394"/>
                </a:moveTo>
                <a:lnTo>
                  <a:pt x="41149" y="0"/>
                </a:lnTo>
                <a:lnTo>
                  <a:pt x="647851" y="0"/>
                </a:lnTo>
                <a:lnTo>
                  <a:pt x="606702" y="30394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3"/>
          <p:cNvSpPr/>
          <p:nvPr/>
        </p:nvSpPr>
        <p:spPr>
          <a:xfrm>
            <a:off x="7060661" y="2423475"/>
            <a:ext cx="76535" cy="455310"/>
          </a:xfrm>
          <a:custGeom>
            <a:rect b="b" l="l" r="r" t="t"/>
            <a:pathLst>
              <a:path extrusionOk="0" h="341696" w="41148">
                <a:moveTo>
                  <a:pt x="0" y="341697"/>
                </a:moveTo>
                <a:lnTo>
                  <a:pt x="41149" y="311303"/>
                </a:lnTo>
                <a:lnTo>
                  <a:pt x="41149" y="0"/>
                </a:lnTo>
                <a:lnTo>
                  <a:pt x="0" y="30394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3"/>
          <p:cNvSpPr/>
          <p:nvPr/>
        </p:nvSpPr>
        <p:spPr>
          <a:xfrm>
            <a:off x="5912164" y="2475108"/>
            <a:ext cx="1148184" cy="403916"/>
          </a:xfrm>
          <a:custGeom>
            <a:rect b="b" l="l" r="r" t="t"/>
            <a:pathLst>
              <a:path extrusionOk="0" h="311303" w="606702">
                <a:moveTo>
                  <a:pt x="0" y="311303"/>
                </a:moveTo>
                <a:lnTo>
                  <a:pt x="606702" y="311303"/>
                </a:lnTo>
                <a:lnTo>
                  <a:pt x="60670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7" name="Google Shape;617;p33"/>
          <p:cNvGrpSpPr/>
          <p:nvPr/>
        </p:nvGrpSpPr>
        <p:grpSpPr>
          <a:xfrm>
            <a:off x="5860396" y="2452476"/>
            <a:ext cx="1354871" cy="394094"/>
            <a:chOff x="4128361" y="3187177"/>
            <a:chExt cx="1305900" cy="379849"/>
          </a:xfrm>
        </p:grpSpPr>
        <p:sp>
          <p:nvSpPr>
            <p:cNvPr id="618" name="Google Shape;618;p33"/>
            <p:cNvSpPr/>
            <p:nvPr/>
          </p:nvSpPr>
          <p:spPr>
            <a:xfrm>
              <a:off x="4128361" y="3187177"/>
              <a:ext cx="1305900" cy="2673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PW 1×1 · expand</a:t>
              </a:r>
              <a:endParaRPr sz="1100"/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4212495" y="3346226"/>
              <a:ext cx="1034100" cy="2208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>
                  <a:solidFill>
                    <a:srgbClr val="202020"/>
                  </a:solidFill>
                </a:rPr>
                <a:t>96 × 100 × 88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0" name="Google Shape;620;p33"/>
          <p:cNvSpPr/>
          <p:nvPr/>
        </p:nvSpPr>
        <p:spPr>
          <a:xfrm>
            <a:off x="7319384" y="2423475"/>
            <a:ext cx="531900" cy="45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BN</a:t>
            </a:r>
            <a:endParaRPr sz="1100"/>
          </a:p>
        </p:txBody>
      </p:sp>
      <p:sp>
        <p:nvSpPr>
          <p:cNvPr id="621" name="Google Shape;621;p33"/>
          <p:cNvSpPr/>
          <p:nvPr/>
        </p:nvSpPr>
        <p:spPr>
          <a:xfrm>
            <a:off x="1549712" y="2228512"/>
            <a:ext cx="1155248" cy="73703"/>
          </a:xfrm>
          <a:custGeom>
            <a:rect b="b" l="l" r="r" t="t"/>
            <a:pathLst>
              <a:path extrusionOk="0" h="30393" w="476391">
                <a:moveTo>
                  <a:pt x="0" y="30394"/>
                </a:moveTo>
                <a:lnTo>
                  <a:pt x="41150" y="0"/>
                </a:lnTo>
                <a:lnTo>
                  <a:pt x="476392" y="0"/>
                </a:lnTo>
                <a:lnTo>
                  <a:pt x="435243" y="30394"/>
                </a:lnTo>
                <a:close/>
              </a:path>
            </a:pathLst>
          </a:custGeom>
          <a:solidFill>
            <a:srgbClr val="E7EFF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3"/>
          <p:cNvSpPr/>
          <p:nvPr/>
        </p:nvSpPr>
        <p:spPr>
          <a:xfrm>
            <a:off x="2605654" y="2228512"/>
            <a:ext cx="99786" cy="828613"/>
          </a:xfrm>
          <a:custGeom>
            <a:rect b="b" l="l" r="r" t="t"/>
            <a:pathLst>
              <a:path extrusionOk="0" h="341696" w="41149">
                <a:moveTo>
                  <a:pt x="0" y="341697"/>
                </a:moveTo>
                <a:lnTo>
                  <a:pt x="41149" y="311303"/>
                </a:lnTo>
                <a:lnTo>
                  <a:pt x="41149" y="0"/>
                </a:lnTo>
                <a:lnTo>
                  <a:pt x="0" y="30394"/>
                </a:lnTo>
                <a:close/>
              </a:path>
            </a:pathLst>
          </a:custGeom>
          <a:solidFill>
            <a:srgbClr val="B7C0C9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3"/>
          <p:cNvSpPr/>
          <p:nvPr/>
        </p:nvSpPr>
        <p:spPr>
          <a:xfrm>
            <a:off x="1549712" y="2302248"/>
            <a:ext cx="1055462" cy="754910"/>
          </a:xfrm>
          <a:custGeom>
            <a:rect b="b" l="l" r="r" t="t"/>
            <a:pathLst>
              <a:path extrusionOk="0" h="311303" w="435242">
                <a:moveTo>
                  <a:pt x="0" y="311303"/>
                </a:moveTo>
                <a:lnTo>
                  <a:pt x="435243" y="311303"/>
                </a:lnTo>
                <a:lnTo>
                  <a:pt x="43524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3"/>
          <p:cNvSpPr/>
          <p:nvPr/>
        </p:nvSpPr>
        <p:spPr>
          <a:xfrm>
            <a:off x="1357049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3"/>
          <p:cNvSpPr/>
          <p:nvPr/>
        </p:nvSpPr>
        <p:spPr>
          <a:xfrm>
            <a:off x="2721753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3"/>
          <p:cNvSpPr/>
          <p:nvPr/>
        </p:nvSpPr>
        <p:spPr>
          <a:xfrm>
            <a:off x="4086457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3"/>
          <p:cNvSpPr/>
          <p:nvPr/>
        </p:nvSpPr>
        <p:spPr>
          <a:xfrm>
            <a:off x="5451161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3"/>
          <p:cNvSpPr/>
          <p:nvPr/>
        </p:nvSpPr>
        <p:spPr>
          <a:xfrm>
            <a:off x="6815866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3"/>
          <p:cNvSpPr/>
          <p:nvPr/>
        </p:nvSpPr>
        <p:spPr>
          <a:xfrm>
            <a:off x="8180569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3"/>
          <p:cNvSpPr/>
          <p:nvPr/>
        </p:nvSpPr>
        <p:spPr>
          <a:xfrm>
            <a:off x="179657" y="2347585"/>
            <a:ext cx="1177500" cy="59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1" name="Google Shape;631;p33"/>
          <p:cNvGrpSpPr/>
          <p:nvPr/>
        </p:nvGrpSpPr>
        <p:grpSpPr>
          <a:xfrm>
            <a:off x="215122" y="2458733"/>
            <a:ext cx="1106494" cy="381610"/>
            <a:chOff x="266308" y="3193208"/>
            <a:chExt cx="1066500" cy="367817"/>
          </a:xfrm>
        </p:grpSpPr>
        <p:sp>
          <p:nvSpPr>
            <p:cNvPr id="632" name="Google Shape;632;p33"/>
            <p:cNvSpPr/>
            <p:nvPr/>
          </p:nvSpPr>
          <p:spPr>
            <a:xfrm>
              <a:off x="672650" y="3193208"/>
              <a:ext cx="253800" cy="2208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266308" y="3318025"/>
              <a:ext cx="1066500" cy="243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>
                  <a:solidFill>
                    <a:srgbClr val="202020"/>
                  </a:solidFill>
                </a:rPr>
                <a:t>96 × 100 × 88</a:t>
              </a:r>
              <a:endParaRPr sz="1100">
                <a:solidFill>
                  <a:srgbClr val="202020"/>
                </a:solidFill>
              </a:endParaRPr>
            </a:p>
          </p:txBody>
        </p:sp>
      </p:grpSp>
      <p:grpSp>
        <p:nvGrpSpPr>
          <p:cNvPr id="634" name="Google Shape;634;p33"/>
          <p:cNvGrpSpPr/>
          <p:nvPr/>
        </p:nvGrpSpPr>
        <p:grpSpPr>
          <a:xfrm>
            <a:off x="1522728" y="2447278"/>
            <a:ext cx="1106494" cy="499889"/>
            <a:chOff x="1526651" y="3182167"/>
            <a:chExt cx="1066500" cy="481821"/>
          </a:xfrm>
        </p:grpSpPr>
        <p:sp>
          <p:nvSpPr>
            <p:cNvPr id="635" name="Google Shape;635;p33"/>
            <p:cNvSpPr/>
            <p:nvPr/>
          </p:nvSpPr>
          <p:spPr>
            <a:xfrm>
              <a:off x="1749343" y="3182167"/>
              <a:ext cx="669300" cy="243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DW 7×7</a:t>
              </a:r>
              <a:endParaRPr sz="1100"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1526651" y="3420987"/>
              <a:ext cx="1066500" cy="243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>
                  <a:solidFill>
                    <a:srgbClr val="202020"/>
                  </a:solidFill>
                </a:rPr>
                <a:t>96 × 100 × 88</a:t>
              </a:r>
              <a:endParaRPr sz="1100">
                <a:solidFill>
                  <a:srgbClr val="202020"/>
                </a:solidFill>
              </a:endParaRPr>
            </a:p>
          </p:txBody>
        </p:sp>
      </p:grpSp>
      <p:sp>
        <p:nvSpPr>
          <p:cNvPr id="637" name="Google Shape;637;p33"/>
          <p:cNvSpPr/>
          <p:nvPr/>
        </p:nvSpPr>
        <p:spPr>
          <a:xfrm>
            <a:off x="6983108" y="2327449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8" name="Google Shape;638;p33"/>
          <p:cNvCxnSpPr>
            <a:stCxn id="630" idx="3"/>
          </p:cNvCxnSpPr>
          <p:nvPr/>
        </p:nvCxnSpPr>
        <p:spPr>
          <a:xfrm>
            <a:off x="1357157" y="2642935"/>
            <a:ext cx="18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39" name="Google Shape;639;p33"/>
          <p:cNvCxnSpPr>
            <a:stCxn id="600" idx="3"/>
            <a:endCxn id="598" idx="1"/>
          </p:cNvCxnSpPr>
          <p:nvPr/>
        </p:nvCxnSpPr>
        <p:spPr>
          <a:xfrm>
            <a:off x="2709571" y="2642899"/>
            <a:ext cx="16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40" name="Google Shape;640;p33"/>
          <p:cNvCxnSpPr>
            <a:stCxn id="598" idx="3"/>
            <a:endCxn id="596" idx="1"/>
          </p:cNvCxnSpPr>
          <p:nvPr/>
        </p:nvCxnSpPr>
        <p:spPr>
          <a:xfrm>
            <a:off x="3409781" y="2642948"/>
            <a:ext cx="244500" cy="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41" name="Google Shape;641;p33"/>
          <p:cNvCxnSpPr>
            <a:stCxn id="607" idx="3"/>
            <a:endCxn id="595" idx="1"/>
          </p:cNvCxnSpPr>
          <p:nvPr/>
        </p:nvCxnSpPr>
        <p:spPr>
          <a:xfrm flipH="1" rot="10800000">
            <a:off x="5727304" y="2649583"/>
            <a:ext cx="1923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42" name="Google Shape;642;p33"/>
          <p:cNvCxnSpPr>
            <a:stCxn id="596" idx="3"/>
            <a:endCxn id="607" idx="1"/>
          </p:cNvCxnSpPr>
          <p:nvPr/>
        </p:nvCxnSpPr>
        <p:spPr>
          <a:xfrm>
            <a:off x="4871624" y="2649655"/>
            <a:ext cx="1812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643" name="Google Shape;643;p33"/>
          <p:cNvSpPr/>
          <p:nvPr/>
        </p:nvSpPr>
        <p:spPr>
          <a:xfrm>
            <a:off x="6435350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4" name="Google Shape;644;p33"/>
          <p:cNvCxnSpPr>
            <a:stCxn id="595" idx="3"/>
            <a:endCxn id="620" idx="1"/>
          </p:cNvCxnSpPr>
          <p:nvPr/>
        </p:nvCxnSpPr>
        <p:spPr>
          <a:xfrm>
            <a:off x="7137098" y="2649611"/>
            <a:ext cx="1824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45" name="Google Shape;645;p33"/>
          <p:cNvCxnSpPr>
            <a:stCxn id="620" idx="3"/>
            <a:endCxn id="602" idx="1"/>
          </p:cNvCxnSpPr>
          <p:nvPr/>
        </p:nvCxnSpPr>
        <p:spPr>
          <a:xfrm flipH="1" rot="10800000">
            <a:off x="7851284" y="2647275"/>
            <a:ext cx="201900" cy="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46" name="Google Shape;646;p33"/>
          <p:cNvCxnSpPr>
            <a:stCxn id="602" idx="3"/>
            <a:endCxn id="605" idx="1"/>
          </p:cNvCxnSpPr>
          <p:nvPr/>
        </p:nvCxnSpPr>
        <p:spPr>
          <a:xfrm flipH="1" rot="10800000">
            <a:off x="8347635" y="2642953"/>
            <a:ext cx="1998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47" name="Google Shape;647;p33"/>
          <p:cNvCxnSpPr>
            <a:stCxn id="599" idx="2"/>
            <a:endCxn id="605" idx="2"/>
          </p:cNvCxnSpPr>
          <p:nvPr/>
        </p:nvCxnSpPr>
        <p:spPr>
          <a:xfrm rot="-5400000">
            <a:off x="4647588" y="-1088651"/>
            <a:ext cx="167700" cy="7926300"/>
          </a:xfrm>
          <a:prstGeom prst="bentConnector3">
            <a:avLst>
              <a:gd fmla="val -248065" name="adj1"/>
            </a:avLst>
          </a:prstGeom>
          <a:noFill/>
          <a:ln cap="flat" cmpd="sng" w="19050">
            <a:solidFill>
              <a:srgbClr val="AEABAB"/>
            </a:solidFill>
            <a:prstDash val="dashDot"/>
            <a:miter lim="8000"/>
            <a:headEnd len="sm" w="sm" type="none"/>
            <a:tailEnd len="med" w="med" type="triangle"/>
          </a:ln>
        </p:spPr>
      </p:cxnSp>
      <p:sp>
        <p:nvSpPr>
          <p:cNvPr id="648" name="Google Shape;648;p33"/>
          <p:cNvSpPr txBox="1"/>
          <p:nvPr/>
        </p:nvSpPr>
        <p:spPr>
          <a:xfrm>
            <a:off x="312224" y="1150946"/>
            <a:ext cx="2946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1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MobilePixorNeXt block Stage </a:t>
            </a:r>
            <a:r>
              <a:rPr b="1" lang="vi" sz="1500">
                <a:solidFill>
                  <a:srgbClr val="242629"/>
                </a:solidFill>
              </a:rPr>
              <a:t>3</a:t>
            </a:r>
            <a:endParaRPr sz="1100"/>
          </a:p>
        </p:txBody>
      </p:sp>
      <p:sp>
        <p:nvSpPr>
          <p:cNvPr id="649" name="Google Shape;649;p33"/>
          <p:cNvSpPr txBox="1"/>
          <p:nvPr/>
        </p:nvSpPr>
        <p:spPr>
          <a:xfrm>
            <a:off x="1710175" y="1862276"/>
            <a:ext cx="5016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Depthwise spatial mixing → pointwise channel expansion → residual</a:t>
            </a:r>
            <a:endParaRPr sz="1100"/>
          </a:p>
        </p:txBody>
      </p:sp>
      <p:sp>
        <p:nvSpPr>
          <p:cNvPr id="650" name="Google Shape;650;p33"/>
          <p:cNvSpPr txBox="1"/>
          <p:nvPr/>
        </p:nvSpPr>
        <p:spPr>
          <a:xfrm>
            <a:off x="2079611" y="3851583"/>
            <a:ext cx="45180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Y = X + γ </a:t>
            </a:r>
            <a:r>
              <a:rPr lang="vi" spc="0" sz="1200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⊙</a:t>
            </a: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F(X) · γ is learned per channel; initialized to 10</a:t>
            </a:r>
            <a:r>
              <a:rPr lang="vi" spc="0" sz="1200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⁻</a:t>
            </a: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⁵</a:t>
            </a:r>
            <a:endParaRPr sz="1100"/>
          </a:p>
        </p:txBody>
      </p:sp>
      <p:sp>
        <p:nvSpPr>
          <p:cNvPr id="651" name="Google Shape;651;p33"/>
          <p:cNvSpPr txBox="1"/>
          <p:nvPr/>
        </p:nvSpPr>
        <p:spPr>
          <a:xfrm>
            <a:off x="4030796" y="3088286"/>
            <a:ext cx="12246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Identity shortcut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34"/>
          <p:cNvGrpSpPr/>
          <p:nvPr/>
        </p:nvGrpSpPr>
        <p:grpSpPr>
          <a:xfrm>
            <a:off x="456407" y="2485476"/>
            <a:ext cx="1664207" cy="832104"/>
            <a:chOff x="773913" y="2107738"/>
            <a:chExt cx="2218943" cy="1109472"/>
          </a:xfrm>
        </p:grpSpPr>
        <p:sp>
          <p:nvSpPr>
            <p:cNvPr id="657" name="Google Shape;657;p34"/>
            <p:cNvSpPr/>
            <p:nvPr/>
          </p:nvSpPr>
          <p:spPr>
            <a:xfrm>
              <a:off x="773913" y="2107738"/>
              <a:ext cx="2218943" cy="1109472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8" name="Google Shape;658;p34"/>
            <p:cNvGrpSpPr/>
            <p:nvPr/>
          </p:nvGrpSpPr>
          <p:grpSpPr>
            <a:xfrm>
              <a:off x="1022880" y="2342630"/>
              <a:ext cx="1721011" cy="625532"/>
              <a:chOff x="1022880" y="2342630"/>
              <a:chExt cx="1721011" cy="625532"/>
            </a:xfrm>
          </p:grpSpPr>
          <p:sp>
            <p:nvSpPr>
              <p:cNvPr id="659" name="Google Shape;659;p34"/>
              <p:cNvSpPr/>
              <p:nvPr/>
            </p:nvSpPr>
            <p:spPr>
              <a:xfrm>
                <a:off x="1151789" y="2342630"/>
                <a:ext cx="14631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Stage input</a:t>
                </a:r>
                <a:endParaRPr sz="1100"/>
              </a:p>
            </p:txBody>
          </p:sp>
          <p:sp>
            <p:nvSpPr>
              <p:cNvPr id="660" name="Google Shape;660;p34"/>
              <p:cNvSpPr/>
              <p:nvPr/>
            </p:nvSpPr>
            <p:spPr>
              <a:xfrm>
                <a:off x="1022880" y="2624570"/>
                <a:ext cx="1721011" cy="343592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14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96 × 100 × 88</a:t>
                </a:r>
                <a:endParaRPr sz="1100"/>
              </a:p>
            </p:txBody>
          </p:sp>
        </p:grpSp>
      </p:grpSp>
      <p:grpSp>
        <p:nvGrpSpPr>
          <p:cNvPr id="661" name="Google Shape;661;p34"/>
          <p:cNvGrpSpPr/>
          <p:nvPr/>
        </p:nvGrpSpPr>
        <p:grpSpPr>
          <a:xfrm>
            <a:off x="2357009" y="2457109"/>
            <a:ext cx="1720942" cy="888838"/>
            <a:chOff x="3308048" y="2069915"/>
            <a:chExt cx="2294589" cy="1185117"/>
          </a:xfrm>
        </p:grpSpPr>
        <p:sp>
          <p:nvSpPr>
            <p:cNvPr id="662" name="Google Shape;662;p34"/>
            <p:cNvSpPr/>
            <p:nvPr/>
          </p:nvSpPr>
          <p:spPr>
            <a:xfrm>
              <a:off x="3345871" y="2107738"/>
              <a:ext cx="2218943" cy="1109472"/>
            </a:xfrm>
            <a:prstGeom prst="roundRect">
              <a:avLst>
                <a:gd fmla="val 16667" name="adj"/>
              </a:avLst>
            </a:prstGeom>
            <a:solidFill>
              <a:srgbClr val="A8CF91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3" name="Google Shape;663;p34"/>
            <p:cNvGrpSpPr/>
            <p:nvPr/>
          </p:nvGrpSpPr>
          <p:grpSpPr>
            <a:xfrm>
              <a:off x="3550711" y="2227430"/>
              <a:ext cx="1809265" cy="873113"/>
              <a:chOff x="3550711" y="2227430"/>
              <a:chExt cx="1809265" cy="873113"/>
            </a:xfrm>
          </p:grpSpPr>
          <p:sp>
            <p:nvSpPr>
              <p:cNvPr id="664" name="Google Shape;664;p34"/>
              <p:cNvSpPr/>
              <p:nvPr/>
            </p:nvSpPr>
            <p:spPr>
              <a:xfrm>
                <a:off x="3550711" y="2227430"/>
                <a:ext cx="1809265" cy="343592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Conv 3×3 · s2 +</a:t>
                </a:r>
                <a:endParaRPr sz="1100"/>
              </a:p>
            </p:txBody>
          </p:sp>
          <p:sp>
            <p:nvSpPr>
              <p:cNvPr id="665" name="Google Shape;665;p34"/>
              <p:cNvSpPr/>
              <p:nvPr/>
            </p:nvSpPr>
            <p:spPr>
              <a:xfrm>
                <a:off x="3828079" y="2492190"/>
                <a:ext cx="1254529" cy="343592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BN + SiLU</a:t>
                </a:r>
                <a:endParaRPr sz="1100"/>
              </a:p>
            </p:txBody>
          </p:sp>
          <p:sp>
            <p:nvSpPr>
              <p:cNvPr id="666" name="Google Shape;666;p34"/>
              <p:cNvSpPr/>
              <p:nvPr/>
            </p:nvSpPr>
            <p:spPr>
              <a:xfrm>
                <a:off x="3594837" y="2756951"/>
                <a:ext cx="1721011" cy="343592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128 × 50 × 44</a:t>
                </a:r>
                <a:endParaRPr sz="1100"/>
              </a:p>
            </p:txBody>
          </p:sp>
        </p:grpSp>
        <p:sp>
          <p:nvSpPr>
            <p:cNvPr id="667" name="Google Shape;667;p34"/>
            <p:cNvSpPr/>
            <p:nvPr/>
          </p:nvSpPr>
          <p:spPr>
            <a:xfrm>
              <a:off x="3308048" y="2069915"/>
              <a:ext cx="2294589" cy="1185117"/>
            </a:xfrm>
            <a:prstGeom prst="roundRect">
              <a:avLst>
                <a:gd fmla="val 16667" name="adj"/>
              </a:avLst>
            </a:prstGeom>
            <a:noFill/>
            <a:ln cap="flat" cmpd="sng" w="25200">
              <a:solidFill>
                <a:srgbClr val="2473AA">
                  <a:alpha val="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8" name="Google Shape;668;p34"/>
          <p:cNvGrpSpPr/>
          <p:nvPr/>
        </p:nvGrpSpPr>
        <p:grpSpPr>
          <a:xfrm>
            <a:off x="4314344" y="2485476"/>
            <a:ext cx="1664207" cy="832104"/>
            <a:chOff x="5917829" y="2107738"/>
            <a:chExt cx="2218943" cy="1109472"/>
          </a:xfrm>
        </p:grpSpPr>
        <p:sp>
          <p:nvSpPr>
            <p:cNvPr id="669" name="Google Shape;669;p34"/>
            <p:cNvSpPr/>
            <p:nvPr/>
          </p:nvSpPr>
          <p:spPr>
            <a:xfrm>
              <a:off x="5917829" y="2107738"/>
              <a:ext cx="2218943" cy="1109472"/>
            </a:xfrm>
            <a:prstGeom prst="roundRect">
              <a:avLst>
                <a:gd fmla="val 16667" name="adj"/>
              </a:avLst>
            </a:prstGeom>
            <a:solidFill>
              <a:srgbClr val="DCE8F5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0" name="Google Shape;670;p34"/>
            <p:cNvGrpSpPr/>
            <p:nvPr/>
          </p:nvGrpSpPr>
          <p:grpSpPr>
            <a:xfrm>
              <a:off x="6166795" y="2342630"/>
              <a:ext cx="1721011" cy="625532"/>
              <a:chOff x="6166795" y="2342630"/>
              <a:chExt cx="1721011" cy="625532"/>
            </a:xfrm>
          </p:grpSpPr>
          <p:sp>
            <p:nvSpPr>
              <p:cNvPr id="671" name="Google Shape;671;p34"/>
              <p:cNvSpPr/>
              <p:nvPr/>
            </p:nvSpPr>
            <p:spPr>
              <a:xfrm>
                <a:off x="6226362" y="2342630"/>
                <a:ext cx="16020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NeXt block 1</a:t>
                </a:r>
                <a:endParaRPr sz="1100"/>
              </a:p>
            </p:txBody>
          </p:sp>
          <p:sp>
            <p:nvSpPr>
              <p:cNvPr id="672" name="Google Shape;672;p34"/>
              <p:cNvSpPr/>
              <p:nvPr/>
            </p:nvSpPr>
            <p:spPr>
              <a:xfrm>
                <a:off x="6166795" y="2624570"/>
                <a:ext cx="1721011" cy="343592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128 × 50 × 44</a:t>
                </a:r>
                <a:endParaRPr sz="1100"/>
              </a:p>
            </p:txBody>
          </p:sp>
        </p:grpSp>
      </p:grpSp>
      <p:grpSp>
        <p:nvGrpSpPr>
          <p:cNvPr id="673" name="Google Shape;673;p34"/>
          <p:cNvGrpSpPr/>
          <p:nvPr/>
        </p:nvGrpSpPr>
        <p:grpSpPr>
          <a:xfrm>
            <a:off x="6243313" y="2485476"/>
            <a:ext cx="1664207" cy="832104"/>
            <a:chOff x="8489787" y="2107738"/>
            <a:chExt cx="2218943" cy="1109472"/>
          </a:xfrm>
        </p:grpSpPr>
        <p:sp>
          <p:nvSpPr>
            <p:cNvPr id="674" name="Google Shape;674;p34"/>
            <p:cNvSpPr/>
            <p:nvPr/>
          </p:nvSpPr>
          <p:spPr>
            <a:xfrm>
              <a:off x="8489787" y="2107738"/>
              <a:ext cx="2218943" cy="1109472"/>
            </a:xfrm>
            <a:prstGeom prst="roundRect">
              <a:avLst>
                <a:gd fmla="val 16667" name="adj"/>
              </a:avLst>
            </a:prstGeom>
            <a:solidFill>
              <a:srgbClr val="DCE8F5"/>
            </a:solidFill>
            <a:ln cap="flat" cmpd="sng" w="163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5" name="Google Shape;675;p34"/>
            <p:cNvGrpSpPr/>
            <p:nvPr/>
          </p:nvGrpSpPr>
          <p:grpSpPr>
            <a:xfrm>
              <a:off x="8738753" y="2342630"/>
              <a:ext cx="1721011" cy="625532"/>
              <a:chOff x="8738753" y="2342630"/>
              <a:chExt cx="1721011" cy="625532"/>
            </a:xfrm>
          </p:grpSpPr>
          <p:sp>
            <p:nvSpPr>
              <p:cNvPr id="676" name="Google Shape;676;p34"/>
              <p:cNvSpPr/>
              <p:nvPr/>
            </p:nvSpPr>
            <p:spPr>
              <a:xfrm>
                <a:off x="8798320" y="2342630"/>
                <a:ext cx="1602000" cy="3780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NeXt block 2</a:t>
                </a:r>
                <a:endParaRPr sz="1100"/>
              </a:p>
            </p:txBody>
          </p:sp>
          <p:sp>
            <p:nvSpPr>
              <p:cNvPr id="677" name="Google Shape;677;p34"/>
              <p:cNvSpPr/>
              <p:nvPr/>
            </p:nvSpPr>
            <p:spPr>
              <a:xfrm>
                <a:off x="8738753" y="2624570"/>
                <a:ext cx="1721011" cy="343592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13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128 × 50 × 44</a:t>
                </a:r>
                <a:endParaRPr sz="1100"/>
              </a:p>
            </p:txBody>
          </p:sp>
        </p:grpSp>
      </p:grpSp>
      <p:cxnSp>
        <p:nvCxnSpPr>
          <p:cNvPr id="678" name="Google Shape;678;p34"/>
          <p:cNvCxnSpPr>
            <a:stCxn id="657" idx="3"/>
            <a:endCxn id="662" idx="1"/>
          </p:cNvCxnSpPr>
          <p:nvPr/>
        </p:nvCxnSpPr>
        <p:spPr>
          <a:xfrm>
            <a:off x="2120615" y="2901528"/>
            <a:ext cx="26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79" name="Google Shape;679;p34"/>
          <p:cNvCxnSpPr>
            <a:stCxn id="662" idx="3"/>
            <a:endCxn id="669" idx="1"/>
          </p:cNvCxnSpPr>
          <p:nvPr/>
        </p:nvCxnSpPr>
        <p:spPr>
          <a:xfrm>
            <a:off x="4049583" y="2901528"/>
            <a:ext cx="26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80" name="Google Shape;680;p34"/>
          <p:cNvCxnSpPr>
            <a:stCxn id="669" idx="3"/>
            <a:endCxn id="674" idx="1"/>
          </p:cNvCxnSpPr>
          <p:nvPr/>
        </p:nvCxnSpPr>
        <p:spPr>
          <a:xfrm>
            <a:off x="5978552" y="2901528"/>
            <a:ext cx="26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681" name="Google Shape;681;p34"/>
          <p:cNvSpPr txBox="1"/>
          <p:nvPr/>
        </p:nvSpPr>
        <p:spPr>
          <a:xfrm>
            <a:off x="426524" y="1265246"/>
            <a:ext cx="2946169" cy="3424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1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Stage 4: Each residual block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5"/>
          <p:cNvSpPr/>
          <p:nvPr/>
        </p:nvSpPr>
        <p:spPr>
          <a:xfrm>
            <a:off x="5919698" y="2334161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3654224" y="2334205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1602355" y="2390812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2877881" y="2413748"/>
            <a:ext cx="531900" cy="45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159588" y="2327449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5"/>
          <p:cNvSpPr/>
          <p:nvPr/>
        </p:nvSpPr>
        <p:spPr>
          <a:xfrm>
            <a:off x="1492171" y="2327449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3" name="Google Shape;693;p35"/>
          <p:cNvGrpSpPr/>
          <p:nvPr/>
        </p:nvGrpSpPr>
        <p:grpSpPr>
          <a:xfrm>
            <a:off x="8053192" y="2467518"/>
            <a:ext cx="294443" cy="327323"/>
            <a:chOff x="9865466" y="3186484"/>
            <a:chExt cx="283800" cy="315492"/>
          </a:xfrm>
        </p:grpSpPr>
        <p:sp>
          <p:nvSpPr>
            <p:cNvPr id="694" name="Google Shape;694;p35"/>
            <p:cNvSpPr/>
            <p:nvPr/>
          </p:nvSpPr>
          <p:spPr>
            <a:xfrm>
              <a:off x="9865466" y="3217276"/>
              <a:ext cx="283800" cy="284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35"/>
            <p:cNvSpPr/>
            <p:nvPr/>
          </p:nvSpPr>
          <p:spPr>
            <a:xfrm>
              <a:off x="9883280" y="3186484"/>
              <a:ext cx="253800" cy="2595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5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γ</a:t>
              </a:r>
              <a:endParaRPr sz="1100"/>
            </a:p>
          </p:txBody>
        </p:sp>
      </p:grpSp>
      <p:grpSp>
        <p:nvGrpSpPr>
          <p:cNvPr id="696" name="Google Shape;696;p35"/>
          <p:cNvGrpSpPr/>
          <p:nvPr/>
        </p:nvGrpSpPr>
        <p:grpSpPr>
          <a:xfrm>
            <a:off x="8547484" y="2489887"/>
            <a:ext cx="294442" cy="300784"/>
            <a:chOff x="11180862" y="3223236"/>
            <a:chExt cx="283800" cy="289912"/>
          </a:xfrm>
        </p:grpSpPr>
        <p:sp>
          <p:nvSpPr>
            <p:cNvPr id="697" name="Google Shape;697;p35"/>
            <p:cNvSpPr/>
            <p:nvPr/>
          </p:nvSpPr>
          <p:spPr>
            <a:xfrm>
              <a:off x="11180862" y="3228448"/>
              <a:ext cx="283800" cy="2847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5"/>
            <p:cNvSpPr/>
            <p:nvPr/>
          </p:nvSpPr>
          <p:spPr>
            <a:xfrm>
              <a:off x="11197870" y="3223236"/>
              <a:ext cx="266700" cy="2595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5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100"/>
            </a:p>
          </p:txBody>
        </p:sp>
      </p:grpSp>
      <p:sp>
        <p:nvSpPr>
          <p:cNvPr id="699" name="Google Shape;699;p35"/>
          <p:cNvSpPr/>
          <p:nvPr/>
        </p:nvSpPr>
        <p:spPr>
          <a:xfrm>
            <a:off x="5052904" y="2425183"/>
            <a:ext cx="674400" cy="45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SiLU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3646689" y="2423526"/>
            <a:ext cx="1217960" cy="51592"/>
          </a:xfrm>
          <a:custGeom>
            <a:rect b="b" l="l" r="r" t="t"/>
            <a:pathLst>
              <a:path extrusionOk="0" h="30393" w="647851">
                <a:moveTo>
                  <a:pt x="0" y="30394"/>
                </a:moveTo>
                <a:lnTo>
                  <a:pt x="41149" y="0"/>
                </a:lnTo>
                <a:lnTo>
                  <a:pt x="647851" y="0"/>
                </a:lnTo>
                <a:lnTo>
                  <a:pt x="606702" y="30394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5"/>
          <p:cNvSpPr/>
          <p:nvPr/>
        </p:nvSpPr>
        <p:spPr>
          <a:xfrm>
            <a:off x="4795204" y="2423520"/>
            <a:ext cx="76535" cy="455310"/>
          </a:xfrm>
          <a:custGeom>
            <a:rect b="b" l="l" r="r" t="t"/>
            <a:pathLst>
              <a:path extrusionOk="0" h="341696" w="41148">
                <a:moveTo>
                  <a:pt x="0" y="341697"/>
                </a:moveTo>
                <a:lnTo>
                  <a:pt x="41149" y="311303"/>
                </a:lnTo>
                <a:lnTo>
                  <a:pt x="41149" y="0"/>
                </a:lnTo>
                <a:lnTo>
                  <a:pt x="0" y="30394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3646690" y="2475154"/>
            <a:ext cx="1148184" cy="403916"/>
          </a:xfrm>
          <a:custGeom>
            <a:rect b="b" l="l" r="r" t="t"/>
            <a:pathLst>
              <a:path extrusionOk="0" h="311303" w="606702">
                <a:moveTo>
                  <a:pt x="0" y="311303"/>
                </a:moveTo>
                <a:lnTo>
                  <a:pt x="606702" y="311303"/>
                </a:lnTo>
                <a:lnTo>
                  <a:pt x="60670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3" name="Google Shape;703;p35"/>
          <p:cNvGrpSpPr/>
          <p:nvPr/>
        </p:nvGrpSpPr>
        <p:grpSpPr>
          <a:xfrm>
            <a:off x="3597497" y="2441986"/>
            <a:ext cx="1354871" cy="425062"/>
            <a:chOff x="4130901" y="3177067"/>
            <a:chExt cx="1305900" cy="409698"/>
          </a:xfrm>
        </p:grpSpPr>
        <p:sp>
          <p:nvSpPr>
            <p:cNvPr id="704" name="Google Shape;704;p35"/>
            <p:cNvSpPr/>
            <p:nvPr/>
          </p:nvSpPr>
          <p:spPr>
            <a:xfrm>
              <a:off x="4130901" y="3177067"/>
              <a:ext cx="1305900" cy="2673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PW 1×1 · expand</a:t>
              </a:r>
              <a:endParaRPr sz="1100"/>
            </a:p>
          </p:txBody>
        </p:sp>
        <p:sp>
          <p:nvSpPr>
            <p:cNvPr id="705" name="Google Shape;705;p35"/>
            <p:cNvSpPr/>
            <p:nvPr/>
          </p:nvSpPr>
          <p:spPr>
            <a:xfrm>
              <a:off x="4160793" y="3343765"/>
              <a:ext cx="1137300" cy="243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>
                  <a:solidFill>
                    <a:srgbClr val="202020"/>
                  </a:solidFill>
                </a:rPr>
                <a:t>320 × 50 × 44</a:t>
              </a:r>
              <a:endParaRPr sz="1100">
                <a:solidFill>
                  <a:srgbClr val="202020"/>
                </a:solidFill>
              </a:endParaRPr>
            </a:p>
          </p:txBody>
        </p:sp>
      </p:grpSp>
      <p:sp>
        <p:nvSpPr>
          <p:cNvPr id="706" name="Google Shape;706;p35"/>
          <p:cNvSpPr/>
          <p:nvPr/>
        </p:nvSpPr>
        <p:spPr>
          <a:xfrm>
            <a:off x="5912163" y="2423480"/>
            <a:ext cx="1217960" cy="51592"/>
          </a:xfrm>
          <a:custGeom>
            <a:rect b="b" l="l" r="r" t="t"/>
            <a:pathLst>
              <a:path extrusionOk="0" h="30393" w="647851">
                <a:moveTo>
                  <a:pt x="0" y="30394"/>
                </a:moveTo>
                <a:lnTo>
                  <a:pt x="41149" y="0"/>
                </a:lnTo>
                <a:lnTo>
                  <a:pt x="647851" y="0"/>
                </a:lnTo>
                <a:lnTo>
                  <a:pt x="606702" y="30394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7060661" y="2423475"/>
            <a:ext cx="76535" cy="455310"/>
          </a:xfrm>
          <a:custGeom>
            <a:rect b="b" l="l" r="r" t="t"/>
            <a:pathLst>
              <a:path extrusionOk="0" h="341696" w="41148">
                <a:moveTo>
                  <a:pt x="0" y="341697"/>
                </a:moveTo>
                <a:lnTo>
                  <a:pt x="41149" y="311303"/>
                </a:lnTo>
                <a:lnTo>
                  <a:pt x="41149" y="0"/>
                </a:lnTo>
                <a:lnTo>
                  <a:pt x="0" y="30394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5912164" y="2475108"/>
            <a:ext cx="1148184" cy="403916"/>
          </a:xfrm>
          <a:custGeom>
            <a:rect b="b" l="l" r="r" t="t"/>
            <a:pathLst>
              <a:path extrusionOk="0" h="311303" w="606702">
                <a:moveTo>
                  <a:pt x="0" y="311303"/>
                </a:moveTo>
                <a:lnTo>
                  <a:pt x="606702" y="311303"/>
                </a:lnTo>
                <a:lnTo>
                  <a:pt x="606702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9" name="Google Shape;709;p35"/>
          <p:cNvGrpSpPr/>
          <p:nvPr/>
        </p:nvGrpSpPr>
        <p:grpSpPr>
          <a:xfrm>
            <a:off x="5860396" y="2452476"/>
            <a:ext cx="1354871" cy="394094"/>
            <a:chOff x="4128361" y="3187177"/>
            <a:chExt cx="1305900" cy="379849"/>
          </a:xfrm>
        </p:grpSpPr>
        <p:sp>
          <p:nvSpPr>
            <p:cNvPr id="710" name="Google Shape;710;p35"/>
            <p:cNvSpPr/>
            <p:nvPr/>
          </p:nvSpPr>
          <p:spPr>
            <a:xfrm>
              <a:off x="4128361" y="3187177"/>
              <a:ext cx="1305900" cy="2673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PW 1×1 · expand</a:t>
              </a:r>
              <a:endParaRPr sz="1100"/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4212495" y="3346226"/>
              <a:ext cx="1034100" cy="2208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>
                  <a:solidFill>
                    <a:srgbClr val="202020"/>
                  </a:solidFill>
                </a:rPr>
                <a:t>128 × 50 × 44</a:t>
              </a:r>
              <a:endParaRPr sz="1100">
                <a:solidFill>
                  <a:srgbClr val="202020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202020"/>
                </a:solidFill>
              </a:endParaRPr>
            </a:p>
          </p:txBody>
        </p:sp>
      </p:grpSp>
      <p:sp>
        <p:nvSpPr>
          <p:cNvPr id="712" name="Google Shape;712;p35"/>
          <p:cNvSpPr/>
          <p:nvPr/>
        </p:nvSpPr>
        <p:spPr>
          <a:xfrm>
            <a:off x="7319384" y="2423475"/>
            <a:ext cx="531900" cy="45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BN</a:t>
            </a:r>
            <a:endParaRPr sz="1100"/>
          </a:p>
        </p:txBody>
      </p:sp>
      <p:sp>
        <p:nvSpPr>
          <p:cNvPr id="713" name="Google Shape;713;p35"/>
          <p:cNvSpPr/>
          <p:nvPr/>
        </p:nvSpPr>
        <p:spPr>
          <a:xfrm>
            <a:off x="1549712" y="2228512"/>
            <a:ext cx="1155248" cy="73703"/>
          </a:xfrm>
          <a:custGeom>
            <a:rect b="b" l="l" r="r" t="t"/>
            <a:pathLst>
              <a:path extrusionOk="0" h="30393" w="476391">
                <a:moveTo>
                  <a:pt x="0" y="30394"/>
                </a:moveTo>
                <a:lnTo>
                  <a:pt x="41150" y="0"/>
                </a:lnTo>
                <a:lnTo>
                  <a:pt x="476392" y="0"/>
                </a:lnTo>
                <a:lnTo>
                  <a:pt x="435243" y="30394"/>
                </a:lnTo>
                <a:close/>
              </a:path>
            </a:pathLst>
          </a:custGeom>
          <a:solidFill>
            <a:srgbClr val="E7EFF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2605654" y="2228512"/>
            <a:ext cx="99786" cy="828613"/>
          </a:xfrm>
          <a:custGeom>
            <a:rect b="b" l="l" r="r" t="t"/>
            <a:pathLst>
              <a:path extrusionOk="0" h="341696" w="41149">
                <a:moveTo>
                  <a:pt x="0" y="341697"/>
                </a:moveTo>
                <a:lnTo>
                  <a:pt x="41149" y="311303"/>
                </a:lnTo>
                <a:lnTo>
                  <a:pt x="41149" y="0"/>
                </a:lnTo>
                <a:lnTo>
                  <a:pt x="0" y="30394"/>
                </a:lnTo>
                <a:close/>
              </a:path>
            </a:pathLst>
          </a:custGeom>
          <a:solidFill>
            <a:srgbClr val="B7C0C9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1549712" y="2302248"/>
            <a:ext cx="1055462" cy="754910"/>
          </a:xfrm>
          <a:custGeom>
            <a:rect b="b" l="l" r="r" t="t"/>
            <a:pathLst>
              <a:path extrusionOk="0" h="311303" w="435242">
                <a:moveTo>
                  <a:pt x="0" y="311303"/>
                </a:moveTo>
                <a:lnTo>
                  <a:pt x="435243" y="311303"/>
                </a:lnTo>
                <a:lnTo>
                  <a:pt x="435243" y="0"/>
                </a:lnTo>
                <a:lnTo>
                  <a:pt x="0" y="0"/>
                </a:ln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1357049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2721753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4086457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5451161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6815866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8180569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179657" y="2347585"/>
            <a:ext cx="1177500" cy="59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3" name="Google Shape;723;p35"/>
          <p:cNvGrpSpPr/>
          <p:nvPr/>
        </p:nvGrpSpPr>
        <p:grpSpPr>
          <a:xfrm>
            <a:off x="215122" y="2458733"/>
            <a:ext cx="1106494" cy="381610"/>
            <a:chOff x="266308" y="3193208"/>
            <a:chExt cx="1066500" cy="367817"/>
          </a:xfrm>
        </p:grpSpPr>
        <p:sp>
          <p:nvSpPr>
            <p:cNvPr id="724" name="Google Shape;724;p35"/>
            <p:cNvSpPr/>
            <p:nvPr/>
          </p:nvSpPr>
          <p:spPr>
            <a:xfrm>
              <a:off x="672650" y="3193208"/>
              <a:ext cx="253800" cy="2208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725" name="Google Shape;725;p35"/>
            <p:cNvSpPr/>
            <p:nvPr/>
          </p:nvSpPr>
          <p:spPr>
            <a:xfrm>
              <a:off x="266308" y="3318025"/>
              <a:ext cx="1066500" cy="243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>
                  <a:solidFill>
                    <a:srgbClr val="202020"/>
                  </a:solidFill>
                </a:rPr>
                <a:t>128 × 50 × 44</a:t>
              </a:r>
              <a:endParaRPr sz="1100">
                <a:solidFill>
                  <a:srgbClr val="202020"/>
                </a:solidFill>
              </a:endParaRPr>
            </a:p>
          </p:txBody>
        </p:sp>
      </p:grpSp>
      <p:grpSp>
        <p:nvGrpSpPr>
          <p:cNvPr id="726" name="Google Shape;726;p35"/>
          <p:cNvGrpSpPr/>
          <p:nvPr/>
        </p:nvGrpSpPr>
        <p:grpSpPr>
          <a:xfrm>
            <a:off x="1522728" y="2447278"/>
            <a:ext cx="1106494" cy="499889"/>
            <a:chOff x="1526651" y="3182167"/>
            <a:chExt cx="1066500" cy="481821"/>
          </a:xfrm>
        </p:grpSpPr>
        <p:sp>
          <p:nvSpPr>
            <p:cNvPr id="727" name="Google Shape;727;p35"/>
            <p:cNvSpPr/>
            <p:nvPr/>
          </p:nvSpPr>
          <p:spPr>
            <a:xfrm>
              <a:off x="1749343" y="3182167"/>
              <a:ext cx="669300" cy="243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1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DW 7×7</a:t>
              </a:r>
              <a:endParaRPr sz="1100"/>
            </a:p>
          </p:txBody>
        </p:sp>
        <p:sp>
          <p:nvSpPr>
            <p:cNvPr id="728" name="Google Shape;728;p35"/>
            <p:cNvSpPr/>
            <p:nvPr/>
          </p:nvSpPr>
          <p:spPr>
            <a:xfrm>
              <a:off x="1526651" y="3420987"/>
              <a:ext cx="1066500" cy="243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z="1100">
                  <a:solidFill>
                    <a:srgbClr val="202020"/>
                  </a:solidFill>
                </a:rPr>
                <a:t>128 × 50 × 44</a:t>
              </a:r>
              <a:endParaRPr sz="1100">
                <a:solidFill>
                  <a:srgbClr val="202020"/>
                </a:solidFill>
              </a:endParaRPr>
            </a:p>
          </p:txBody>
        </p:sp>
      </p:grpSp>
      <p:sp>
        <p:nvSpPr>
          <p:cNvPr id="729" name="Google Shape;729;p35"/>
          <p:cNvSpPr/>
          <p:nvPr/>
        </p:nvSpPr>
        <p:spPr>
          <a:xfrm>
            <a:off x="6983108" y="2327449"/>
            <a:ext cx="1217400" cy="630900"/>
          </a:xfrm>
          <a:prstGeom prst="roundRect">
            <a:avLst>
              <a:gd fmla="val 16667" name="adj"/>
            </a:avLst>
          </a:prstGeom>
          <a:noFill/>
          <a:ln cap="flat" cmpd="sng" w="1287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0" name="Google Shape;730;p35"/>
          <p:cNvCxnSpPr>
            <a:stCxn id="722" idx="3"/>
          </p:cNvCxnSpPr>
          <p:nvPr/>
        </p:nvCxnSpPr>
        <p:spPr>
          <a:xfrm>
            <a:off x="1357157" y="2642935"/>
            <a:ext cx="18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31" name="Google Shape;731;p35"/>
          <p:cNvCxnSpPr>
            <a:stCxn id="692" idx="3"/>
            <a:endCxn id="690" idx="1"/>
          </p:cNvCxnSpPr>
          <p:nvPr/>
        </p:nvCxnSpPr>
        <p:spPr>
          <a:xfrm>
            <a:off x="2709571" y="2642899"/>
            <a:ext cx="16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32" name="Google Shape;732;p35"/>
          <p:cNvCxnSpPr>
            <a:stCxn id="690" idx="3"/>
            <a:endCxn id="688" idx="1"/>
          </p:cNvCxnSpPr>
          <p:nvPr/>
        </p:nvCxnSpPr>
        <p:spPr>
          <a:xfrm>
            <a:off x="3409781" y="2642948"/>
            <a:ext cx="244500" cy="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33" name="Google Shape;733;p35"/>
          <p:cNvCxnSpPr>
            <a:stCxn id="699" idx="3"/>
            <a:endCxn id="687" idx="1"/>
          </p:cNvCxnSpPr>
          <p:nvPr/>
        </p:nvCxnSpPr>
        <p:spPr>
          <a:xfrm flipH="1" rot="10800000">
            <a:off x="5727304" y="2649583"/>
            <a:ext cx="1923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34" name="Google Shape;734;p35"/>
          <p:cNvCxnSpPr>
            <a:stCxn id="688" idx="3"/>
            <a:endCxn id="699" idx="1"/>
          </p:cNvCxnSpPr>
          <p:nvPr/>
        </p:nvCxnSpPr>
        <p:spPr>
          <a:xfrm>
            <a:off x="4871624" y="2649655"/>
            <a:ext cx="181200" cy="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735" name="Google Shape;735;p35"/>
          <p:cNvSpPr/>
          <p:nvPr/>
        </p:nvSpPr>
        <p:spPr>
          <a:xfrm>
            <a:off x="6435350" y="2642910"/>
            <a:ext cx="187200" cy="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6" name="Google Shape;736;p35"/>
          <p:cNvCxnSpPr>
            <a:stCxn id="687" idx="3"/>
            <a:endCxn id="712" idx="1"/>
          </p:cNvCxnSpPr>
          <p:nvPr/>
        </p:nvCxnSpPr>
        <p:spPr>
          <a:xfrm>
            <a:off x="7137098" y="2649611"/>
            <a:ext cx="1824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37" name="Google Shape;737;p35"/>
          <p:cNvCxnSpPr>
            <a:stCxn id="712" idx="3"/>
            <a:endCxn id="694" idx="1"/>
          </p:cNvCxnSpPr>
          <p:nvPr/>
        </p:nvCxnSpPr>
        <p:spPr>
          <a:xfrm flipH="1" rot="10800000">
            <a:off x="7851284" y="2647275"/>
            <a:ext cx="201900" cy="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38" name="Google Shape;738;p35"/>
          <p:cNvCxnSpPr>
            <a:stCxn id="694" idx="3"/>
            <a:endCxn id="697" idx="1"/>
          </p:cNvCxnSpPr>
          <p:nvPr/>
        </p:nvCxnSpPr>
        <p:spPr>
          <a:xfrm flipH="1" rot="10800000">
            <a:off x="8347635" y="2642953"/>
            <a:ext cx="1998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39" name="Google Shape;739;p35"/>
          <p:cNvCxnSpPr>
            <a:stCxn id="691" idx="2"/>
            <a:endCxn id="697" idx="2"/>
          </p:cNvCxnSpPr>
          <p:nvPr/>
        </p:nvCxnSpPr>
        <p:spPr>
          <a:xfrm rot="-5400000">
            <a:off x="4647588" y="-1088651"/>
            <a:ext cx="167700" cy="7926300"/>
          </a:xfrm>
          <a:prstGeom prst="bentConnector3">
            <a:avLst>
              <a:gd fmla="val -248065" name="adj1"/>
            </a:avLst>
          </a:prstGeom>
          <a:noFill/>
          <a:ln cap="flat" cmpd="sng" w="19050">
            <a:solidFill>
              <a:srgbClr val="AEABAB"/>
            </a:solidFill>
            <a:prstDash val="dashDot"/>
            <a:miter lim="8000"/>
            <a:headEnd len="sm" w="sm" type="none"/>
            <a:tailEnd len="med" w="med" type="triangle"/>
          </a:ln>
        </p:spPr>
      </p:cxnSp>
      <p:sp>
        <p:nvSpPr>
          <p:cNvPr id="740" name="Google Shape;740;p35"/>
          <p:cNvSpPr txBox="1"/>
          <p:nvPr/>
        </p:nvSpPr>
        <p:spPr>
          <a:xfrm>
            <a:off x="312224" y="1150946"/>
            <a:ext cx="2946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1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MobilePixorNeXt block Stage </a:t>
            </a:r>
            <a:r>
              <a:rPr b="1" lang="vi" sz="1500">
                <a:solidFill>
                  <a:srgbClr val="242629"/>
                </a:solidFill>
              </a:rPr>
              <a:t>3</a:t>
            </a:r>
            <a:endParaRPr sz="1100"/>
          </a:p>
        </p:txBody>
      </p:sp>
      <p:sp>
        <p:nvSpPr>
          <p:cNvPr id="741" name="Google Shape;741;p35"/>
          <p:cNvSpPr txBox="1"/>
          <p:nvPr/>
        </p:nvSpPr>
        <p:spPr>
          <a:xfrm>
            <a:off x="1710175" y="1862276"/>
            <a:ext cx="5016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Depthwise spatial mixing → pointwise channel expansion → residual</a:t>
            </a:r>
            <a:endParaRPr sz="1100"/>
          </a:p>
        </p:txBody>
      </p:sp>
      <p:sp>
        <p:nvSpPr>
          <p:cNvPr id="742" name="Google Shape;742;p35"/>
          <p:cNvSpPr txBox="1"/>
          <p:nvPr/>
        </p:nvSpPr>
        <p:spPr>
          <a:xfrm>
            <a:off x="2079611" y="3851583"/>
            <a:ext cx="45180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Y = X + γ </a:t>
            </a:r>
            <a:r>
              <a:rPr lang="vi" spc="0" sz="1200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⊙</a:t>
            </a: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F(X) · γ is learned per channel; initialized to 10</a:t>
            </a:r>
            <a:r>
              <a:rPr lang="vi" spc="0" sz="1200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⁻</a:t>
            </a: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⁵</a:t>
            </a:r>
            <a:endParaRPr sz="1100"/>
          </a:p>
        </p:txBody>
      </p:sp>
      <p:sp>
        <p:nvSpPr>
          <p:cNvPr id="743" name="Google Shape;743;p35"/>
          <p:cNvSpPr txBox="1"/>
          <p:nvPr/>
        </p:nvSpPr>
        <p:spPr>
          <a:xfrm>
            <a:off x="4030796" y="3088286"/>
            <a:ext cx="12246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2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Identity shortcut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6"/>
          <p:cNvSpPr txBox="1"/>
          <p:nvPr/>
        </p:nvSpPr>
        <p:spPr>
          <a:xfrm>
            <a:off x="312224" y="783561"/>
            <a:ext cx="2946169" cy="3424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1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SG-FPN fusion - P4</a:t>
            </a:r>
            <a:endParaRPr sz="1100"/>
          </a:p>
        </p:txBody>
      </p:sp>
      <p:grpSp>
        <p:nvGrpSpPr>
          <p:cNvPr id="749" name="Google Shape;749;p36"/>
          <p:cNvGrpSpPr/>
          <p:nvPr/>
        </p:nvGrpSpPr>
        <p:grpSpPr>
          <a:xfrm>
            <a:off x="727555" y="1534041"/>
            <a:ext cx="1197450" cy="597825"/>
            <a:chOff x="970074" y="2045388"/>
            <a:chExt cx="1596600" cy="797100"/>
          </a:xfrm>
        </p:grpSpPr>
        <p:sp>
          <p:nvSpPr>
            <p:cNvPr id="750" name="Google Shape;750;p36"/>
            <p:cNvSpPr/>
            <p:nvPr/>
          </p:nvSpPr>
          <p:spPr>
            <a:xfrm>
              <a:off x="970074" y="2045388"/>
              <a:ext cx="1596600" cy="797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17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1" name="Google Shape;751;p36"/>
            <p:cNvGrpSpPr/>
            <p:nvPr/>
          </p:nvGrpSpPr>
          <p:grpSpPr>
            <a:xfrm>
              <a:off x="1109002" y="2199974"/>
              <a:ext cx="1318800" cy="489905"/>
              <a:chOff x="1109002" y="2199974"/>
              <a:chExt cx="1318800" cy="489905"/>
            </a:xfrm>
          </p:grpSpPr>
          <p:sp>
            <p:nvSpPr>
              <p:cNvPr id="752" name="Google Shape;752;p36"/>
              <p:cNvSpPr/>
              <p:nvPr/>
            </p:nvSpPr>
            <p:spPr>
              <a:xfrm>
                <a:off x="1298616" y="2199974"/>
                <a:ext cx="9396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L · lateral</a:t>
                </a:r>
                <a:endParaRPr sz="1100"/>
              </a:p>
            </p:txBody>
          </p:sp>
          <p:sp>
            <p:nvSpPr>
              <p:cNvPr id="753" name="Google Shape;753;p36"/>
              <p:cNvSpPr/>
              <p:nvPr/>
            </p:nvSpPr>
            <p:spPr>
              <a:xfrm>
                <a:off x="1109002" y="2390179"/>
                <a:ext cx="13188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100 × 88</a:t>
                </a:r>
                <a:endParaRPr sz="1100"/>
              </a:p>
            </p:txBody>
          </p:sp>
        </p:grpSp>
      </p:grpSp>
      <p:grpSp>
        <p:nvGrpSpPr>
          <p:cNvPr id="754" name="Google Shape;754;p36"/>
          <p:cNvGrpSpPr/>
          <p:nvPr/>
        </p:nvGrpSpPr>
        <p:grpSpPr>
          <a:xfrm>
            <a:off x="727556" y="3490432"/>
            <a:ext cx="1197561" cy="597785"/>
            <a:chOff x="970074" y="4653909"/>
            <a:chExt cx="1596748" cy="797047"/>
          </a:xfrm>
        </p:grpSpPr>
        <p:sp>
          <p:nvSpPr>
            <p:cNvPr id="755" name="Google Shape;755;p36"/>
            <p:cNvSpPr/>
            <p:nvPr/>
          </p:nvSpPr>
          <p:spPr>
            <a:xfrm>
              <a:off x="970074" y="4653909"/>
              <a:ext cx="1596748" cy="797047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17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6" name="Google Shape;756;p36"/>
            <p:cNvGrpSpPr/>
            <p:nvPr/>
          </p:nvGrpSpPr>
          <p:grpSpPr>
            <a:xfrm>
              <a:off x="1109002" y="4808495"/>
              <a:ext cx="1318800" cy="489904"/>
              <a:chOff x="1109002" y="4808495"/>
              <a:chExt cx="1318800" cy="489904"/>
            </a:xfrm>
          </p:grpSpPr>
          <p:sp>
            <p:nvSpPr>
              <p:cNvPr id="757" name="Google Shape;757;p36"/>
              <p:cNvSpPr/>
              <p:nvPr/>
            </p:nvSpPr>
            <p:spPr>
              <a:xfrm>
                <a:off x="1153911" y="4808495"/>
                <a:ext cx="12291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U · top-down</a:t>
                </a:r>
                <a:endParaRPr sz="1100"/>
              </a:p>
            </p:txBody>
          </p:sp>
          <p:sp>
            <p:nvSpPr>
              <p:cNvPr id="758" name="Google Shape;758;p36"/>
              <p:cNvSpPr/>
              <p:nvPr/>
            </p:nvSpPr>
            <p:spPr>
              <a:xfrm>
                <a:off x="1109002" y="4998699"/>
                <a:ext cx="13188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100 × 88</a:t>
                </a:r>
                <a:endParaRPr sz="1100"/>
              </a:p>
            </p:txBody>
          </p:sp>
        </p:grpSp>
      </p:grpSp>
      <p:grpSp>
        <p:nvGrpSpPr>
          <p:cNvPr id="759" name="Google Shape;759;p36"/>
          <p:cNvGrpSpPr/>
          <p:nvPr/>
        </p:nvGrpSpPr>
        <p:grpSpPr>
          <a:xfrm>
            <a:off x="2110342" y="2437026"/>
            <a:ext cx="774185" cy="543929"/>
            <a:chOff x="2813789" y="3249368"/>
            <a:chExt cx="1032246" cy="725239"/>
          </a:xfrm>
        </p:grpSpPr>
        <p:sp>
          <p:nvSpPr>
            <p:cNvPr id="760" name="Google Shape;760;p36"/>
            <p:cNvSpPr/>
            <p:nvPr/>
          </p:nvSpPr>
          <p:spPr>
            <a:xfrm>
              <a:off x="3144644" y="3548911"/>
              <a:ext cx="399187" cy="398523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6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3177918" y="3554762"/>
              <a:ext cx="300821" cy="326931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2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100"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2813789" y="3249368"/>
              <a:ext cx="630300" cy="2997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0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L + U</a:t>
              </a:r>
              <a:endParaRPr sz="1100"/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3392414" y="3521739"/>
              <a:ext cx="453621" cy="452868"/>
            </a:xfrm>
            <a:prstGeom prst="roundRect">
              <a:avLst>
                <a:gd fmla="val 16667" name="adj"/>
              </a:avLst>
            </a:prstGeom>
            <a:noFill/>
            <a:ln cap="flat" cmpd="sng" w="18125">
              <a:solidFill>
                <a:srgbClr val="2473AA">
                  <a:alpha val="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4" name="Google Shape;764;p36"/>
          <p:cNvGrpSpPr/>
          <p:nvPr/>
        </p:nvGrpSpPr>
        <p:grpSpPr>
          <a:xfrm>
            <a:off x="2819617" y="2507852"/>
            <a:ext cx="1197561" cy="597785"/>
            <a:chOff x="4671627" y="3349649"/>
            <a:chExt cx="1596748" cy="797047"/>
          </a:xfrm>
        </p:grpSpPr>
        <p:sp>
          <p:nvSpPr>
            <p:cNvPr id="765" name="Google Shape;765;p36"/>
            <p:cNvSpPr/>
            <p:nvPr/>
          </p:nvSpPr>
          <p:spPr>
            <a:xfrm>
              <a:off x="4671627" y="3349649"/>
              <a:ext cx="1596748" cy="797047"/>
            </a:xfrm>
            <a:prstGeom prst="roundRect">
              <a:avLst>
                <a:gd fmla="val 16667" name="adj"/>
              </a:avLst>
            </a:prstGeom>
            <a:solidFill>
              <a:srgbClr val="DCE8F5"/>
            </a:solidFill>
            <a:ln cap="flat" cmpd="sng" w="117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6" name="Google Shape;766;p36"/>
            <p:cNvGrpSpPr/>
            <p:nvPr/>
          </p:nvGrpSpPr>
          <p:grpSpPr>
            <a:xfrm>
              <a:off x="4717161" y="3394147"/>
              <a:ext cx="1505700" cy="695094"/>
              <a:chOff x="4717161" y="3394147"/>
              <a:chExt cx="1505700" cy="695094"/>
            </a:xfrm>
          </p:grpSpPr>
          <p:sp>
            <p:nvSpPr>
              <p:cNvPr id="767" name="Google Shape;767;p36"/>
              <p:cNvSpPr/>
              <p:nvPr/>
            </p:nvSpPr>
            <p:spPr>
              <a:xfrm>
                <a:off x="4717161" y="3394147"/>
                <a:ext cx="1505700" cy="32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DW 3×3 · gate</a:t>
                </a:r>
                <a:endParaRPr sz="1100"/>
              </a:p>
            </p:txBody>
          </p:sp>
          <p:sp>
            <p:nvSpPr>
              <p:cNvPr id="768" name="Google Shape;768;p36"/>
              <p:cNvSpPr/>
              <p:nvPr/>
            </p:nvSpPr>
            <p:spPr>
              <a:xfrm>
                <a:off x="5171713" y="3575598"/>
                <a:ext cx="6204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logits</a:t>
                </a:r>
                <a:endParaRPr sz="1100"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4810555" y="3789541"/>
                <a:ext cx="13188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100 × 88</a:t>
                </a:r>
                <a:endParaRPr sz="1100"/>
              </a:p>
            </p:txBody>
          </p:sp>
        </p:grpSp>
      </p:grpSp>
      <p:grpSp>
        <p:nvGrpSpPr>
          <p:cNvPr id="770" name="Google Shape;770;p36"/>
          <p:cNvGrpSpPr/>
          <p:nvPr/>
        </p:nvGrpSpPr>
        <p:grpSpPr>
          <a:xfrm>
            <a:off x="4317105" y="2512237"/>
            <a:ext cx="1197561" cy="597785"/>
            <a:chOff x="6522404" y="3349649"/>
            <a:chExt cx="1596748" cy="797047"/>
          </a:xfrm>
        </p:grpSpPr>
        <p:sp>
          <p:nvSpPr>
            <p:cNvPr id="771" name="Google Shape;771;p36"/>
            <p:cNvSpPr/>
            <p:nvPr/>
          </p:nvSpPr>
          <p:spPr>
            <a:xfrm>
              <a:off x="6522404" y="3349649"/>
              <a:ext cx="1596748" cy="797047"/>
            </a:xfrm>
            <a:prstGeom prst="roundRect">
              <a:avLst>
                <a:gd fmla="val 16667" name="adj"/>
              </a:avLst>
            </a:prstGeom>
            <a:solidFill>
              <a:srgbClr val="F8CEB4"/>
            </a:solidFill>
            <a:ln cap="flat" cmpd="sng" w="117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2" name="Google Shape;772;p36"/>
            <p:cNvGrpSpPr/>
            <p:nvPr/>
          </p:nvGrpSpPr>
          <p:grpSpPr>
            <a:xfrm>
              <a:off x="6661332" y="3409281"/>
              <a:ext cx="1318800" cy="584857"/>
              <a:chOff x="6661332" y="3409281"/>
              <a:chExt cx="1318800" cy="584857"/>
            </a:xfrm>
          </p:grpSpPr>
          <p:sp>
            <p:nvSpPr>
              <p:cNvPr id="773" name="Google Shape;773;p36"/>
              <p:cNvSpPr/>
              <p:nvPr/>
            </p:nvSpPr>
            <p:spPr>
              <a:xfrm>
                <a:off x="6761129" y="3409281"/>
                <a:ext cx="11193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2 × sigmoid</a:t>
                </a:r>
                <a:endParaRPr sz="1100"/>
              </a:p>
            </p:txBody>
          </p:sp>
          <p:sp>
            <p:nvSpPr>
              <p:cNvPr id="774" name="Google Shape;774;p36"/>
              <p:cNvSpPr/>
              <p:nvPr/>
            </p:nvSpPr>
            <p:spPr>
              <a:xfrm>
                <a:off x="6661332" y="3694439"/>
                <a:ext cx="13188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100 × 88</a:t>
                </a:r>
                <a:endParaRPr sz="1100"/>
              </a:p>
            </p:txBody>
          </p:sp>
        </p:grpSp>
      </p:grpSp>
      <p:sp>
        <p:nvSpPr>
          <p:cNvPr id="775" name="Google Shape;775;p36"/>
          <p:cNvSpPr/>
          <p:nvPr/>
        </p:nvSpPr>
        <p:spPr>
          <a:xfrm>
            <a:off x="6068200" y="2661675"/>
            <a:ext cx="381900" cy="29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6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400">
                <a:solidFill>
                  <a:srgbClr val="202020"/>
                </a:solidFill>
                <a:latin typeface="Cambria Math"/>
                <a:ea typeface="Cambria Math"/>
                <a:cs typeface="Cambria Math"/>
                <a:sym typeface="Cambria Math"/>
              </a:rPr>
              <a:t>⊙</a:t>
            </a:r>
            <a:endParaRPr sz="1100"/>
          </a:p>
        </p:txBody>
      </p:sp>
      <p:sp>
        <p:nvSpPr>
          <p:cNvPr id="776" name="Google Shape;776;p36"/>
          <p:cNvSpPr/>
          <p:nvPr/>
        </p:nvSpPr>
        <p:spPr>
          <a:xfrm>
            <a:off x="5495408" y="2811867"/>
            <a:ext cx="540000" cy="232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0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vi" spc="0" sz="1000">
                <a:solidFill>
                  <a:srgbClr val="202020"/>
                </a:solidFill>
                <a:latin typeface="Cambria Math"/>
                <a:ea typeface="Cambria Math"/>
                <a:cs typeface="Cambria Math"/>
                <a:sym typeface="Cambria Math"/>
              </a:rPr>
              <a:t>⊙ </a:t>
            </a:r>
            <a:r>
              <a:rPr lang="vi" spc="0" sz="10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100"/>
          </a:p>
        </p:txBody>
      </p:sp>
      <p:sp>
        <p:nvSpPr>
          <p:cNvPr id="777" name="Google Shape;777;p36"/>
          <p:cNvSpPr/>
          <p:nvPr/>
        </p:nvSpPr>
        <p:spPr>
          <a:xfrm>
            <a:off x="7642723" y="2664560"/>
            <a:ext cx="299400" cy="29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6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6"/>
          <p:cNvSpPr/>
          <p:nvPr/>
        </p:nvSpPr>
        <p:spPr>
          <a:xfrm>
            <a:off x="7673575" y="2668949"/>
            <a:ext cx="225600" cy="24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779" name="Google Shape;779;p36"/>
          <p:cNvSpPr/>
          <p:nvPr/>
        </p:nvSpPr>
        <p:spPr>
          <a:xfrm>
            <a:off x="6478060" y="2512227"/>
            <a:ext cx="1116300" cy="232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0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P4 = U + G </a:t>
            </a:r>
            <a:r>
              <a:rPr lang="vi" spc="0" sz="1000">
                <a:solidFill>
                  <a:srgbClr val="202020"/>
                </a:solidFill>
                <a:latin typeface="Cambria Math"/>
                <a:ea typeface="Cambria Math"/>
                <a:cs typeface="Cambria Math"/>
                <a:sym typeface="Cambria Math"/>
              </a:rPr>
              <a:t>⊙ </a:t>
            </a:r>
            <a:r>
              <a:rPr lang="vi" spc="0" sz="10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100"/>
          </a:p>
        </p:txBody>
      </p:sp>
      <p:sp>
        <p:nvSpPr>
          <p:cNvPr id="780" name="Google Shape;780;p36"/>
          <p:cNvSpPr/>
          <p:nvPr/>
        </p:nvSpPr>
        <p:spPr>
          <a:xfrm>
            <a:off x="7622310" y="2644181"/>
            <a:ext cx="340200" cy="339600"/>
          </a:xfrm>
          <a:prstGeom prst="roundRect">
            <a:avLst>
              <a:gd fmla="val 16667" name="adj"/>
            </a:avLst>
          </a:prstGeom>
          <a:noFill/>
          <a:ln cap="flat" cmpd="sng" w="1812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p36"/>
          <p:cNvCxnSpPr>
            <a:stCxn id="750" idx="3"/>
            <a:endCxn id="760" idx="1"/>
          </p:cNvCxnSpPr>
          <p:nvPr/>
        </p:nvCxnSpPr>
        <p:spPr>
          <a:xfrm>
            <a:off x="1925006" y="1832954"/>
            <a:ext cx="433500" cy="97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82" name="Google Shape;782;p36"/>
          <p:cNvCxnSpPr>
            <a:stCxn id="755" idx="3"/>
            <a:endCxn id="760" idx="1"/>
          </p:cNvCxnSpPr>
          <p:nvPr/>
        </p:nvCxnSpPr>
        <p:spPr>
          <a:xfrm flipH="1" rot="10800000">
            <a:off x="1925117" y="2811024"/>
            <a:ext cx="433500" cy="97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83" name="Google Shape;783;p36"/>
          <p:cNvCxnSpPr>
            <a:stCxn id="760" idx="3"/>
            <a:endCxn id="765" idx="1"/>
          </p:cNvCxnSpPr>
          <p:nvPr/>
        </p:nvCxnSpPr>
        <p:spPr>
          <a:xfrm flipH="1" rot="10800000">
            <a:off x="2657873" y="2806629"/>
            <a:ext cx="161700" cy="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84" name="Google Shape;784;p36"/>
          <p:cNvCxnSpPr>
            <a:stCxn id="765" idx="3"/>
            <a:endCxn id="771" idx="1"/>
          </p:cNvCxnSpPr>
          <p:nvPr/>
        </p:nvCxnSpPr>
        <p:spPr>
          <a:xfrm>
            <a:off x="4017179" y="2806744"/>
            <a:ext cx="300000" cy="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85" name="Google Shape;785;p36"/>
          <p:cNvCxnSpPr>
            <a:stCxn id="771" idx="3"/>
            <a:endCxn id="775" idx="1"/>
          </p:cNvCxnSpPr>
          <p:nvPr/>
        </p:nvCxnSpPr>
        <p:spPr>
          <a:xfrm>
            <a:off x="5514666" y="2811129"/>
            <a:ext cx="55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86" name="Google Shape;786;p36"/>
          <p:cNvCxnSpPr>
            <a:stCxn id="775" idx="3"/>
            <a:endCxn id="777" idx="1"/>
          </p:cNvCxnSpPr>
          <p:nvPr/>
        </p:nvCxnSpPr>
        <p:spPr>
          <a:xfrm>
            <a:off x="6450100" y="2811075"/>
            <a:ext cx="11925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87" name="Google Shape;787;p36"/>
          <p:cNvCxnSpPr>
            <a:stCxn id="750" idx="3"/>
          </p:cNvCxnSpPr>
          <p:nvPr/>
        </p:nvCxnSpPr>
        <p:spPr>
          <a:xfrm>
            <a:off x="1925006" y="1832954"/>
            <a:ext cx="4137600" cy="977100"/>
          </a:xfrm>
          <a:prstGeom prst="bentConnector3">
            <a:avLst>
              <a:gd fmla="val 93512" name="adj1"/>
            </a:avLst>
          </a:prstGeom>
          <a:noFill/>
          <a:ln cap="flat" cmpd="sng" w="19050">
            <a:solidFill>
              <a:srgbClr val="757070"/>
            </a:solidFill>
            <a:prstDash val="dash"/>
            <a:miter lim="8000"/>
            <a:headEnd len="sm" w="sm" type="none"/>
            <a:tailEnd len="med" w="med" type="triangle"/>
          </a:ln>
        </p:spPr>
      </p:cxnSp>
      <p:cxnSp>
        <p:nvCxnSpPr>
          <p:cNvPr id="788" name="Google Shape;788;p36"/>
          <p:cNvCxnSpPr>
            <a:stCxn id="755" idx="3"/>
            <a:endCxn id="780" idx="1"/>
          </p:cNvCxnSpPr>
          <p:nvPr/>
        </p:nvCxnSpPr>
        <p:spPr>
          <a:xfrm flipH="1" rot="10800000">
            <a:off x="1925116" y="2814024"/>
            <a:ext cx="5697300" cy="975300"/>
          </a:xfrm>
          <a:prstGeom prst="bentConnector3">
            <a:avLst>
              <a:gd fmla="val 90714" name="adj1"/>
            </a:avLst>
          </a:prstGeom>
          <a:noFill/>
          <a:ln cap="flat" cmpd="sng" w="19050">
            <a:solidFill>
              <a:srgbClr val="757070"/>
            </a:solidFill>
            <a:prstDash val="dash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3" name="Google Shape;793;p37"/>
          <p:cNvGrpSpPr/>
          <p:nvPr/>
        </p:nvGrpSpPr>
        <p:grpSpPr>
          <a:xfrm>
            <a:off x="309383" y="1924176"/>
            <a:ext cx="1512541" cy="754911"/>
            <a:chOff x="412511" y="2565568"/>
            <a:chExt cx="2016721" cy="1006548"/>
          </a:xfrm>
        </p:grpSpPr>
        <p:sp>
          <p:nvSpPr>
            <p:cNvPr id="794" name="Google Shape;794;p37"/>
            <p:cNvSpPr/>
            <p:nvPr/>
          </p:nvSpPr>
          <p:spPr>
            <a:xfrm>
              <a:off x="412511" y="2565568"/>
              <a:ext cx="2016721" cy="1006548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48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5" name="Google Shape;795;p37"/>
            <p:cNvGrpSpPr/>
            <p:nvPr/>
          </p:nvGrpSpPr>
          <p:grpSpPr>
            <a:xfrm>
              <a:off x="545110" y="2774004"/>
              <a:ext cx="1751400" cy="592399"/>
              <a:chOff x="545110" y="2774004"/>
              <a:chExt cx="1751400" cy="592399"/>
            </a:xfrm>
          </p:grpSpPr>
          <p:sp>
            <p:nvSpPr>
              <p:cNvPr id="796" name="Google Shape;796;p37"/>
              <p:cNvSpPr/>
              <p:nvPr/>
            </p:nvSpPr>
            <p:spPr>
              <a:xfrm>
                <a:off x="545110" y="2774004"/>
                <a:ext cx="17514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Top-down input</a:t>
                </a:r>
                <a:endParaRPr sz="1100"/>
              </a:p>
            </p:txBody>
          </p:sp>
          <p:sp>
            <p:nvSpPr>
              <p:cNvPr id="797" name="Google Shape;797;p37"/>
              <p:cNvSpPr/>
              <p:nvPr/>
            </p:nvSpPr>
            <p:spPr>
              <a:xfrm>
                <a:off x="677458" y="3014203"/>
                <a:ext cx="14868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50 × 44</a:t>
                </a:r>
                <a:endParaRPr sz="1100"/>
              </a:p>
            </p:txBody>
          </p:sp>
        </p:grpSp>
      </p:grpSp>
      <p:grpSp>
        <p:nvGrpSpPr>
          <p:cNvPr id="798" name="Google Shape;798;p37"/>
          <p:cNvGrpSpPr/>
          <p:nvPr/>
        </p:nvGrpSpPr>
        <p:grpSpPr>
          <a:xfrm>
            <a:off x="2062556" y="1924176"/>
            <a:ext cx="1512541" cy="754911"/>
            <a:chOff x="2750075" y="2565568"/>
            <a:chExt cx="2016721" cy="1006548"/>
          </a:xfrm>
        </p:grpSpPr>
        <p:sp>
          <p:nvSpPr>
            <p:cNvPr id="799" name="Google Shape;799;p37"/>
            <p:cNvSpPr/>
            <p:nvPr/>
          </p:nvSpPr>
          <p:spPr>
            <a:xfrm>
              <a:off x="2750075" y="2565568"/>
              <a:ext cx="2016721" cy="1006548"/>
            </a:xfrm>
            <a:prstGeom prst="roundRect">
              <a:avLst>
                <a:gd fmla="val 16667" name="adj"/>
              </a:avLst>
            </a:prstGeom>
            <a:solidFill>
              <a:srgbClr val="FFE5A1"/>
            </a:solidFill>
            <a:ln cap="flat" cmpd="sng" w="148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0" name="Google Shape;800;p37"/>
            <p:cNvGrpSpPr/>
            <p:nvPr/>
          </p:nvGrpSpPr>
          <p:grpSpPr>
            <a:xfrm>
              <a:off x="2951999" y="2774004"/>
              <a:ext cx="1612800" cy="592399"/>
              <a:chOff x="2951999" y="2774004"/>
              <a:chExt cx="1612800" cy="592399"/>
            </a:xfrm>
          </p:grpSpPr>
          <p:sp>
            <p:nvSpPr>
              <p:cNvPr id="801" name="Google Shape;801;p37"/>
              <p:cNvSpPr/>
              <p:nvPr/>
            </p:nvSpPr>
            <p:spPr>
              <a:xfrm>
                <a:off x="3128462" y="2774004"/>
                <a:ext cx="12600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Bilinear ↑2</a:t>
                </a:r>
                <a:endParaRPr sz="1100"/>
              </a:p>
            </p:txBody>
          </p:sp>
          <p:sp>
            <p:nvSpPr>
              <p:cNvPr id="802" name="Google Shape;802;p37"/>
              <p:cNvSpPr/>
              <p:nvPr/>
            </p:nvSpPr>
            <p:spPr>
              <a:xfrm>
                <a:off x="2951999" y="3014203"/>
                <a:ext cx="16128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100 × 88</a:t>
                </a:r>
                <a:endParaRPr sz="1100"/>
              </a:p>
            </p:txBody>
          </p:sp>
        </p:grpSp>
      </p:grpSp>
      <p:grpSp>
        <p:nvGrpSpPr>
          <p:cNvPr id="803" name="Google Shape;803;p37"/>
          <p:cNvGrpSpPr/>
          <p:nvPr/>
        </p:nvGrpSpPr>
        <p:grpSpPr>
          <a:xfrm>
            <a:off x="3815729" y="1924176"/>
            <a:ext cx="1512541" cy="754911"/>
            <a:chOff x="5087639" y="2565568"/>
            <a:chExt cx="2016721" cy="1006548"/>
          </a:xfrm>
        </p:grpSpPr>
        <p:sp>
          <p:nvSpPr>
            <p:cNvPr id="804" name="Google Shape;804;p37"/>
            <p:cNvSpPr/>
            <p:nvPr/>
          </p:nvSpPr>
          <p:spPr>
            <a:xfrm>
              <a:off x="5087639" y="2565568"/>
              <a:ext cx="2016721" cy="1006548"/>
            </a:xfrm>
            <a:prstGeom prst="roundRect">
              <a:avLst>
                <a:gd fmla="val 16667" name="adj"/>
              </a:avLst>
            </a:prstGeom>
            <a:solidFill>
              <a:srgbClr val="DCE8F5"/>
            </a:solidFill>
            <a:ln cap="flat" cmpd="sng" w="148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5" name="Google Shape;805;p37"/>
            <p:cNvGrpSpPr/>
            <p:nvPr/>
          </p:nvGrpSpPr>
          <p:grpSpPr>
            <a:xfrm>
              <a:off x="5289563" y="2774004"/>
              <a:ext cx="1612800" cy="592399"/>
              <a:chOff x="5289563" y="2774004"/>
              <a:chExt cx="1612800" cy="592399"/>
            </a:xfrm>
          </p:grpSpPr>
          <p:sp>
            <p:nvSpPr>
              <p:cNvPr id="806" name="Google Shape;806;p37"/>
              <p:cNvSpPr/>
              <p:nvPr/>
            </p:nvSpPr>
            <p:spPr>
              <a:xfrm>
                <a:off x="5579466" y="2774004"/>
                <a:ext cx="10332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DW 3×3</a:t>
                </a:r>
                <a:endParaRPr sz="1100"/>
              </a:p>
            </p:txBody>
          </p:sp>
          <p:sp>
            <p:nvSpPr>
              <p:cNvPr id="807" name="Google Shape;807;p37"/>
              <p:cNvSpPr/>
              <p:nvPr/>
            </p:nvSpPr>
            <p:spPr>
              <a:xfrm>
                <a:off x="5289563" y="3014203"/>
                <a:ext cx="16128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100 × 88</a:t>
                </a:r>
                <a:endParaRPr sz="1100"/>
              </a:p>
            </p:txBody>
          </p:sp>
        </p:grpSp>
      </p:grpSp>
      <p:grpSp>
        <p:nvGrpSpPr>
          <p:cNvPr id="808" name="Google Shape;808;p37"/>
          <p:cNvGrpSpPr/>
          <p:nvPr/>
        </p:nvGrpSpPr>
        <p:grpSpPr>
          <a:xfrm>
            <a:off x="5568902" y="1924176"/>
            <a:ext cx="1512541" cy="754911"/>
            <a:chOff x="7425203" y="2565568"/>
            <a:chExt cx="2016721" cy="1006548"/>
          </a:xfrm>
        </p:grpSpPr>
        <p:sp>
          <p:nvSpPr>
            <p:cNvPr id="809" name="Google Shape;809;p37"/>
            <p:cNvSpPr/>
            <p:nvPr/>
          </p:nvSpPr>
          <p:spPr>
            <a:xfrm>
              <a:off x="7425203" y="2565568"/>
              <a:ext cx="2016721" cy="1006548"/>
            </a:xfrm>
            <a:prstGeom prst="roundRect">
              <a:avLst>
                <a:gd fmla="val 16667" name="adj"/>
              </a:avLst>
            </a:prstGeom>
            <a:solidFill>
              <a:srgbClr val="F5F5F5"/>
            </a:solidFill>
            <a:ln cap="flat" cmpd="sng" w="148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0" name="Google Shape;810;p37"/>
            <p:cNvGrpSpPr/>
            <p:nvPr/>
          </p:nvGrpSpPr>
          <p:grpSpPr>
            <a:xfrm>
              <a:off x="7627127" y="2774004"/>
              <a:ext cx="1612800" cy="592399"/>
              <a:chOff x="7627127" y="2774004"/>
              <a:chExt cx="1612800" cy="592399"/>
            </a:xfrm>
          </p:grpSpPr>
          <p:sp>
            <p:nvSpPr>
              <p:cNvPr id="811" name="Google Shape;811;p37"/>
              <p:cNvSpPr/>
              <p:nvPr/>
            </p:nvSpPr>
            <p:spPr>
              <a:xfrm>
                <a:off x="7772079" y="2774004"/>
                <a:ext cx="13230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BatchNorm</a:t>
                </a:r>
                <a:endParaRPr sz="1100"/>
              </a:p>
            </p:txBody>
          </p:sp>
          <p:sp>
            <p:nvSpPr>
              <p:cNvPr id="812" name="Google Shape;812;p37"/>
              <p:cNvSpPr/>
              <p:nvPr/>
            </p:nvSpPr>
            <p:spPr>
              <a:xfrm>
                <a:off x="7627127" y="3014203"/>
                <a:ext cx="16128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100 × 88</a:t>
                </a:r>
                <a:endParaRPr sz="1100"/>
              </a:p>
            </p:txBody>
          </p:sp>
        </p:grpSp>
      </p:grpSp>
      <p:grpSp>
        <p:nvGrpSpPr>
          <p:cNvPr id="813" name="Google Shape;813;p37"/>
          <p:cNvGrpSpPr/>
          <p:nvPr/>
        </p:nvGrpSpPr>
        <p:grpSpPr>
          <a:xfrm>
            <a:off x="7322074" y="1924176"/>
            <a:ext cx="1512541" cy="754911"/>
            <a:chOff x="9762766" y="2565568"/>
            <a:chExt cx="2016721" cy="1006548"/>
          </a:xfrm>
        </p:grpSpPr>
        <p:sp>
          <p:nvSpPr>
            <p:cNvPr id="814" name="Google Shape;814;p37"/>
            <p:cNvSpPr/>
            <p:nvPr/>
          </p:nvSpPr>
          <p:spPr>
            <a:xfrm>
              <a:off x="9762766" y="2565568"/>
              <a:ext cx="2016721" cy="1006548"/>
            </a:xfrm>
            <a:prstGeom prst="roundRect">
              <a:avLst>
                <a:gd fmla="val 16667" name="adj"/>
              </a:avLst>
            </a:prstGeom>
            <a:solidFill>
              <a:srgbClr val="F8CEB4"/>
            </a:solidFill>
            <a:ln cap="flat" cmpd="sng" w="148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5" name="Google Shape;815;p37"/>
            <p:cNvGrpSpPr/>
            <p:nvPr/>
          </p:nvGrpSpPr>
          <p:grpSpPr>
            <a:xfrm>
              <a:off x="9964691" y="2774004"/>
              <a:ext cx="1612800" cy="592399"/>
              <a:chOff x="9964691" y="2774004"/>
              <a:chExt cx="1612800" cy="592399"/>
            </a:xfrm>
          </p:grpSpPr>
          <p:sp>
            <p:nvSpPr>
              <p:cNvPr id="816" name="Google Shape;816;p37"/>
              <p:cNvSpPr/>
              <p:nvPr/>
            </p:nvSpPr>
            <p:spPr>
              <a:xfrm>
                <a:off x="10424756" y="2774004"/>
                <a:ext cx="6927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SiLU</a:t>
                </a:r>
                <a:endParaRPr sz="1100"/>
              </a:p>
            </p:txBody>
          </p:sp>
          <p:sp>
            <p:nvSpPr>
              <p:cNvPr id="817" name="Google Shape;817;p37"/>
              <p:cNvSpPr/>
              <p:nvPr/>
            </p:nvSpPr>
            <p:spPr>
              <a:xfrm>
                <a:off x="9964691" y="3014203"/>
                <a:ext cx="16128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100 × 88</a:t>
                </a:r>
                <a:endParaRPr sz="1100"/>
              </a:p>
            </p:txBody>
          </p:sp>
        </p:grpSp>
      </p:grpSp>
      <p:cxnSp>
        <p:nvCxnSpPr>
          <p:cNvPr id="818" name="Google Shape;818;p37"/>
          <p:cNvCxnSpPr>
            <a:stCxn id="794" idx="3"/>
            <a:endCxn id="799" idx="1"/>
          </p:cNvCxnSpPr>
          <p:nvPr/>
        </p:nvCxnSpPr>
        <p:spPr>
          <a:xfrm>
            <a:off x="1821924" y="2301632"/>
            <a:ext cx="2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9" name="Google Shape;819;p37"/>
          <p:cNvCxnSpPr>
            <a:stCxn id="799" idx="3"/>
            <a:endCxn id="804" idx="1"/>
          </p:cNvCxnSpPr>
          <p:nvPr/>
        </p:nvCxnSpPr>
        <p:spPr>
          <a:xfrm>
            <a:off x="3575097" y="2301632"/>
            <a:ext cx="2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0" name="Google Shape;820;p37"/>
          <p:cNvCxnSpPr>
            <a:stCxn id="804" idx="3"/>
            <a:endCxn id="809" idx="1"/>
          </p:cNvCxnSpPr>
          <p:nvPr/>
        </p:nvCxnSpPr>
        <p:spPr>
          <a:xfrm>
            <a:off x="5328270" y="2301632"/>
            <a:ext cx="2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1" name="Google Shape;821;p37"/>
          <p:cNvCxnSpPr>
            <a:stCxn id="809" idx="3"/>
            <a:endCxn id="814" idx="1"/>
          </p:cNvCxnSpPr>
          <p:nvPr/>
        </p:nvCxnSpPr>
        <p:spPr>
          <a:xfrm>
            <a:off x="7081443" y="2301632"/>
            <a:ext cx="2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2" name="Google Shape;822;p37"/>
          <p:cNvSpPr txBox="1"/>
          <p:nvPr/>
        </p:nvSpPr>
        <p:spPr>
          <a:xfrm>
            <a:off x="312224" y="783561"/>
            <a:ext cx="2946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>
                <a:solidFill>
                  <a:srgbClr val="242629"/>
                </a:solidFill>
              </a:rPr>
              <a:t>Top-Down sampling U4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8"/>
          <p:cNvSpPr txBox="1"/>
          <p:nvPr/>
        </p:nvSpPr>
        <p:spPr>
          <a:xfrm>
            <a:off x="323299" y="783561"/>
            <a:ext cx="2946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1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SG-FPN fusion - P</a:t>
            </a:r>
            <a:r>
              <a:rPr b="1" lang="vi" sz="1500">
                <a:solidFill>
                  <a:srgbClr val="242629"/>
                </a:solidFill>
              </a:rPr>
              <a:t>3</a:t>
            </a:r>
            <a:endParaRPr sz="1100"/>
          </a:p>
        </p:txBody>
      </p:sp>
      <p:grpSp>
        <p:nvGrpSpPr>
          <p:cNvPr id="828" name="Google Shape;828;p38"/>
          <p:cNvGrpSpPr/>
          <p:nvPr/>
        </p:nvGrpSpPr>
        <p:grpSpPr>
          <a:xfrm>
            <a:off x="727555" y="1534041"/>
            <a:ext cx="1197450" cy="597825"/>
            <a:chOff x="970074" y="2045388"/>
            <a:chExt cx="1596600" cy="797100"/>
          </a:xfrm>
        </p:grpSpPr>
        <p:sp>
          <p:nvSpPr>
            <p:cNvPr id="829" name="Google Shape;829;p38"/>
            <p:cNvSpPr/>
            <p:nvPr/>
          </p:nvSpPr>
          <p:spPr>
            <a:xfrm>
              <a:off x="970074" y="2045388"/>
              <a:ext cx="1596600" cy="797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17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30" name="Google Shape;830;p38"/>
            <p:cNvGrpSpPr/>
            <p:nvPr/>
          </p:nvGrpSpPr>
          <p:grpSpPr>
            <a:xfrm>
              <a:off x="1109000" y="2199974"/>
              <a:ext cx="1374600" cy="489893"/>
              <a:chOff x="1109000" y="2199974"/>
              <a:chExt cx="1374600" cy="489893"/>
            </a:xfrm>
          </p:grpSpPr>
          <p:sp>
            <p:nvSpPr>
              <p:cNvPr id="831" name="Google Shape;831;p38"/>
              <p:cNvSpPr/>
              <p:nvPr/>
            </p:nvSpPr>
            <p:spPr>
              <a:xfrm>
                <a:off x="1298616" y="2199974"/>
                <a:ext cx="9396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L · lateral</a:t>
                </a:r>
                <a:endParaRPr sz="1100"/>
              </a:p>
            </p:txBody>
          </p:sp>
          <p:sp>
            <p:nvSpPr>
              <p:cNvPr id="832" name="Google Shape;832;p38"/>
              <p:cNvSpPr/>
              <p:nvPr/>
            </p:nvSpPr>
            <p:spPr>
              <a:xfrm>
                <a:off x="1109000" y="2390167"/>
                <a:ext cx="13746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1000">
                    <a:solidFill>
                      <a:srgbClr val="202020"/>
                    </a:solidFill>
                  </a:rPr>
                  <a:t>24</a:t>
                </a: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 × </a:t>
                </a:r>
                <a:r>
                  <a:rPr lang="vi" sz="1000">
                    <a:solidFill>
                      <a:srgbClr val="202020"/>
                    </a:solidFill>
                  </a:rPr>
                  <a:t>2</a:t>
                </a: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00 × </a:t>
                </a:r>
                <a:r>
                  <a:rPr lang="vi" sz="1000">
                    <a:solidFill>
                      <a:srgbClr val="202020"/>
                    </a:solidFill>
                  </a:rPr>
                  <a:t>176</a:t>
                </a:r>
                <a:endParaRPr sz="1100"/>
              </a:p>
            </p:txBody>
          </p:sp>
        </p:grpSp>
      </p:grpSp>
      <p:grpSp>
        <p:nvGrpSpPr>
          <p:cNvPr id="833" name="Google Shape;833;p38"/>
          <p:cNvGrpSpPr/>
          <p:nvPr/>
        </p:nvGrpSpPr>
        <p:grpSpPr>
          <a:xfrm>
            <a:off x="727555" y="3490432"/>
            <a:ext cx="1197450" cy="597825"/>
            <a:chOff x="970074" y="4653909"/>
            <a:chExt cx="1596600" cy="797100"/>
          </a:xfrm>
        </p:grpSpPr>
        <p:sp>
          <p:nvSpPr>
            <p:cNvPr id="834" name="Google Shape;834;p38"/>
            <p:cNvSpPr/>
            <p:nvPr/>
          </p:nvSpPr>
          <p:spPr>
            <a:xfrm>
              <a:off x="970074" y="4653909"/>
              <a:ext cx="1596600" cy="797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17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35" name="Google Shape;835;p38"/>
            <p:cNvGrpSpPr/>
            <p:nvPr/>
          </p:nvGrpSpPr>
          <p:grpSpPr>
            <a:xfrm>
              <a:off x="1109000" y="4808495"/>
              <a:ext cx="1416000" cy="489905"/>
              <a:chOff x="1109000" y="4808495"/>
              <a:chExt cx="1416000" cy="489905"/>
            </a:xfrm>
          </p:grpSpPr>
          <p:sp>
            <p:nvSpPr>
              <p:cNvPr id="836" name="Google Shape;836;p38"/>
              <p:cNvSpPr/>
              <p:nvPr/>
            </p:nvSpPr>
            <p:spPr>
              <a:xfrm>
                <a:off x="1153911" y="4808495"/>
                <a:ext cx="12291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U · top-down</a:t>
                </a:r>
                <a:endParaRPr sz="1100"/>
              </a:p>
            </p:txBody>
          </p:sp>
          <p:sp>
            <p:nvSpPr>
              <p:cNvPr id="837" name="Google Shape;837;p38"/>
              <p:cNvSpPr/>
              <p:nvPr/>
            </p:nvSpPr>
            <p:spPr>
              <a:xfrm>
                <a:off x="1109000" y="4998700"/>
                <a:ext cx="14160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vi" sz="1000">
                    <a:solidFill>
                      <a:srgbClr val="202020"/>
                    </a:solidFill>
                  </a:rPr>
                  <a:t>24 × 200 × 176</a:t>
                </a:r>
                <a:endParaRPr sz="1100">
                  <a:solidFill>
                    <a:schemeClr val="dk1"/>
                  </a:solidFill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rgbClr val="202020"/>
                  </a:solidFill>
                </a:endParaRPr>
              </a:p>
            </p:txBody>
          </p:sp>
        </p:grpSp>
      </p:grpSp>
      <p:grpSp>
        <p:nvGrpSpPr>
          <p:cNvPr id="838" name="Google Shape;838;p38"/>
          <p:cNvGrpSpPr/>
          <p:nvPr/>
        </p:nvGrpSpPr>
        <p:grpSpPr>
          <a:xfrm>
            <a:off x="2110342" y="2437026"/>
            <a:ext cx="774169" cy="544028"/>
            <a:chOff x="2813789" y="3249368"/>
            <a:chExt cx="1032225" cy="725371"/>
          </a:xfrm>
        </p:grpSpPr>
        <p:sp>
          <p:nvSpPr>
            <p:cNvPr id="839" name="Google Shape;839;p38"/>
            <p:cNvSpPr/>
            <p:nvPr/>
          </p:nvSpPr>
          <p:spPr>
            <a:xfrm>
              <a:off x="3144644" y="3548911"/>
              <a:ext cx="399300" cy="398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6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38"/>
            <p:cNvSpPr/>
            <p:nvPr/>
          </p:nvSpPr>
          <p:spPr>
            <a:xfrm>
              <a:off x="3177918" y="3554762"/>
              <a:ext cx="300900" cy="3270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2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100"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2813789" y="3249368"/>
              <a:ext cx="630300" cy="2997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10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L + U</a:t>
              </a:r>
              <a:endParaRPr sz="1100"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3392414" y="3521739"/>
              <a:ext cx="453600" cy="453000"/>
            </a:xfrm>
            <a:prstGeom prst="roundRect">
              <a:avLst>
                <a:gd fmla="val 16667" name="adj"/>
              </a:avLst>
            </a:prstGeom>
            <a:noFill/>
            <a:ln cap="flat" cmpd="sng" w="18125">
              <a:solidFill>
                <a:srgbClr val="2473AA">
                  <a:alpha val="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3" name="Google Shape;843;p38"/>
          <p:cNvGrpSpPr/>
          <p:nvPr/>
        </p:nvGrpSpPr>
        <p:grpSpPr>
          <a:xfrm>
            <a:off x="2819618" y="2507852"/>
            <a:ext cx="1197450" cy="597825"/>
            <a:chOff x="4671627" y="3349649"/>
            <a:chExt cx="1596600" cy="797100"/>
          </a:xfrm>
        </p:grpSpPr>
        <p:sp>
          <p:nvSpPr>
            <p:cNvPr id="844" name="Google Shape;844;p38"/>
            <p:cNvSpPr/>
            <p:nvPr/>
          </p:nvSpPr>
          <p:spPr>
            <a:xfrm>
              <a:off x="4671627" y="3349649"/>
              <a:ext cx="1596600" cy="797100"/>
            </a:xfrm>
            <a:prstGeom prst="roundRect">
              <a:avLst>
                <a:gd fmla="val 16667" name="adj"/>
              </a:avLst>
            </a:prstGeom>
            <a:solidFill>
              <a:srgbClr val="DCE8F5"/>
            </a:solidFill>
            <a:ln cap="flat" cmpd="sng" w="117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5" name="Google Shape;845;p38"/>
            <p:cNvGrpSpPr/>
            <p:nvPr/>
          </p:nvGrpSpPr>
          <p:grpSpPr>
            <a:xfrm>
              <a:off x="4717161" y="3394147"/>
              <a:ext cx="1505810" cy="695100"/>
              <a:chOff x="4717161" y="3394147"/>
              <a:chExt cx="1505810" cy="695100"/>
            </a:xfrm>
          </p:grpSpPr>
          <p:sp>
            <p:nvSpPr>
              <p:cNvPr id="846" name="Google Shape;846;p38"/>
              <p:cNvSpPr/>
              <p:nvPr/>
            </p:nvSpPr>
            <p:spPr>
              <a:xfrm>
                <a:off x="4717161" y="3394147"/>
                <a:ext cx="1505700" cy="32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DW 3×3 · gate</a:t>
                </a:r>
                <a:endParaRPr sz="1100"/>
              </a:p>
            </p:txBody>
          </p:sp>
          <p:sp>
            <p:nvSpPr>
              <p:cNvPr id="847" name="Google Shape;847;p38"/>
              <p:cNvSpPr/>
              <p:nvPr/>
            </p:nvSpPr>
            <p:spPr>
              <a:xfrm>
                <a:off x="5171713" y="3575598"/>
                <a:ext cx="6204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logits</a:t>
                </a:r>
                <a:endParaRPr sz="1100"/>
              </a:p>
            </p:txBody>
          </p:sp>
          <p:sp>
            <p:nvSpPr>
              <p:cNvPr id="848" name="Google Shape;848;p38"/>
              <p:cNvSpPr/>
              <p:nvPr/>
            </p:nvSpPr>
            <p:spPr>
              <a:xfrm>
                <a:off x="4810571" y="3789547"/>
                <a:ext cx="14124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1000">
                    <a:solidFill>
                      <a:srgbClr val="202020"/>
                    </a:solidFill>
                  </a:rPr>
                  <a:t>24 </a:t>
                </a: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× </a:t>
                </a:r>
                <a:r>
                  <a:rPr lang="vi" sz="1000">
                    <a:solidFill>
                      <a:srgbClr val="202020"/>
                    </a:solidFill>
                  </a:rPr>
                  <a:t>2</a:t>
                </a: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00 × </a:t>
                </a:r>
                <a:r>
                  <a:rPr lang="vi" sz="1000">
                    <a:solidFill>
                      <a:srgbClr val="202020"/>
                    </a:solidFill>
                  </a:rPr>
                  <a:t>176</a:t>
                </a:r>
                <a:endParaRPr sz="1100"/>
              </a:p>
            </p:txBody>
          </p:sp>
        </p:grpSp>
      </p:grpSp>
      <p:grpSp>
        <p:nvGrpSpPr>
          <p:cNvPr id="849" name="Google Shape;849;p38"/>
          <p:cNvGrpSpPr/>
          <p:nvPr/>
        </p:nvGrpSpPr>
        <p:grpSpPr>
          <a:xfrm>
            <a:off x="4317105" y="2512237"/>
            <a:ext cx="1197450" cy="597825"/>
            <a:chOff x="6522404" y="3349649"/>
            <a:chExt cx="1596600" cy="797100"/>
          </a:xfrm>
        </p:grpSpPr>
        <p:sp>
          <p:nvSpPr>
            <p:cNvPr id="850" name="Google Shape;850;p38"/>
            <p:cNvSpPr/>
            <p:nvPr/>
          </p:nvSpPr>
          <p:spPr>
            <a:xfrm>
              <a:off x="6522404" y="3349649"/>
              <a:ext cx="1596600" cy="797100"/>
            </a:xfrm>
            <a:prstGeom prst="roundRect">
              <a:avLst>
                <a:gd fmla="val 16667" name="adj"/>
              </a:avLst>
            </a:prstGeom>
            <a:solidFill>
              <a:srgbClr val="F8CEB4"/>
            </a:solidFill>
            <a:ln cap="flat" cmpd="sng" w="117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51" name="Google Shape;851;p38"/>
            <p:cNvGrpSpPr/>
            <p:nvPr/>
          </p:nvGrpSpPr>
          <p:grpSpPr>
            <a:xfrm>
              <a:off x="6661331" y="3409281"/>
              <a:ext cx="1432200" cy="584852"/>
              <a:chOff x="6661331" y="3409281"/>
              <a:chExt cx="1432200" cy="584852"/>
            </a:xfrm>
          </p:grpSpPr>
          <p:sp>
            <p:nvSpPr>
              <p:cNvPr id="852" name="Google Shape;852;p38"/>
              <p:cNvSpPr/>
              <p:nvPr/>
            </p:nvSpPr>
            <p:spPr>
              <a:xfrm>
                <a:off x="6761129" y="3409281"/>
                <a:ext cx="11193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0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2 × sigmoid</a:t>
                </a:r>
                <a:endParaRPr sz="1100"/>
              </a:p>
            </p:txBody>
          </p:sp>
          <p:sp>
            <p:nvSpPr>
              <p:cNvPr id="853" name="Google Shape;853;p38"/>
              <p:cNvSpPr/>
              <p:nvPr/>
            </p:nvSpPr>
            <p:spPr>
              <a:xfrm>
                <a:off x="6661331" y="3694433"/>
                <a:ext cx="1432200" cy="2997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vi" sz="1000">
                    <a:solidFill>
                      <a:srgbClr val="202020"/>
                    </a:solidFill>
                  </a:rPr>
                  <a:t>24 × 200 × 176</a:t>
                </a:r>
                <a:endParaRPr sz="1100">
                  <a:solidFill>
                    <a:schemeClr val="dk1"/>
                  </a:solidFill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rgbClr val="202020"/>
                  </a:solidFill>
                </a:endParaRPr>
              </a:p>
            </p:txBody>
          </p:sp>
        </p:grpSp>
      </p:grpSp>
      <p:sp>
        <p:nvSpPr>
          <p:cNvPr id="854" name="Google Shape;854;p38"/>
          <p:cNvSpPr/>
          <p:nvPr/>
        </p:nvSpPr>
        <p:spPr>
          <a:xfrm>
            <a:off x="6068200" y="2661675"/>
            <a:ext cx="381900" cy="29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6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400">
                <a:solidFill>
                  <a:srgbClr val="202020"/>
                </a:solidFill>
                <a:latin typeface="Cambria Math"/>
                <a:ea typeface="Cambria Math"/>
                <a:cs typeface="Cambria Math"/>
                <a:sym typeface="Cambria Math"/>
              </a:rPr>
              <a:t>⊙</a:t>
            </a:r>
            <a:endParaRPr sz="1100"/>
          </a:p>
        </p:txBody>
      </p:sp>
      <p:sp>
        <p:nvSpPr>
          <p:cNvPr id="855" name="Google Shape;855;p38"/>
          <p:cNvSpPr/>
          <p:nvPr/>
        </p:nvSpPr>
        <p:spPr>
          <a:xfrm>
            <a:off x="5495408" y="2811867"/>
            <a:ext cx="540000" cy="232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0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vi" spc="0" sz="1000">
                <a:solidFill>
                  <a:srgbClr val="202020"/>
                </a:solidFill>
                <a:latin typeface="Cambria Math"/>
                <a:ea typeface="Cambria Math"/>
                <a:cs typeface="Cambria Math"/>
                <a:sym typeface="Cambria Math"/>
              </a:rPr>
              <a:t>⊙ </a:t>
            </a:r>
            <a:r>
              <a:rPr lang="vi" spc="0" sz="10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100"/>
          </a:p>
        </p:txBody>
      </p:sp>
      <p:sp>
        <p:nvSpPr>
          <p:cNvPr id="856" name="Google Shape;856;p38"/>
          <p:cNvSpPr/>
          <p:nvPr/>
        </p:nvSpPr>
        <p:spPr>
          <a:xfrm>
            <a:off x="7642723" y="2664560"/>
            <a:ext cx="299400" cy="29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6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8"/>
          <p:cNvSpPr/>
          <p:nvPr/>
        </p:nvSpPr>
        <p:spPr>
          <a:xfrm>
            <a:off x="7673575" y="2668949"/>
            <a:ext cx="225600" cy="24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858" name="Google Shape;858;p38"/>
          <p:cNvSpPr/>
          <p:nvPr/>
        </p:nvSpPr>
        <p:spPr>
          <a:xfrm>
            <a:off x="6478060" y="2512215"/>
            <a:ext cx="1116300" cy="232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0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P4 = U + G </a:t>
            </a:r>
            <a:r>
              <a:rPr lang="vi" spc="0" sz="1000">
                <a:solidFill>
                  <a:srgbClr val="202020"/>
                </a:solidFill>
                <a:latin typeface="Cambria Math"/>
                <a:ea typeface="Cambria Math"/>
                <a:cs typeface="Cambria Math"/>
                <a:sym typeface="Cambria Math"/>
              </a:rPr>
              <a:t>⊙ </a:t>
            </a:r>
            <a:r>
              <a:rPr lang="vi" spc="0" sz="10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100"/>
          </a:p>
        </p:txBody>
      </p:sp>
      <p:sp>
        <p:nvSpPr>
          <p:cNvPr id="859" name="Google Shape;859;p38"/>
          <p:cNvSpPr/>
          <p:nvPr/>
        </p:nvSpPr>
        <p:spPr>
          <a:xfrm>
            <a:off x="7622310" y="2644181"/>
            <a:ext cx="340200" cy="339600"/>
          </a:xfrm>
          <a:prstGeom prst="roundRect">
            <a:avLst>
              <a:gd fmla="val 16667" name="adj"/>
            </a:avLst>
          </a:prstGeom>
          <a:noFill/>
          <a:ln cap="flat" cmpd="sng" w="18125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0" name="Google Shape;860;p38"/>
          <p:cNvCxnSpPr>
            <a:stCxn id="829" idx="3"/>
            <a:endCxn id="839" idx="1"/>
          </p:cNvCxnSpPr>
          <p:nvPr/>
        </p:nvCxnSpPr>
        <p:spPr>
          <a:xfrm>
            <a:off x="1925006" y="1832954"/>
            <a:ext cx="433500" cy="97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61" name="Google Shape;861;p38"/>
          <p:cNvCxnSpPr>
            <a:stCxn id="834" idx="3"/>
            <a:endCxn id="839" idx="1"/>
          </p:cNvCxnSpPr>
          <p:nvPr/>
        </p:nvCxnSpPr>
        <p:spPr>
          <a:xfrm flipH="1" rot="10800000">
            <a:off x="1925006" y="2811044"/>
            <a:ext cx="433500" cy="97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62" name="Google Shape;862;p38"/>
          <p:cNvCxnSpPr>
            <a:stCxn id="839" idx="3"/>
            <a:endCxn id="844" idx="1"/>
          </p:cNvCxnSpPr>
          <p:nvPr/>
        </p:nvCxnSpPr>
        <p:spPr>
          <a:xfrm flipH="1" rot="10800000">
            <a:off x="2657958" y="2806883"/>
            <a:ext cx="1617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63" name="Google Shape;863;p38"/>
          <p:cNvCxnSpPr>
            <a:stCxn id="844" idx="3"/>
            <a:endCxn id="850" idx="1"/>
          </p:cNvCxnSpPr>
          <p:nvPr/>
        </p:nvCxnSpPr>
        <p:spPr>
          <a:xfrm>
            <a:off x="4017068" y="2806764"/>
            <a:ext cx="300000" cy="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64" name="Google Shape;864;p38"/>
          <p:cNvCxnSpPr>
            <a:stCxn id="850" idx="3"/>
            <a:endCxn id="854" idx="1"/>
          </p:cNvCxnSpPr>
          <p:nvPr/>
        </p:nvCxnSpPr>
        <p:spPr>
          <a:xfrm>
            <a:off x="5514555" y="2811149"/>
            <a:ext cx="55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65" name="Google Shape;865;p38"/>
          <p:cNvCxnSpPr>
            <a:stCxn id="854" idx="3"/>
            <a:endCxn id="856" idx="1"/>
          </p:cNvCxnSpPr>
          <p:nvPr/>
        </p:nvCxnSpPr>
        <p:spPr>
          <a:xfrm>
            <a:off x="6450100" y="2811075"/>
            <a:ext cx="1192500" cy="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66" name="Google Shape;866;p38"/>
          <p:cNvCxnSpPr>
            <a:stCxn id="829" idx="3"/>
          </p:cNvCxnSpPr>
          <p:nvPr/>
        </p:nvCxnSpPr>
        <p:spPr>
          <a:xfrm>
            <a:off x="1925006" y="1832954"/>
            <a:ext cx="4137600" cy="977100"/>
          </a:xfrm>
          <a:prstGeom prst="bentConnector3">
            <a:avLst>
              <a:gd fmla="val 93512" name="adj1"/>
            </a:avLst>
          </a:prstGeom>
          <a:noFill/>
          <a:ln cap="flat" cmpd="sng" w="19050">
            <a:solidFill>
              <a:srgbClr val="757070"/>
            </a:solidFill>
            <a:prstDash val="dash"/>
            <a:miter lim="8000"/>
            <a:headEnd len="sm" w="sm" type="none"/>
            <a:tailEnd len="med" w="med" type="triangle"/>
          </a:ln>
        </p:spPr>
      </p:cxnSp>
      <p:cxnSp>
        <p:nvCxnSpPr>
          <p:cNvPr id="867" name="Google Shape;867;p38"/>
          <p:cNvCxnSpPr>
            <a:stCxn id="834" idx="3"/>
            <a:endCxn id="859" idx="1"/>
          </p:cNvCxnSpPr>
          <p:nvPr/>
        </p:nvCxnSpPr>
        <p:spPr>
          <a:xfrm flipH="1" rot="10800000">
            <a:off x="1925006" y="2814044"/>
            <a:ext cx="5697300" cy="975300"/>
          </a:xfrm>
          <a:prstGeom prst="bentConnector3">
            <a:avLst>
              <a:gd fmla="val 90714" name="adj1"/>
            </a:avLst>
          </a:prstGeom>
          <a:noFill/>
          <a:ln cap="flat" cmpd="sng" w="19050">
            <a:solidFill>
              <a:srgbClr val="757070"/>
            </a:solidFill>
            <a:prstDash val="dash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39"/>
          <p:cNvGrpSpPr/>
          <p:nvPr/>
        </p:nvGrpSpPr>
        <p:grpSpPr>
          <a:xfrm>
            <a:off x="309383" y="1924176"/>
            <a:ext cx="1512450" cy="754875"/>
            <a:chOff x="412511" y="2565568"/>
            <a:chExt cx="2016600" cy="1006500"/>
          </a:xfrm>
        </p:grpSpPr>
        <p:sp>
          <p:nvSpPr>
            <p:cNvPr id="873" name="Google Shape;873;p39"/>
            <p:cNvSpPr/>
            <p:nvPr/>
          </p:nvSpPr>
          <p:spPr>
            <a:xfrm>
              <a:off x="412511" y="2565568"/>
              <a:ext cx="2016600" cy="1006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48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4" name="Google Shape;874;p39"/>
            <p:cNvGrpSpPr/>
            <p:nvPr/>
          </p:nvGrpSpPr>
          <p:grpSpPr>
            <a:xfrm>
              <a:off x="545110" y="2774004"/>
              <a:ext cx="1751400" cy="592399"/>
              <a:chOff x="545110" y="2774004"/>
              <a:chExt cx="1751400" cy="592399"/>
            </a:xfrm>
          </p:grpSpPr>
          <p:sp>
            <p:nvSpPr>
              <p:cNvPr id="875" name="Google Shape;875;p39"/>
              <p:cNvSpPr/>
              <p:nvPr/>
            </p:nvSpPr>
            <p:spPr>
              <a:xfrm>
                <a:off x="545110" y="2774004"/>
                <a:ext cx="17514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Top-down input</a:t>
                </a:r>
                <a:endParaRPr sz="1100"/>
              </a:p>
            </p:txBody>
          </p:sp>
          <p:sp>
            <p:nvSpPr>
              <p:cNvPr id="876" name="Google Shape;876;p39"/>
              <p:cNvSpPr/>
              <p:nvPr/>
            </p:nvSpPr>
            <p:spPr>
              <a:xfrm>
                <a:off x="677458" y="3014203"/>
                <a:ext cx="14868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</a:t>
                </a:r>
                <a:r>
                  <a:rPr lang="vi" sz="1200">
                    <a:solidFill>
                      <a:srgbClr val="202020"/>
                    </a:solidFill>
                  </a:rPr>
                  <a:t>100 </a:t>
                </a: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× </a:t>
                </a:r>
                <a:r>
                  <a:rPr lang="vi" sz="1200">
                    <a:solidFill>
                      <a:srgbClr val="202020"/>
                    </a:solidFill>
                  </a:rPr>
                  <a:t>88</a:t>
                </a:r>
                <a:endParaRPr sz="1100"/>
              </a:p>
            </p:txBody>
          </p:sp>
        </p:grpSp>
      </p:grpSp>
      <p:grpSp>
        <p:nvGrpSpPr>
          <p:cNvPr id="877" name="Google Shape;877;p39"/>
          <p:cNvGrpSpPr/>
          <p:nvPr/>
        </p:nvGrpSpPr>
        <p:grpSpPr>
          <a:xfrm>
            <a:off x="2062556" y="1924176"/>
            <a:ext cx="1512450" cy="754875"/>
            <a:chOff x="2750075" y="2565568"/>
            <a:chExt cx="2016600" cy="1006500"/>
          </a:xfrm>
        </p:grpSpPr>
        <p:sp>
          <p:nvSpPr>
            <p:cNvPr id="878" name="Google Shape;878;p39"/>
            <p:cNvSpPr/>
            <p:nvPr/>
          </p:nvSpPr>
          <p:spPr>
            <a:xfrm>
              <a:off x="2750075" y="2565568"/>
              <a:ext cx="2016600" cy="1006500"/>
            </a:xfrm>
            <a:prstGeom prst="roundRect">
              <a:avLst>
                <a:gd fmla="val 16667" name="adj"/>
              </a:avLst>
            </a:prstGeom>
            <a:solidFill>
              <a:srgbClr val="FFE5A1"/>
            </a:solidFill>
            <a:ln cap="flat" cmpd="sng" w="148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9" name="Google Shape;879;p39"/>
            <p:cNvGrpSpPr/>
            <p:nvPr/>
          </p:nvGrpSpPr>
          <p:grpSpPr>
            <a:xfrm>
              <a:off x="2951999" y="2774004"/>
              <a:ext cx="1612800" cy="592399"/>
              <a:chOff x="2951999" y="2774004"/>
              <a:chExt cx="1612800" cy="592399"/>
            </a:xfrm>
          </p:grpSpPr>
          <p:sp>
            <p:nvSpPr>
              <p:cNvPr id="880" name="Google Shape;880;p39"/>
              <p:cNvSpPr/>
              <p:nvPr/>
            </p:nvSpPr>
            <p:spPr>
              <a:xfrm>
                <a:off x="3128462" y="2774004"/>
                <a:ext cx="12600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Bilinear ↑2</a:t>
                </a:r>
                <a:endParaRPr sz="1100"/>
              </a:p>
            </p:txBody>
          </p:sp>
          <p:sp>
            <p:nvSpPr>
              <p:cNvPr id="881" name="Google Shape;881;p39"/>
              <p:cNvSpPr/>
              <p:nvPr/>
            </p:nvSpPr>
            <p:spPr>
              <a:xfrm>
                <a:off x="2951999" y="3014203"/>
                <a:ext cx="16128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48 × </a:t>
                </a:r>
                <a:r>
                  <a:rPr lang="vi" sz="1200">
                    <a:solidFill>
                      <a:srgbClr val="202020"/>
                    </a:solidFill>
                  </a:rPr>
                  <a:t>2</a:t>
                </a: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00 × </a:t>
                </a:r>
                <a:r>
                  <a:rPr lang="vi" sz="1200">
                    <a:solidFill>
                      <a:srgbClr val="202020"/>
                    </a:solidFill>
                  </a:rPr>
                  <a:t>176</a:t>
                </a:r>
                <a:endParaRPr sz="1100"/>
              </a:p>
            </p:txBody>
          </p:sp>
        </p:grpSp>
      </p:grpSp>
      <p:grpSp>
        <p:nvGrpSpPr>
          <p:cNvPr id="882" name="Google Shape;882;p39"/>
          <p:cNvGrpSpPr/>
          <p:nvPr/>
        </p:nvGrpSpPr>
        <p:grpSpPr>
          <a:xfrm>
            <a:off x="3815729" y="1924176"/>
            <a:ext cx="1512450" cy="754875"/>
            <a:chOff x="5087639" y="2565568"/>
            <a:chExt cx="2016600" cy="1006500"/>
          </a:xfrm>
        </p:grpSpPr>
        <p:sp>
          <p:nvSpPr>
            <p:cNvPr id="883" name="Google Shape;883;p39"/>
            <p:cNvSpPr/>
            <p:nvPr/>
          </p:nvSpPr>
          <p:spPr>
            <a:xfrm>
              <a:off x="5087639" y="2565568"/>
              <a:ext cx="2016600" cy="1006500"/>
            </a:xfrm>
            <a:prstGeom prst="roundRect">
              <a:avLst>
                <a:gd fmla="val 16667" name="adj"/>
              </a:avLst>
            </a:prstGeom>
            <a:solidFill>
              <a:srgbClr val="DCE8F5"/>
            </a:solidFill>
            <a:ln cap="flat" cmpd="sng" w="148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4" name="Google Shape;884;p39"/>
            <p:cNvGrpSpPr/>
            <p:nvPr/>
          </p:nvGrpSpPr>
          <p:grpSpPr>
            <a:xfrm>
              <a:off x="5289563" y="2774004"/>
              <a:ext cx="1612800" cy="592399"/>
              <a:chOff x="5289563" y="2774004"/>
              <a:chExt cx="1612800" cy="592399"/>
            </a:xfrm>
          </p:grpSpPr>
          <p:sp>
            <p:nvSpPr>
              <p:cNvPr id="885" name="Google Shape;885;p39"/>
              <p:cNvSpPr/>
              <p:nvPr/>
            </p:nvSpPr>
            <p:spPr>
              <a:xfrm>
                <a:off x="5579466" y="2774004"/>
                <a:ext cx="10332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DW 3×3</a:t>
                </a:r>
                <a:endParaRPr sz="1100"/>
              </a:p>
            </p:txBody>
          </p:sp>
          <p:sp>
            <p:nvSpPr>
              <p:cNvPr id="886" name="Google Shape;886;p39"/>
              <p:cNvSpPr/>
              <p:nvPr/>
            </p:nvSpPr>
            <p:spPr>
              <a:xfrm>
                <a:off x="5289563" y="3014203"/>
                <a:ext cx="16128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1200">
                    <a:solidFill>
                      <a:srgbClr val="202020"/>
                    </a:solidFill>
                  </a:rPr>
                  <a:t>24 </a:t>
                </a: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× </a:t>
                </a:r>
                <a:r>
                  <a:rPr lang="vi" sz="1200">
                    <a:solidFill>
                      <a:srgbClr val="202020"/>
                    </a:solidFill>
                  </a:rPr>
                  <a:t>2</a:t>
                </a: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00 × </a:t>
                </a:r>
                <a:r>
                  <a:rPr lang="vi" sz="1200">
                    <a:solidFill>
                      <a:srgbClr val="202020"/>
                    </a:solidFill>
                  </a:rPr>
                  <a:t>176</a:t>
                </a:r>
                <a:endParaRPr sz="1100"/>
              </a:p>
            </p:txBody>
          </p:sp>
        </p:grpSp>
      </p:grpSp>
      <p:grpSp>
        <p:nvGrpSpPr>
          <p:cNvPr id="887" name="Google Shape;887;p39"/>
          <p:cNvGrpSpPr/>
          <p:nvPr/>
        </p:nvGrpSpPr>
        <p:grpSpPr>
          <a:xfrm>
            <a:off x="5568902" y="1924176"/>
            <a:ext cx="1512450" cy="754875"/>
            <a:chOff x="7425203" y="2565568"/>
            <a:chExt cx="2016600" cy="1006500"/>
          </a:xfrm>
        </p:grpSpPr>
        <p:sp>
          <p:nvSpPr>
            <p:cNvPr id="888" name="Google Shape;888;p39"/>
            <p:cNvSpPr/>
            <p:nvPr/>
          </p:nvSpPr>
          <p:spPr>
            <a:xfrm>
              <a:off x="7425203" y="2565568"/>
              <a:ext cx="2016600" cy="1006500"/>
            </a:xfrm>
            <a:prstGeom prst="roundRect">
              <a:avLst>
                <a:gd fmla="val 16667" name="adj"/>
              </a:avLst>
            </a:prstGeom>
            <a:solidFill>
              <a:srgbClr val="F5F5F5"/>
            </a:solidFill>
            <a:ln cap="flat" cmpd="sng" w="148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9" name="Google Shape;889;p39"/>
            <p:cNvGrpSpPr/>
            <p:nvPr/>
          </p:nvGrpSpPr>
          <p:grpSpPr>
            <a:xfrm>
              <a:off x="7627127" y="2774004"/>
              <a:ext cx="1612800" cy="592399"/>
              <a:chOff x="7627127" y="2774004"/>
              <a:chExt cx="1612800" cy="592399"/>
            </a:xfrm>
          </p:grpSpPr>
          <p:sp>
            <p:nvSpPr>
              <p:cNvPr id="890" name="Google Shape;890;p39"/>
              <p:cNvSpPr/>
              <p:nvPr/>
            </p:nvSpPr>
            <p:spPr>
              <a:xfrm>
                <a:off x="7772079" y="2774004"/>
                <a:ext cx="13230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BatchNorm</a:t>
                </a:r>
                <a:endParaRPr sz="1100"/>
              </a:p>
            </p:txBody>
          </p:sp>
          <p:sp>
            <p:nvSpPr>
              <p:cNvPr id="891" name="Google Shape;891;p39"/>
              <p:cNvSpPr/>
              <p:nvPr/>
            </p:nvSpPr>
            <p:spPr>
              <a:xfrm>
                <a:off x="7627127" y="3014203"/>
                <a:ext cx="16128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1200">
                    <a:solidFill>
                      <a:srgbClr val="202020"/>
                    </a:solidFill>
                  </a:rPr>
                  <a:t>24 </a:t>
                </a: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× </a:t>
                </a:r>
                <a:r>
                  <a:rPr lang="vi" sz="1200">
                    <a:solidFill>
                      <a:srgbClr val="202020"/>
                    </a:solidFill>
                  </a:rPr>
                  <a:t>2</a:t>
                </a: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00 × </a:t>
                </a:r>
                <a:r>
                  <a:rPr lang="vi" sz="1200">
                    <a:solidFill>
                      <a:srgbClr val="202020"/>
                    </a:solidFill>
                  </a:rPr>
                  <a:t>176</a:t>
                </a:r>
                <a:endParaRPr sz="1100"/>
              </a:p>
            </p:txBody>
          </p:sp>
        </p:grpSp>
      </p:grpSp>
      <p:grpSp>
        <p:nvGrpSpPr>
          <p:cNvPr id="892" name="Google Shape;892;p39"/>
          <p:cNvGrpSpPr/>
          <p:nvPr/>
        </p:nvGrpSpPr>
        <p:grpSpPr>
          <a:xfrm>
            <a:off x="7322074" y="1924176"/>
            <a:ext cx="1512450" cy="754875"/>
            <a:chOff x="9762766" y="2565568"/>
            <a:chExt cx="2016600" cy="1006500"/>
          </a:xfrm>
        </p:grpSpPr>
        <p:sp>
          <p:nvSpPr>
            <p:cNvPr id="893" name="Google Shape;893;p39"/>
            <p:cNvSpPr/>
            <p:nvPr/>
          </p:nvSpPr>
          <p:spPr>
            <a:xfrm>
              <a:off x="9762766" y="2565568"/>
              <a:ext cx="2016600" cy="1006500"/>
            </a:xfrm>
            <a:prstGeom prst="roundRect">
              <a:avLst>
                <a:gd fmla="val 16667" name="adj"/>
              </a:avLst>
            </a:prstGeom>
            <a:solidFill>
              <a:srgbClr val="F8CEB4"/>
            </a:solidFill>
            <a:ln cap="flat" cmpd="sng" w="1487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4" name="Google Shape;894;p39"/>
            <p:cNvGrpSpPr/>
            <p:nvPr/>
          </p:nvGrpSpPr>
          <p:grpSpPr>
            <a:xfrm>
              <a:off x="9964691" y="2774004"/>
              <a:ext cx="1612800" cy="592399"/>
              <a:chOff x="9964691" y="2774004"/>
              <a:chExt cx="1612800" cy="592399"/>
            </a:xfrm>
          </p:grpSpPr>
          <p:sp>
            <p:nvSpPr>
              <p:cNvPr id="895" name="Google Shape;895;p39"/>
              <p:cNvSpPr/>
              <p:nvPr/>
            </p:nvSpPr>
            <p:spPr>
              <a:xfrm>
                <a:off x="10424756" y="2774004"/>
                <a:ext cx="6927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SiLU</a:t>
                </a:r>
                <a:endParaRPr sz="1100"/>
              </a:p>
            </p:txBody>
          </p:sp>
          <p:sp>
            <p:nvSpPr>
              <p:cNvPr id="896" name="Google Shape;896;p39"/>
              <p:cNvSpPr/>
              <p:nvPr/>
            </p:nvSpPr>
            <p:spPr>
              <a:xfrm>
                <a:off x="9964691" y="3014203"/>
                <a:ext cx="1612800" cy="352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z="1200">
                    <a:solidFill>
                      <a:srgbClr val="202020"/>
                    </a:solidFill>
                  </a:rPr>
                  <a:t>24 </a:t>
                </a: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× </a:t>
                </a:r>
                <a:r>
                  <a:rPr lang="vi" sz="1200">
                    <a:solidFill>
                      <a:srgbClr val="202020"/>
                    </a:solidFill>
                  </a:rPr>
                  <a:t>2</a:t>
                </a:r>
                <a:r>
                  <a:rPr lang="vi" spc="0" sz="12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00 × </a:t>
                </a:r>
                <a:r>
                  <a:rPr lang="vi" sz="1200">
                    <a:solidFill>
                      <a:srgbClr val="202020"/>
                    </a:solidFill>
                  </a:rPr>
                  <a:t>176</a:t>
                </a:r>
                <a:endParaRPr sz="1100"/>
              </a:p>
            </p:txBody>
          </p:sp>
        </p:grpSp>
      </p:grpSp>
      <p:cxnSp>
        <p:nvCxnSpPr>
          <p:cNvPr id="897" name="Google Shape;897;p39"/>
          <p:cNvCxnSpPr>
            <a:stCxn id="873" idx="3"/>
            <a:endCxn id="878" idx="1"/>
          </p:cNvCxnSpPr>
          <p:nvPr/>
        </p:nvCxnSpPr>
        <p:spPr>
          <a:xfrm>
            <a:off x="1821833" y="2301614"/>
            <a:ext cx="2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8" name="Google Shape;898;p39"/>
          <p:cNvCxnSpPr>
            <a:stCxn id="878" idx="3"/>
            <a:endCxn id="883" idx="1"/>
          </p:cNvCxnSpPr>
          <p:nvPr/>
        </p:nvCxnSpPr>
        <p:spPr>
          <a:xfrm>
            <a:off x="3575006" y="2301614"/>
            <a:ext cx="2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39"/>
          <p:cNvCxnSpPr>
            <a:stCxn id="883" idx="3"/>
            <a:endCxn id="888" idx="1"/>
          </p:cNvCxnSpPr>
          <p:nvPr/>
        </p:nvCxnSpPr>
        <p:spPr>
          <a:xfrm>
            <a:off x="5328179" y="2301614"/>
            <a:ext cx="2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" name="Google Shape;900;p39"/>
          <p:cNvCxnSpPr>
            <a:stCxn id="888" idx="3"/>
            <a:endCxn id="893" idx="1"/>
          </p:cNvCxnSpPr>
          <p:nvPr/>
        </p:nvCxnSpPr>
        <p:spPr>
          <a:xfrm>
            <a:off x="7081352" y="2301614"/>
            <a:ext cx="2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1" name="Google Shape;901;p39"/>
          <p:cNvSpPr txBox="1"/>
          <p:nvPr/>
        </p:nvSpPr>
        <p:spPr>
          <a:xfrm>
            <a:off x="312224" y="783561"/>
            <a:ext cx="2946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>
                <a:solidFill>
                  <a:srgbClr val="242629"/>
                </a:solidFill>
              </a:rPr>
              <a:t>Top-Down sampling U3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6" name="Google Shape;906;p40"/>
          <p:cNvGrpSpPr/>
          <p:nvPr/>
        </p:nvGrpSpPr>
        <p:grpSpPr>
          <a:xfrm>
            <a:off x="223629" y="1570876"/>
            <a:ext cx="1093304" cy="547576"/>
            <a:chOff x="298172" y="2094501"/>
            <a:chExt cx="1457739" cy="730102"/>
          </a:xfrm>
        </p:grpSpPr>
        <p:sp>
          <p:nvSpPr>
            <p:cNvPr id="907" name="Google Shape;907;p40"/>
            <p:cNvSpPr/>
            <p:nvPr/>
          </p:nvSpPr>
          <p:spPr>
            <a:xfrm>
              <a:off x="298172" y="2094501"/>
              <a:ext cx="1457739" cy="730102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0750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8" name="Google Shape;908;p40"/>
            <p:cNvGrpSpPr/>
            <p:nvPr/>
          </p:nvGrpSpPr>
          <p:grpSpPr>
            <a:xfrm>
              <a:off x="416249" y="2231878"/>
              <a:ext cx="1221600" cy="457429"/>
              <a:chOff x="416249" y="2231878"/>
              <a:chExt cx="1221600" cy="457429"/>
            </a:xfrm>
          </p:grpSpPr>
          <p:sp>
            <p:nvSpPr>
              <p:cNvPr id="909" name="Google Shape;909;p40"/>
              <p:cNvSpPr/>
              <p:nvPr/>
            </p:nvSpPr>
            <p:spPr>
              <a:xfrm>
                <a:off x="566579" y="2231878"/>
                <a:ext cx="9210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BEV input</a:t>
                </a:r>
                <a:endParaRPr sz="1100"/>
              </a:p>
            </p:txBody>
          </p:sp>
          <p:sp>
            <p:nvSpPr>
              <p:cNvPr id="910" name="Google Shape;910;p40"/>
              <p:cNvSpPr/>
              <p:nvPr/>
            </p:nvSpPr>
            <p:spPr>
              <a:xfrm>
                <a:off x="416249" y="2406107"/>
                <a:ext cx="12216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8 × 800 × 704</a:t>
                </a:r>
                <a:endParaRPr sz="1100"/>
              </a:p>
            </p:txBody>
          </p:sp>
        </p:grpSp>
      </p:grpSp>
      <p:grpSp>
        <p:nvGrpSpPr>
          <p:cNvPr id="911" name="Google Shape;911;p40"/>
          <p:cNvGrpSpPr/>
          <p:nvPr/>
        </p:nvGrpSpPr>
        <p:grpSpPr>
          <a:xfrm>
            <a:off x="1490869" y="1570876"/>
            <a:ext cx="1093304" cy="547576"/>
            <a:chOff x="1987825" y="2094501"/>
            <a:chExt cx="1457739" cy="730102"/>
          </a:xfrm>
        </p:grpSpPr>
        <p:sp>
          <p:nvSpPr>
            <p:cNvPr id="912" name="Google Shape;912;p40"/>
            <p:cNvSpPr/>
            <p:nvPr/>
          </p:nvSpPr>
          <p:spPr>
            <a:xfrm>
              <a:off x="1987825" y="2094501"/>
              <a:ext cx="1457739" cy="730102"/>
            </a:xfrm>
            <a:prstGeom prst="roundRect">
              <a:avLst>
                <a:gd fmla="val 16667" name="adj"/>
              </a:avLst>
            </a:prstGeom>
            <a:solidFill>
              <a:srgbClr val="A8CF91"/>
            </a:solidFill>
            <a:ln cap="flat" cmpd="sng" w="10750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3" name="Google Shape;913;p40"/>
            <p:cNvGrpSpPr/>
            <p:nvPr/>
          </p:nvGrpSpPr>
          <p:grpSpPr>
            <a:xfrm>
              <a:off x="2060347" y="2231878"/>
              <a:ext cx="1312800" cy="457429"/>
              <a:chOff x="2060347" y="2231878"/>
              <a:chExt cx="1312800" cy="457429"/>
            </a:xfrm>
          </p:grpSpPr>
          <p:sp>
            <p:nvSpPr>
              <p:cNvPr id="914" name="Google Shape;914;p40"/>
              <p:cNvSpPr/>
              <p:nvPr/>
            </p:nvSpPr>
            <p:spPr>
              <a:xfrm>
                <a:off x="2101346" y="2231878"/>
                <a:ext cx="12306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Conv 3×3 · s2</a:t>
                </a:r>
                <a:endParaRPr sz="1100"/>
              </a:p>
            </p:txBody>
          </p:sp>
          <p:sp>
            <p:nvSpPr>
              <p:cNvPr id="915" name="Google Shape;915;p40"/>
              <p:cNvSpPr/>
              <p:nvPr/>
            </p:nvSpPr>
            <p:spPr>
              <a:xfrm>
                <a:off x="2060347" y="2406107"/>
                <a:ext cx="13128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32 × 400 × 352</a:t>
                </a:r>
                <a:endParaRPr sz="1100"/>
              </a:p>
            </p:txBody>
          </p:sp>
        </p:grpSp>
      </p:grpSp>
      <p:grpSp>
        <p:nvGrpSpPr>
          <p:cNvPr id="916" name="Google Shape;916;p40"/>
          <p:cNvGrpSpPr/>
          <p:nvPr/>
        </p:nvGrpSpPr>
        <p:grpSpPr>
          <a:xfrm>
            <a:off x="2758108" y="1570876"/>
            <a:ext cx="1093304" cy="547576"/>
            <a:chOff x="3677477" y="2094501"/>
            <a:chExt cx="1457739" cy="730102"/>
          </a:xfrm>
        </p:grpSpPr>
        <p:sp>
          <p:nvSpPr>
            <p:cNvPr id="917" name="Google Shape;917;p40"/>
            <p:cNvSpPr/>
            <p:nvPr/>
          </p:nvSpPr>
          <p:spPr>
            <a:xfrm>
              <a:off x="3677477" y="2094501"/>
              <a:ext cx="1457739" cy="730102"/>
            </a:xfrm>
            <a:prstGeom prst="roundRect">
              <a:avLst>
                <a:gd fmla="val 16667" name="adj"/>
              </a:avLst>
            </a:prstGeom>
            <a:solidFill>
              <a:srgbClr val="F5F5F5"/>
            </a:solidFill>
            <a:ln cap="flat" cmpd="sng" w="10750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8" name="Google Shape;918;p40"/>
            <p:cNvGrpSpPr/>
            <p:nvPr/>
          </p:nvGrpSpPr>
          <p:grpSpPr>
            <a:xfrm>
              <a:off x="3750000" y="2231878"/>
              <a:ext cx="1312800" cy="457429"/>
              <a:chOff x="3750000" y="2231878"/>
              <a:chExt cx="1312800" cy="457429"/>
            </a:xfrm>
          </p:grpSpPr>
          <p:sp>
            <p:nvSpPr>
              <p:cNvPr id="919" name="Google Shape;919;p40"/>
              <p:cNvSpPr/>
              <p:nvPr/>
            </p:nvSpPr>
            <p:spPr>
              <a:xfrm>
                <a:off x="3900329" y="2231878"/>
                <a:ext cx="10119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BatchNorm</a:t>
                </a:r>
                <a:endParaRPr sz="1100"/>
              </a:p>
            </p:txBody>
          </p:sp>
          <p:sp>
            <p:nvSpPr>
              <p:cNvPr id="920" name="Google Shape;920;p40"/>
              <p:cNvSpPr/>
              <p:nvPr/>
            </p:nvSpPr>
            <p:spPr>
              <a:xfrm>
                <a:off x="3750000" y="2406107"/>
                <a:ext cx="13128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32 × 400 × 352</a:t>
                </a:r>
                <a:endParaRPr sz="1100"/>
              </a:p>
            </p:txBody>
          </p:sp>
        </p:grpSp>
      </p:grpSp>
      <p:grpSp>
        <p:nvGrpSpPr>
          <p:cNvPr id="921" name="Google Shape;921;p40"/>
          <p:cNvGrpSpPr/>
          <p:nvPr/>
        </p:nvGrpSpPr>
        <p:grpSpPr>
          <a:xfrm>
            <a:off x="4025347" y="1570876"/>
            <a:ext cx="1093304" cy="547576"/>
            <a:chOff x="5367129" y="2094501"/>
            <a:chExt cx="1457739" cy="730102"/>
          </a:xfrm>
        </p:grpSpPr>
        <p:sp>
          <p:nvSpPr>
            <p:cNvPr id="922" name="Google Shape;922;p40"/>
            <p:cNvSpPr/>
            <p:nvPr/>
          </p:nvSpPr>
          <p:spPr>
            <a:xfrm>
              <a:off x="5367129" y="2094501"/>
              <a:ext cx="1457739" cy="730102"/>
            </a:xfrm>
            <a:prstGeom prst="roundRect">
              <a:avLst>
                <a:gd fmla="val 16667" name="adj"/>
              </a:avLst>
            </a:prstGeom>
            <a:solidFill>
              <a:srgbClr val="F8CEB4"/>
            </a:solidFill>
            <a:ln cap="flat" cmpd="sng" w="10750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3" name="Google Shape;923;p40"/>
            <p:cNvGrpSpPr/>
            <p:nvPr/>
          </p:nvGrpSpPr>
          <p:grpSpPr>
            <a:xfrm>
              <a:off x="5439652" y="2231878"/>
              <a:ext cx="1312800" cy="457429"/>
              <a:chOff x="5439652" y="2231878"/>
              <a:chExt cx="1312800" cy="457429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5817753" y="2231878"/>
                <a:ext cx="5565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SiLU</a:t>
                </a:r>
                <a:endParaRPr sz="1100"/>
              </a:p>
            </p:txBody>
          </p:sp>
          <p:sp>
            <p:nvSpPr>
              <p:cNvPr id="925" name="Google Shape;925;p40"/>
              <p:cNvSpPr/>
              <p:nvPr/>
            </p:nvSpPr>
            <p:spPr>
              <a:xfrm>
                <a:off x="5439652" y="2406107"/>
                <a:ext cx="13128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32 × 400 × 352</a:t>
                </a:r>
                <a:endParaRPr sz="1100"/>
              </a:p>
            </p:txBody>
          </p:sp>
        </p:grpSp>
      </p:grpSp>
      <p:grpSp>
        <p:nvGrpSpPr>
          <p:cNvPr id="926" name="Google Shape;926;p40"/>
          <p:cNvGrpSpPr/>
          <p:nvPr/>
        </p:nvGrpSpPr>
        <p:grpSpPr>
          <a:xfrm>
            <a:off x="5292587" y="1570876"/>
            <a:ext cx="1093304" cy="547576"/>
            <a:chOff x="7056782" y="2094501"/>
            <a:chExt cx="1457739" cy="730102"/>
          </a:xfrm>
        </p:grpSpPr>
        <p:sp>
          <p:nvSpPr>
            <p:cNvPr id="927" name="Google Shape;927;p40"/>
            <p:cNvSpPr/>
            <p:nvPr/>
          </p:nvSpPr>
          <p:spPr>
            <a:xfrm>
              <a:off x="7056782" y="2094501"/>
              <a:ext cx="1457739" cy="730102"/>
            </a:xfrm>
            <a:prstGeom prst="roundRect">
              <a:avLst>
                <a:gd fmla="val 16667" name="adj"/>
              </a:avLst>
            </a:prstGeom>
            <a:solidFill>
              <a:srgbClr val="A8CF91"/>
            </a:solidFill>
            <a:ln cap="flat" cmpd="sng" w="10750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8" name="Google Shape;928;p40"/>
            <p:cNvGrpSpPr/>
            <p:nvPr/>
          </p:nvGrpSpPr>
          <p:grpSpPr>
            <a:xfrm>
              <a:off x="7129304" y="2231878"/>
              <a:ext cx="1312800" cy="457429"/>
              <a:chOff x="7129304" y="2231878"/>
              <a:chExt cx="1312800" cy="457429"/>
            </a:xfrm>
          </p:grpSpPr>
          <p:sp>
            <p:nvSpPr>
              <p:cNvPr id="929" name="Google Shape;929;p40"/>
              <p:cNvSpPr/>
              <p:nvPr/>
            </p:nvSpPr>
            <p:spPr>
              <a:xfrm>
                <a:off x="7170303" y="2231878"/>
                <a:ext cx="12306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Conv 3×3 · s1</a:t>
                </a:r>
                <a:endParaRPr sz="1100"/>
              </a:p>
            </p:txBody>
          </p:sp>
          <p:sp>
            <p:nvSpPr>
              <p:cNvPr id="930" name="Google Shape;930;p40"/>
              <p:cNvSpPr/>
              <p:nvPr/>
            </p:nvSpPr>
            <p:spPr>
              <a:xfrm>
                <a:off x="7129304" y="2406107"/>
                <a:ext cx="13128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32 × 400 × 352</a:t>
                </a:r>
                <a:endParaRPr sz="1100"/>
              </a:p>
            </p:txBody>
          </p:sp>
        </p:grpSp>
      </p:grpSp>
      <p:grpSp>
        <p:nvGrpSpPr>
          <p:cNvPr id="931" name="Google Shape;931;p40"/>
          <p:cNvGrpSpPr/>
          <p:nvPr/>
        </p:nvGrpSpPr>
        <p:grpSpPr>
          <a:xfrm>
            <a:off x="6559826" y="1570876"/>
            <a:ext cx="1093304" cy="547576"/>
            <a:chOff x="8746434" y="2094501"/>
            <a:chExt cx="1457739" cy="730102"/>
          </a:xfrm>
        </p:grpSpPr>
        <p:sp>
          <p:nvSpPr>
            <p:cNvPr id="932" name="Google Shape;932;p40"/>
            <p:cNvSpPr/>
            <p:nvPr/>
          </p:nvSpPr>
          <p:spPr>
            <a:xfrm>
              <a:off x="8746434" y="2094501"/>
              <a:ext cx="1457739" cy="730102"/>
            </a:xfrm>
            <a:prstGeom prst="roundRect">
              <a:avLst>
                <a:gd fmla="val 16667" name="adj"/>
              </a:avLst>
            </a:prstGeom>
            <a:solidFill>
              <a:srgbClr val="F5F5F5"/>
            </a:solidFill>
            <a:ln cap="flat" cmpd="sng" w="10750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3" name="Google Shape;933;p40"/>
            <p:cNvGrpSpPr/>
            <p:nvPr/>
          </p:nvGrpSpPr>
          <p:grpSpPr>
            <a:xfrm>
              <a:off x="8818956" y="2231878"/>
              <a:ext cx="1312800" cy="457429"/>
              <a:chOff x="8818956" y="2231878"/>
              <a:chExt cx="1312800" cy="457429"/>
            </a:xfrm>
          </p:grpSpPr>
          <p:sp>
            <p:nvSpPr>
              <p:cNvPr id="934" name="Google Shape;934;p40"/>
              <p:cNvSpPr/>
              <p:nvPr/>
            </p:nvSpPr>
            <p:spPr>
              <a:xfrm>
                <a:off x="8969286" y="2231878"/>
                <a:ext cx="10119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BatchNorm</a:t>
                </a:r>
                <a:endParaRPr sz="1100"/>
              </a:p>
            </p:txBody>
          </p:sp>
          <p:sp>
            <p:nvSpPr>
              <p:cNvPr id="935" name="Google Shape;935;p40"/>
              <p:cNvSpPr/>
              <p:nvPr/>
            </p:nvSpPr>
            <p:spPr>
              <a:xfrm>
                <a:off x="8818956" y="2406107"/>
                <a:ext cx="13128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32 × 400 × 352</a:t>
                </a:r>
                <a:endParaRPr sz="1100"/>
              </a:p>
            </p:txBody>
          </p:sp>
        </p:grpSp>
      </p:grpSp>
      <p:grpSp>
        <p:nvGrpSpPr>
          <p:cNvPr id="936" name="Google Shape;936;p40"/>
          <p:cNvGrpSpPr/>
          <p:nvPr/>
        </p:nvGrpSpPr>
        <p:grpSpPr>
          <a:xfrm>
            <a:off x="7827064" y="1570876"/>
            <a:ext cx="1093304" cy="547576"/>
            <a:chOff x="10436086" y="2094501"/>
            <a:chExt cx="1457739" cy="730102"/>
          </a:xfrm>
        </p:grpSpPr>
        <p:sp>
          <p:nvSpPr>
            <p:cNvPr id="937" name="Google Shape;937;p40"/>
            <p:cNvSpPr/>
            <p:nvPr/>
          </p:nvSpPr>
          <p:spPr>
            <a:xfrm>
              <a:off x="10436086" y="2094501"/>
              <a:ext cx="1457739" cy="730102"/>
            </a:xfrm>
            <a:prstGeom prst="roundRect">
              <a:avLst>
                <a:gd fmla="val 16667" name="adj"/>
              </a:avLst>
            </a:prstGeom>
            <a:solidFill>
              <a:srgbClr val="F8CEB4"/>
            </a:solidFill>
            <a:ln cap="flat" cmpd="sng" w="10750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8" name="Google Shape;938;p40"/>
            <p:cNvGrpSpPr/>
            <p:nvPr/>
          </p:nvGrpSpPr>
          <p:grpSpPr>
            <a:xfrm>
              <a:off x="10508609" y="2231878"/>
              <a:ext cx="1312800" cy="457429"/>
              <a:chOff x="10508609" y="2231878"/>
              <a:chExt cx="1312800" cy="457429"/>
            </a:xfrm>
          </p:grpSpPr>
          <p:sp>
            <p:nvSpPr>
              <p:cNvPr id="939" name="Google Shape;939;p40"/>
              <p:cNvSpPr/>
              <p:nvPr/>
            </p:nvSpPr>
            <p:spPr>
              <a:xfrm>
                <a:off x="10886710" y="2231878"/>
                <a:ext cx="5565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SiLU</a:t>
                </a:r>
                <a:endParaRPr sz="1100"/>
              </a:p>
            </p:txBody>
          </p:sp>
          <p:sp>
            <p:nvSpPr>
              <p:cNvPr id="940" name="Google Shape;940;p40"/>
              <p:cNvSpPr/>
              <p:nvPr/>
            </p:nvSpPr>
            <p:spPr>
              <a:xfrm>
                <a:off x="10508609" y="2406107"/>
                <a:ext cx="1312800" cy="2832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9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32 × 400 × 352</a:t>
                </a:r>
                <a:endParaRPr sz="1100"/>
              </a:p>
            </p:txBody>
          </p:sp>
        </p:grpSp>
      </p:grpSp>
      <p:cxnSp>
        <p:nvCxnSpPr>
          <p:cNvPr id="941" name="Google Shape;941;p40"/>
          <p:cNvCxnSpPr>
            <a:stCxn id="942" idx="3"/>
            <a:endCxn id="943" idx="1"/>
          </p:cNvCxnSpPr>
          <p:nvPr/>
        </p:nvCxnSpPr>
        <p:spPr>
          <a:xfrm>
            <a:off x="1335569" y="1844664"/>
            <a:ext cx="13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" name="Google Shape;944;p40"/>
          <p:cNvCxnSpPr>
            <a:stCxn id="912" idx="3"/>
            <a:endCxn id="917" idx="1"/>
          </p:cNvCxnSpPr>
          <p:nvPr/>
        </p:nvCxnSpPr>
        <p:spPr>
          <a:xfrm>
            <a:off x="2584173" y="1844664"/>
            <a:ext cx="17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5" name="Google Shape;945;p40"/>
          <p:cNvCxnSpPr>
            <a:stCxn id="917" idx="3"/>
            <a:endCxn id="922" idx="1"/>
          </p:cNvCxnSpPr>
          <p:nvPr/>
        </p:nvCxnSpPr>
        <p:spPr>
          <a:xfrm>
            <a:off x="3851412" y="1844664"/>
            <a:ext cx="17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6" name="Google Shape;946;p40"/>
          <p:cNvCxnSpPr>
            <a:stCxn id="922" idx="3"/>
            <a:endCxn id="927" idx="1"/>
          </p:cNvCxnSpPr>
          <p:nvPr/>
        </p:nvCxnSpPr>
        <p:spPr>
          <a:xfrm>
            <a:off x="5118651" y="1844664"/>
            <a:ext cx="17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" name="Google Shape;947;p40"/>
          <p:cNvCxnSpPr>
            <a:stCxn id="927" idx="3"/>
            <a:endCxn id="932" idx="1"/>
          </p:cNvCxnSpPr>
          <p:nvPr/>
        </p:nvCxnSpPr>
        <p:spPr>
          <a:xfrm>
            <a:off x="6385891" y="1844664"/>
            <a:ext cx="17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" name="Google Shape;948;p40"/>
          <p:cNvCxnSpPr>
            <a:stCxn id="932" idx="3"/>
            <a:endCxn id="937" idx="1"/>
          </p:cNvCxnSpPr>
          <p:nvPr/>
        </p:nvCxnSpPr>
        <p:spPr>
          <a:xfrm>
            <a:off x="7653130" y="1844664"/>
            <a:ext cx="17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" name="Google Shape;949;p40"/>
          <p:cNvSpPr txBox="1"/>
          <p:nvPr/>
        </p:nvSpPr>
        <p:spPr>
          <a:xfrm>
            <a:off x="345051" y="783550"/>
            <a:ext cx="4246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1500">
                <a:solidFill>
                  <a:srgbClr val="242629"/>
                </a:solidFill>
              </a:rPr>
              <a:t>Stem · two spatial convolutions</a:t>
            </a:r>
            <a:endParaRPr b="1" sz="1500">
              <a:solidFill>
                <a:srgbClr val="24262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41"/>
          <p:cNvGrpSpPr/>
          <p:nvPr/>
        </p:nvGrpSpPr>
        <p:grpSpPr>
          <a:xfrm>
            <a:off x="382772" y="2079757"/>
            <a:ext cx="1871330" cy="935665"/>
            <a:chOff x="510362" y="2773009"/>
            <a:chExt cx="2495106" cy="1247553"/>
          </a:xfrm>
        </p:grpSpPr>
        <p:sp>
          <p:nvSpPr>
            <p:cNvPr id="955" name="Google Shape;955;p41"/>
            <p:cNvSpPr/>
            <p:nvPr/>
          </p:nvSpPr>
          <p:spPr>
            <a:xfrm>
              <a:off x="510362" y="2773009"/>
              <a:ext cx="2495106" cy="1247553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842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6" name="Google Shape;956;p41"/>
            <p:cNvGrpSpPr/>
            <p:nvPr/>
          </p:nvGrpSpPr>
          <p:grpSpPr>
            <a:xfrm>
              <a:off x="706072" y="3043395"/>
              <a:ext cx="2103600" cy="710212"/>
              <a:chOff x="706072" y="3043395"/>
              <a:chExt cx="2103600" cy="710212"/>
            </a:xfrm>
          </p:grpSpPr>
          <p:sp>
            <p:nvSpPr>
              <p:cNvPr id="957" name="Google Shape;957;p41"/>
              <p:cNvSpPr/>
              <p:nvPr/>
            </p:nvSpPr>
            <p:spPr>
              <a:xfrm>
                <a:off x="1056947" y="3043395"/>
                <a:ext cx="1401900" cy="4125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Fused P3</a:t>
                </a:r>
                <a:endParaRPr sz="1100"/>
              </a:p>
            </p:txBody>
          </p:sp>
          <p:sp>
            <p:nvSpPr>
              <p:cNvPr id="958" name="Google Shape;958;p41"/>
              <p:cNvSpPr/>
              <p:nvPr/>
            </p:nvSpPr>
            <p:spPr>
              <a:xfrm>
                <a:off x="706072" y="3341107"/>
                <a:ext cx="2103600" cy="4125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24 × 200 × 176</a:t>
                </a:r>
                <a:endParaRPr sz="1100"/>
              </a:p>
            </p:txBody>
          </p:sp>
        </p:grpSp>
      </p:grpSp>
      <p:grpSp>
        <p:nvGrpSpPr>
          <p:cNvPr id="959" name="Google Shape;959;p41"/>
          <p:cNvGrpSpPr/>
          <p:nvPr/>
        </p:nvGrpSpPr>
        <p:grpSpPr>
          <a:xfrm>
            <a:off x="2551814" y="2079757"/>
            <a:ext cx="1871330" cy="935665"/>
            <a:chOff x="3402418" y="2773009"/>
            <a:chExt cx="2495106" cy="1247553"/>
          </a:xfrm>
        </p:grpSpPr>
        <p:sp>
          <p:nvSpPr>
            <p:cNvPr id="960" name="Google Shape;960;p41"/>
            <p:cNvSpPr/>
            <p:nvPr/>
          </p:nvSpPr>
          <p:spPr>
            <a:xfrm>
              <a:off x="3402418" y="2773009"/>
              <a:ext cx="2495106" cy="1247553"/>
            </a:xfrm>
            <a:prstGeom prst="roundRect">
              <a:avLst>
                <a:gd fmla="val 16667" name="adj"/>
              </a:avLst>
            </a:prstGeom>
            <a:solidFill>
              <a:srgbClr val="A8CF91"/>
            </a:solidFill>
            <a:ln cap="flat" cmpd="sng" w="1842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1" name="Google Shape;961;p41"/>
            <p:cNvGrpSpPr/>
            <p:nvPr/>
          </p:nvGrpSpPr>
          <p:grpSpPr>
            <a:xfrm>
              <a:off x="3598128" y="3043395"/>
              <a:ext cx="2103600" cy="710212"/>
              <a:chOff x="3598128" y="3043395"/>
              <a:chExt cx="2103600" cy="710212"/>
            </a:xfrm>
          </p:grpSpPr>
          <p:sp>
            <p:nvSpPr>
              <p:cNvPr id="962" name="Google Shape;962;p41"/>
              <p:cNvSpPr/>
              <p:nvPr/>
            </p:nvSpPr>
            <p:spPr>
              <a:xfrm>
                <a:off x="3941206" y="3043395"/>
                <a:ext cx="1417500" cy="4125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Conv 3×3</a:t>
                </a:r>
                <a:endParaRPr sz="1100"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3598128" y="3341107"/>
                <a:ext cx="2103600" cy="4125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16 × 200 × 176</a:t>
                </a:r>
                <a:endParaRPr sz="1100"/>
              </a:p>
            </p:txBody>
          </p:sp>
        </p:grpSp>
      </p:grpSp>
      <p:grpSp>
        <p:nvGrpSpPr>
          <p:cNvPr id="964" name="Google Shape;964;p41"/>
          <p:cNvGrpSpPr/>
          <p:nvPr/>
        </p:nvGrpSpPr>
        <p:grpSpPr>
          <a:xfrm>
            <a:off x="6889898" y="2079757"/>
            <a:ext cx="1871325" cy="935775"/>
            <a:chOff x="9186530" y="2773009"/>
            <a:chExt cx="2495100" cy="1247700"/>
          </a:xfrm>
        </p:grpSpPr>
        <p:sp>
          <p:nvSpPr>
            <p:cNvPr id="965" name="Google Shape;965;p41"/>
            <p:cNvSpPr/>
            <p:nvPr/>
          </p:nvSpPr>
          <p:spPr>
            <a:xfrm>
              <a:off x="9186530" y="2773009"/>
              <a:ext cx="2495100" cy="1247700"/>
            </a:xfrm>
            <a:prstGeom prst="roundRect">
              <a:avLst>
                <a:gd fmla="val 16667" name="adj"/>
              </a:avLst>
            </a:prstGeom>
            <a:solidFill>
              <a:srgbClr val="F8CEB4"/>
            </a:solidFill>
            <a:ln cap="flat" cmpd="sng" w="1842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6" name="Google Shape;966;p41"/>
            <p:cNvGrpSpPr/>
            <p:nvPr/>
          </p:nvGrpSpPr>
          <p:grpSpPr>
            <a:xfrm>
              <a:off x="9382237" y="3043394"/>
              <a:ext cx="2103900" cy="710212"/>
              <a:chOff x="9382237" y="3043394"/>
              <a:chExt cx="2103900" cy="710212"/>
            </a:xfrm>
          </p:grpSpPr>
          <p:sp>
            <p:nvSpPr>
              <p:cNvPr id="967" name="Google Shape;967;p41"/>
              <p:cNvSpPr/>
              <p:nvPr/>
            </p:nvSpPr>
            <p:spPr>
              <a:xfrm>
                <a:off x="10029402" y="3043394"/>
                <a:ext cx="809400" cy="4125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SiLU</a:t>
                </a:r>
                <a:endParaRPr sz="1100"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9382237" y="3341106"/>
                <a:ext cx="2103900" cy="4125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16 × 200 × 176</a:t>
                </a:r>
                <a:endParaRPr sz="1100"/>
              </a:p>
            </p:txBody>
          </p:sp>
        </p:grpSp>
      </p:grpSp>
      <p:grpSp>
        <p:nvGrpSpPr>
          <p:cNvPr id="969" name="Google Shape;969;p41"/>
          <p:cNvGrpSpPr/>
          <p:nvPr/>
        </p:nvGrpSpPr>
        <p:grpSpPr>
          <a:xfrm>
            <a:off x="4720855" y="2079757"/>
            <a:ext cx="1871325" cy="935775"/>
            <a:chOff x="6294474" y="2773009"/>
            <a:chExt cx="2495100" cy="1247700"/>
          </a:xfrm>
        </p:grpSpPr>
        <p:sp>
          <p:nvSpPr>
            <p:cNvPr id="970" name="Google Shape;970;p41"/>
            <p:cNvSpPr/>
            <p:nvPr/>
          </p:nvSpPr>
          <p:spPr>
            <a:xfrm>
              <a:off x="6294474" y="2773009"/>
              <a:ext cx="2495100" cy="1247700"/>
            </a:xfrm>
            <a:prstGeom prst="roundRect">
              <a:avLst>
                <a:gd fmla="val 16667" name="adj"/>
              </a:avLst>
            </a:prstGeom>
            <a:solidFill>
              <a:srgbClr val="F5F5F5"/>
            </a:solidFill>
            <a:ln cap="flat" cmpd="sng" w="18425">
              <a:solidFill>
                <a:srgbClr val="30303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1" name="Google Shape;971;p41"/>
            <p:cNvGrpSpPr/>
            <p:nvPr/>
          </p:nvGrpSpPr>
          <p:grpSpPr>
            <a:xfrm>
              <a:off x="6490181" y="3043394"/>
              <a:ext cx="2103900" cy="710212"/>
              <a:chOff x="6490181" y="3043394"/>
              <a:chExt cx="2103900" cy="710212"/>
            </a:xfrm>
          </p:grpSpPr>
          <p:sp>
            <p:nvSpPr>
              <p:cNvPr id="972" name="Google Shape;972;p41"/>
              <p:cNvSpPr/>
              <p:nvPr/>
            </p:nvSpPr>
            <p:spPr>
              <a:xfrm>
                <a:off x="6747497" y="3043394"/>
                <a:ext cx="1588800" cy="4125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BatchNorm</a:t>
                </a:r>
                <a:endParaRPr sz="1100"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6490181" y="3341106"/>
                <a:ext cx="2103900" cy="412500"/>
              </a:xfrm>
              <a:prstGeom prst="roundRect">
                <a:avLst>
                  <a:gd fmla="val 16667" name="adj"/>
                </a:avLst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vi" spc="0" sz="1500">
                    <a:solidFill>
                      <a:srgbClr val="202020"/>
                    </a:solidFill>
                    <a:latin typeface="Arial"/>
                    <a:ea typeface="Arial"/>
                    <a:cs typeface="Arial"/>
                    <a:sym typeface="Arial"/>
                  </a:rPr>
                  <a:t>16 × 200 × 176</a:t>
                </a:r>
                <a:endParaRPr sz="1100"/>
              </a:p>
            </p:txBody>
          </p:sp>
        </p:grpSp>
      </p:grpSp>
      <p:cxnSp>
        <p:nvCxnSpPr>
          <p:cNvPr id="974" name="Google Shape;974;p41"/>
          <p:cNvCxnSpPr>
            <a:stCxn id="955" idx="3"/>
            <a:endCxn id="960" idx="1"/>
          </p:cNvCxnSpPr>
          <p:nvPr/>
        </p:nvCxnSpPr>
        <p:spPr>
          <a:xfrm>
            <a:off x="2254101" y="2547589"/>
            <a:ext cx="2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5" name="Google Shape;975;p41"/>
          <p:cNvCxnSpPr>
            <a:stCxn id="960" idx="3"/>
            <a:endCxn id="970" idx="1"/>
          </p:cNvCxnSpPr>
          <p:nvPr/>
        </p:nvCxnSpPr>
        <p:spPr>
          <a:xfrm>
            <a:off x="4423143" y="2547589"/>
            <a:ext cx="2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6" name="Google Shape;976;p41"/>
          <p:cNvCxnSpPr>
            <a:stCxn id="970" idx="3"/>
            <a:endCxn id="965" idx="1"/>
          </p:cNvCxnSpPr>
          <p:nvPr/>
        </p:nvCxnSpPr>
        <p:spPr>
          <a:xfrm>
            <a:off x="6592180" y="2547644"/>
            <a:ext cx="29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7" name="Google Shape;977;p41"/>
          <p:cNvSpPr txBox="1"/>
          <p:nvPr/>
        </p:nvSpPr>
        <p:spPr>
          <a:xfrm>
            <a:off x="426525" y="1265250"/>
            <a:ext cx="3790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1500">
                <a:solidFill>
                  <a:srgbClr val="242629"/>
                </a:solidFill>
              </a:rPr>
              <a:t>Output projection · detector interface</a:t>
            </a:r>
            <a:endParaRPr b="1" sz="1500">
              <a:solidFill>
                <a:srgbClr val="24262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2"/>
          <p:cNvSpPr txBox="1"/>
          <p:nvPr>
            <p:ph type="title"/>
          </p:nvPr>
        </p:nvSpPr>
        <p:spPr>
          <a:xfrm>
            <a:off x="2367750" y="2074650"/>
            <a:ext cx="44085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9900"/>
              <a:t>BACKUP</a:t>
            </a:r>
            <a:endParaRPr sz="9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43"/>
          <p:cNvSpPr/>
          <p:nvPr/>
        </p:nvSpPr>
        <p:spPr>
          <a:xfrm>
            <a:off x="179575" y="259200"/>
            <a:ext cx="364200" cy="688500"/>
          </a:xfrm>
          <a:prstGeom prst="cube">
            <a:avLst>
              <a:gd fmla="val 52403" name="adj"/>
            </a:avLst>
          </a:prstGeom>
          <a:solidFill>
            <a:srgbClr val="C9DAF8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sp>
        <p:nvSpPr>
          <p:cNvPr id="988" name="Google Shape;988;p43"/>
          <p:cNvSpPr txBox="1"/>
          <p:nvPr/>
        </p:nvSpPr>
        <p:spPr>
          <a:xfrm>
            <a:off x="-303208" y="937208"/>
            <a:ext cx="13647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25">
                <a:solidFill>
                  <a:schemeClr val="dk2"/>
                </a:solidFill>
              </a:rPr>
              <a:t>Encoder</a:t>
            </a:r>
            <a:endParaRPr b="1" sz="825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25">
                <a:solidFill>
                  <a:schemeClr val="dk2"/>
                </a:solidFill>
              </a:rPr>
              <a:t>Rich14 </a:t>
            </a:r>
            <a:endParaRPr b="1" sz="825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25">
                <a:solidFill>
                  <a:schemeClr val="dk2"/>
                </a:solidFill>
              </a:rPr>
              <a:t>14 x 800 x 704</a:t>
            </a:r>
            <a:endParaRPr b="1" sz="825">
              <a:solidFill>
                <a:schemeClr val="dk2"/>
              </a:solidFill>
            </a:endParaRPr>
          </a:p>
        </p:txBody>
      </p:sp>
      <p:sp>
        <p:nvSpPr>
          <p:cNvPr id="989" name="Google Shape;989;p43"/>
          <p:cNvSpPr/>
          <p:nvPr/>
        </p:nvSpPr>
        <p:spPr>
          <a:xfrm>
            <a:off x="151250" y="3690550"/>
            <a:ext cx="87300" cy="315300"/>
          </a:xfrm>
          <a:prstGeom prst="rect">
            <a:avLst/>
          </a:prstGeom>
          <a:solidFill>
            <a:schemeClr val="lt2"/>
          </a:solidFill>
          <a:ln cap="flat" cmpd="sng" w="9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75" lIns="87975" spcFirstLastPara="1" rIns="87975" wrap="square" tIns="8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sp>
        <p:nvSpPr>
          <p:cNvPr id="990" name="Google Shape;990;p43"/>
          <p:cNvSpPr/>
          <p:nvPr/>
        </p:nvSpPr>
        <p:spPr>
          <a:xfrm>
            <a:off x="173825" y="2818925"/>
            <a:ext cx="453900" cy="1185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43"/>
          <p:cNvSpPr/>
          <p:nvPr/>
        </p:nvSpPr>
        <p:spPr>
          <a:xfrm>
            <a:off x="179575" y="1963325"/>
            <a:ext cx="150600" cy="58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2" name="Google Shape;992;p43"/>
          <p:cNvCxnSpPr/>
          <p:nvPr/>
        </p:nvCxnSpPr>
        <p:spPr>
          <a:xfrm flipH="1" rot="10800000">
            <a:off x="149658" y="3568846"/>
            <a:ext cx="113400" cy="1233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43"/>
          <p:cNvCxnSpPr/>
          <p:nvPr/>
        </p:nvCxnSpPr>
        <p:spPr>
          <a:xfrm>
            <a:off x="261288" y="3569350"/>
            <a:ext cx="88800" cy="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43"/>
          <p:cNvCxnSpPr/>
          <p:nvPr/>
        </p:nvCxnSpPr>
        <p:spPr>
          <a:xfrm flipH="1" rot="10800000">
            <a:off x="349554" y="3571838"/>
            <a:ext cx="600" cy="3201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5" name="Google Shape;995;p43"/>
          <p:cNvSpPr/>
          <p:nvPr/>
        </p:nvSpPr>
        <p:spPr>
          <a:xfrm flipH="1" rot="5400000">
            <a:off x="2788" y="2164300"/>
            <a:ext cx="714150" cy="47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6" name="Google Shape;996;p43"/>
          <p:cNvGrpSpPr/>
          <p:nvPr/>
        </p:nvGrpSpPr>
        <p:grpSpPr>
          <a:xfrm>
            <a:off x="191487" y="4140192"/>
            <a:ext cx="471287" cy="777751"/>
            <a:chOff x="303650" y="3679778"/>
            <a:chExt cx="291080" cy="480330"/>
          </a:xfrm>
        </p:grpSpPr>
        <p:sp>
          <p:nvSpPr>
            <p:cNvPr id="997" name="Google Shape;997;p43"/>
            <p:cNvSpPr/>
            <p:nvPr/>
          </p:nvSpPr>
          <p:spPr>
            <a:xfrm>
              <a:off x="303650" y="3842950"/>
              <a:ext cx="87300" cy="315300"/>
            </a:xfrm>
            <a:prstGeom prst="rect">
              <a:avLst/>
            </a:prstGeom>
            <a:solidFill>
              <a:schemeClr val="lt2"/>
            </a:solidFill>
            <a:ln cap="flat" cmpd="sng" w="14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2450" lIns="142450" spcFirstLastPara="1" rIns="142450" wrap="square" tIns="142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81"/>
            </a:p>
          </p:txBody>
        </p:sp>
        <p:cxnSp>
          <p:nvCxnSpPr>
            <p:cNvPr id="998" name="Google Shape;998;p43"/>
            <p:cNvCxnSpPr/>
            <p:nvPr/>
          </p:nvCxnSpPr>
          <p:spPr>
            <a:xfrm flipH="1" rot="10800000">
              <a:off x="304064" y="3681046"/>
              <a:ext cx="205800" cy="163500"/>
            </a:xfrm>
            <a:prstGeom prst="straightConnector1">
              <a:avLst/>
            </a:prstGeom>
            <a:noFill/>
            <a:ln cap="flat" cmpd="sng" w="148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" name="Google Shape;999;p43"/>
            <p:cNvCxnSpPr/>
            <p:nvPr/>
          </p:nvCxnSpPr>
          <p:spPr>
            <a:xfrm flipH="1" rot="10800000">
              <a:off x="385014" y="3681046"/>
              <a:ext cx="205800" cy="163500"/>
            </a:xfrm>
            <a:prstGeom prst="straightConnector1">
              <a:avLst/>
            </a:prstGeom>
            <a:noFill/>
            <a:ln cap="flat" cmpd="sng" w="148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0" name="Google Shape;1000;p43"/>
            <p:cNvCxnSpPr/>
            <p:nvPr/>
          </p:nvCxnSpPr>
          <p:spPr>
            <a:xfrm>
              <a:off x="505930" y="3681645"/>
              <a:ext cx="88800" cy="0"/>
            </a:xfrm>
            <a:prstGeom prst="straightConnector1">
              <a:avLst/>
            </a:prstGeom>
            <a:noFill/>
            <a:ln cap="flat" cmpd="sng" w="148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1" name="Google Shape;1001;p43"/>
            <p:cNvCxnSpPr/>
            <p:nvPr/>
          </p:nvCxnSpPr>
          <p:spPr>
            <a:xfrm flipH="1" rot="10800000">
              <a:off x="589579" y="3679778"/>
              <a:ext cx="600" cy="320100"/>
            </a:xfrm>
            <a:prstGeom prst="straightConnector1">
              <a:avLst/>
            </a:prstGeom>
            <a:noFill/>
            <a:ln cap="flat" cmpd="sng" w="148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" name="Google Shape;1002;p43"/>
            <p:cNvCxnSpPr/>
            <p:nvPr/>
          </p:nvCxnSpPr>
          <p:spPr>
            <a:xfrm flipH="1" rot="10800000">
              <a:off x="386548" y="3996609"/>
              <a:ext cx="205800" cy="163500"/>
            </a:xfrm>
            <a:prstGeom prst="straightConnector1">
              <a:avLst/>
            </a:prstGeom>
            <a:noFill/>
            <a:ln cap="flat" cmpd="sng" w="148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03" name="Google Shape;1003;p43"/>
          <p:cNvCxnSpPr/>
          <p:nvPr/>
        </p:nvCxnSpPr>
        <p:spPr>
          <a:xfrm flipH="1" rot="10800000">
            <a:off x="236144" y="3568351"/>
            <a:ext cx="113400" cy="1233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43"/>
          <p:cNvSpPr/>
          <p:nvPr/>
        </p:nvSpPr>
        <p:spPr>
          <a:xfrm flipH="1" rot="5400000">
            <a:off x="-94587" y="1993400"/>
            <a:ext cx="714150" cy="47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5" name="Google Shape;1005;p43"/>
          <p:cNvCxnSpPr/>
          <p:nvPr/>
        </p:nvCxnSpPr>
        <p:spPr>
          <a:xfrm flipH="1" rot="10800000">
            <a:off x="388544" y="3720751"/>
            <a:ext cx="113400" cy="1233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06" name="Google Shape;100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775" y="947700"/>
            <a:ext cx="17335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43"/>
          <p:cNvSpPr/>
          <p:nvPr/>
        </p:nvSpPr>
        <p:spPr>
          <a:xfrm>
            <a:off x="6541675" y="3838850"/>
            <a:ext cx="87300" cy="315300"/>
          </a:xfrm>
          <a:prstGeom prst="rect">
            <a:avLst/>
          </a:prstGeom>
          <a:solidFill>
            <a:schemeClr val="lt2"/>
          </a:solidFill>
          <a:ln cap="flat" cmpd="sng" w="9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75" lIns="87975" spcFirstLastPara="1" rIns="87975" wrap="square" tIns="8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sp>
        <p:nvSpPr>
          <p:cNvPr id="1008" name="Google Shape;1008;p43"/>
          <p:cNvSpPr/>
          <p:nvPr/>
        </p:nvSpPr>
        <p:spPr>
          <a:xfrm>
            <a:off x="6564250" y="2967225"/>
            <a:ext cx="453900" cy="1185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3"/>
          <p:cNvSpPr/>
          <p:nvPr/>
        </p:nvSpPr>
        <p:spPr>
          <a:xfrm>
            <a:off x="6570000" y="2111625"/>
            <a:ext cx="150600" cy="58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0" name="Google Shape;1010;p43"/>
          <p:cNvCxnSpPr/>
          <p:nvPr/>
        </p:nvCxnSpPr>
        <p:spPr>
          <a:xfrm flipH="1" rot="10800000">
            <a:off x="6540083" y="3717146"/>
            <a:ext cx="113400" cy="1233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43"/>
          <p:cNvCxnSpPr/>
          <p:nvPr/>
        </p:nvCxnSpPr>
        <p:spPr>
          <a:xfrm>
            <a:off x="6651713" y="3717650"/>
            <a:ext cx="88800" cy="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43"/>
          <p:cNvCxnSpPr/>
          <p:nvPr/>
        </p:nvCxnSpPr>
        <p:spPr>
          <a:xfrm flipH="1" rot="10800000">
            <a:off x="6735969" y="3716127"/>
            <a:ext cx="600" cy="3201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3" name="Google Shape;1013;p43"/>
          <p:cNvSpPr/>
          <p:nvPr/>
        </p:nvSpPr>
        <p:spPr>
          <a:xfrm flipH="1" rot="5400000">
            <a:off x="6385150" y="2304525"/>
            <a:ext cx="730300" cy="47900"/>
          </a:xfrm>
          <a:prstGeom prst="flowChartInputOutpu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4" name="Google Shape;1014;p43"/>
          <p:cNvGrpSpPr/>
          <p:nvPr/>
        </p:nvGrpSpPr>
        <p:grpSpPr>
          <a:xfrm>
            <a:off x="6530542" y="4239086"/>
            <a:ext cx="317393" cy="523752"/>
            <a:chOff x="303650" y="3679778"/>
            <a:chExt cx="291080" cy="480330"/>
          </a:xfrm>
        </p:grpSpPr>
        <p:sp>
          <p:nvSpPr>
            <p:cNvPr id="1015" name="Google Shape;1015;p43"/>
            <p:cNvSpPr/>
            <p:nvPr/>
          </p:nvSpPr>
          <p:spPr>
            <a:xfrm>
              <a:off x="303650" y="3842950"/>
              <a:ext cx="87300" cy="315300"/>
            </a:xfrm>
            <a:prstGeom prst="rect">
              <a:avLst/>
            </a:prstGeom>
            <a:solidFill>
              <a:schemeClr val="lt2"/>
            </a:solidFill>
            <a:ln cap="flat" cmpd="sng" w="100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925" lIns="95925" spcFirstLastPara="1" rIns="95925" wrap="square" tIns="95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9"/>
            </a:p>
          </p:txBody>
        </p:sp>
        <p:cxnSp>
          <p:nvCxnSpPr>
            <p:cNvPr id="1016" name="Google Shape;1016;p43"/>
            <p:cNvCxnSpPr/>
            <p:nvPr/>
          </p:nvCxnSpPr>
          <p:spPr>
            <a:xfrm flipH="1" rot="10800000">
              <a:off x="304064" y="3681046"/>
              <a:ext cx="205800" cy="163500"/>
            </a:xfrm>
            <a:prstGeom prst="straightConnector1">
              <a:avLst/>
            </a:prstGeom>
            <a:noFill/>
            <a:ln cap="flat" cmpd="sng" w="100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43"/>
            <p:cNvCxnSpPr/>
            <p:nvPr/>
          </p:nvCxnSpPr>
          <p:spPr>
            <a:xfrm flipH="1" rot="10800000">
              <a:off x="385014" y="3681046"/>
              <a:ext cx="205800" cy="163500"/>
            </a:xfrm>
            <a:prstGeom prst="straightConnector1">
              <a:avLst/>
            </a:prstGeom>
            <a:noFill/>
            <a:ln cap="flat" cmpd="sng" w="100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8" name="Google Shape;1018;p43"/>
            <p:cNvCxnSpPr/>
            <p:nvPr/>
          </p:nvCxnSpPr>
          <p:spPr>
            <a:xfrm>
              <a:off x="505930" y="3681645"/>
              <a:ext cx="88800" cy="0"/>
            </a:xfrm>
            <a:prstGeom prst="straightConnector1">
              <a:avLst/>
            </a:prstGeom>
            <a:noFill/>
            <a:ln cap="flat" cmpd="sng" w="100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9" name="Google Shape;1019;p43"/>
            <p:cNvCxnSpPr/>
            <p:nvPr/>
          </p:nvCxnSpPr>
          <p:spPr>
            <a:xfrm flipH="1" rot="10800000">
              <a:off x="589579" y="3679778"/>
              <a:ext cx="600" cy="320100"/>
            </a:xfrm>
            <a:prstGeom prst="straightConnector1">
              <a:avLst/>
            </a:prstGeom>
            <a:noFill/>
            <a:ln cap="flat" cmpd="sng" w="100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0" name="Google Shape;1020;p43"/>
            <p:cNvCxnSpPr/>
            <p:nvPr/>
          </p:nvCxnSpPr>
          <p:spPr>
            <a:xfrm flipH="1" rot="10800000">
              <a:off x="386548" y="3996609"/>
              <a:ext cx="205800" cy="163500"/>
            </a:xfrm>
            <a:prstGeom prst="straightConnector1">
              <a:avLst/>
            </a:prstGeom>
            <a:noFill/>
            <a:ln cap="flat" cmpd="sng" w="100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21" name="Google Shape;1021;p43"/>
          <p:cNvCxnSpPr/>
          <p:nvPr/>
        </p:nvCxnSpPr>
        <p:spPr>
          <a:xfrm flipH="1" rot="10800000">
            <a:off x="6626569" y="3716651"/>
            <a:ext cx="113400" cy="1233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43"/>
          <p:cNvCxnSpPr/>
          <p:nvPr/>
        </p:nvCxnSpPr>
        <p:spPr>
          <a:xfrm flipH="1" rot="10800000">
            <a:off x="6626569" y="4031910"/>
            <a:ext cx="113400" cy="1233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3" name="Google Shape;1023;p43"/>
          <p:cNvSpPr/>
          <p:nvPr/>
        </p:nvSpPr>
        <p:spPr>
          <a:xfrm>
            <a:off x="6843367" y="3756800"/>
            <a:ext cx="24300" cy="315300"/>
          </a:xfrm>
          <a:prstGeom prst="rect">
            <a:avLst/>
          </a:prstGeom>
          <a:solidFill>
            <a:schemeClr val="lt2"/>
          </a:solidFill>
          <a:ln cap="flat" cmpd="sng" w="9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975" lIns="87975" spcFirstLastPara="1" rIns="87975" wrap="square" tIns="87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cxnSp>
        <p:nvCxnSpPr>
          <p:cNvPr id="1024" name="Google Shape;1024;p43"/>
          <p:cNvCxnSpPr/>
          <p:nvPr/>
        </p:nvCxnSpPr>
        <p:spPr>
          <a:xfrm flipH="1" rot="10800000">
            <a:off x="6841771" y="3635096"/>
            <a:ext cx="113400" cy="1233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43"/>
          <p:cNvCxnSpPr/>
          <p:nvPr/>
        </p:nvCxnSpPr>
        <p:spPr>
          <a:xfrm flipH="1" rot="10800000">
            <a:off x="6951614" y="3636490"/>
            <a:ext cx="28200" cy="3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43"/>
          <p:cNvCxnSpPr/>
          <p:nvPr/>
        </p:nvCxnSpPr>
        <p:spPr>
          <a:xfrm flipH="1" rot="10800000">
            <a:off x="6974653" y="3635602"/>
            <a:ext cx="600" cy="3201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43"/>
          <p:cNvCxnSpPr/>
          <p:nvPr/>
        </p:nvCxnSpPr>
        <p:spPr>
          <a:xfrm flipH="1" rot="10800000">
            <a:off x="6867012" y="3636887"/>
            <a:ext cx="113400" cy="1233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43"/>
          <p:cNvCxnSpPr/>
          <p:nvPr/>
        </p:nvCxnSpPr>
        <p:spPr>
          <a:xfrm flipH="1" rot="10800000">
            <a:off x="6863362" y="3952131"/>
            <a:ext cx="113400" cy="123300"/>
          </a:xfrm>
          <a:prstGeom prst="straightConnector1">
            <a:avLst/>
          </a:prstGeom>
          <a:noFill/>
          <a:ln cap="flat" cmpd="sng" w="9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43"/>
          <p:cNvCxnSpPr/>
          <p:nvPr/>
        </p:nvCxnSpPr>
        <p:spPr>
          <a:xfrm rot="10800000">
            <a:off x="6984579" y="3622587"/>
            <a:ext cx="300" cy="48300"/>
          </a:xfrm>
          <a:prstGeom prst="straightConnector1">
            <a:avLst/>
          </a:prstGeom>
          <a:noFill/>
          <a:ln cap="flat" cmpd="sng" w="91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0" name="Google Shape;1030;p43"/>
          <p:cNvSpPr/>
          <p:nvPr/>
        </p:nvSpPr>
        <p:spPr>
          <a:xfrm>
            <a:off x="3480450" y="1236900"/>
            <a:ext cx="1327200" cy="1999800"/>
          </a:xfrm>
          <a:prstGeom prst="parallelogram">
            <a:avLst>
              <a:gd fmla="val 25851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43"/>
          <p:cNvSpPr/>
          <p:nvPr/>
        </p:nvSpPr>
        <p:spPr>
          <a:xfrm>
            <a:off x="2054000" y="2081075"/>
            <a:ext cx="471300" cy="119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3"/>
          <p:cNvSpPr/>
          <p:nvPr/>
        </p:nvSpPr>
        <p:spPr>
          <a:xfrm>
            <a:off x="2079950" y="1587850"/>
            <a:ext cx="1098000" cy="523800"/>
          </a:xfrm>
          <a:prstGeom prst="parallelogram">
            <a:avLst>
              <a:gd fmla="val 82729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43"/>
          <p:cNvSpPr/>
          <p:nvPr/>
        </p:nvSpPr>
        <p:spPr>
          <a:xfrm>
            <a:off x="1708125" y="319850"/>
            <a:ext cx="471300" cy="688500"/>
          </a:xfrm>
          <a:prstGeom prst="cube">
            <a:avLst>
              <a:gd fmla="val 65325" name="adj"/>
            </a:avLst>
          </a:prstGeom>
          <a:solidFill>
            <a:srgbClr val="C9DAF8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  <p:sp>
        <p:nvSpPr>
          <p:cNvPr id="1034" name="Google Shape;1034;p43"/>
          <p:cNvSpPr/>
          <p:nvPr/>
        </p:nvSpPr>
        <p:spPr>
          <a:xfrm>
            <a:off x="2905400" y="341550"/>
            <a:ext cx="241800" cy="523800"/>
          </a:xfrm>
          <a:prstGeom prst="cube">
            <a:avLst>
              <a:gd fmla="val 74566" name="adj"/>
            </a:avLst>
          </a:prstGeom>
          <a:solidFill>
            <a:srgbClr val="C9DAF8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84550" lIns="84550" spcFirstLastPara="1" rIns="84550" wrap="square" tIns="84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4"/>
          <p:cNvSpPr/>
          <p:nvPr/>
        </p:nvSpPr>
        <p:spPr>
          <a:xfrm>
            <a:off x="3750775" y="3934725"/>
            <a:ext cx="102900" cy="13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44"/>
          <p:cNvSpPr/>
          <p:nvPr/>
        </p:nvSpPr>
        <p:spPr>
          <a:xfrm>
            <a:off x="5545075" y="3581925"/>
            <a:ext cx="102900" cy="13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4"/>
          <p:cNvSpPr/>
          <p:nvPr/>
        </p:nvSpPr>
        <p:spPr>
          <a:xfrm>
            <a:off x="6071675" y="1154400"/>
            <a:ext cx="102900" cy="12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44"/>
          <p:cNvSpPr/>
          <p:nvPr/>
        </p:nvSpPr>
        <p:spPr>
          <a:xfrm>
            <a:off x="487770" y="571914"/>
            <a:ext cx="6027784" cy="3784245"/>
          </a:xfrm>
          <a:custGeom>
            <a:rect b="b" l="l" r="r" t="t"/>
            <a:pathLst>
              <a:path extrusionOk="0" h="4181486" w="6660535">
                <a:moveTo>
                  <a:pt x="42205" y="4181487"/>
                </a:moveTo>
                <a:lnTo>
                  <a:pt x="6618342" y="4181487"/>
                </a:lnTo>
                <a:cubicBezTo>
                  <a:pt x="6646491" y="4181487"/>
                  <a:pt x="6660536" y="4167417"/>
                  <a:pt x="6660536" y="4139276"/>
                </a:cubicBezTo>
                <a:lnTo>
                  <a:pt x="6660536" y="42211"/>
                </a:lnTo>
                <a:cubicBezTo>
                  <a:pt x="6660536" y="14070"/>
                  <a:pt x="6646491" y="0"/>
                  <a:pt x="6618342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4139276"/>
                </a:lnTo>
                <a:cubicBezTo>
                  <a:pt x="0" y="4167417"/>
                  <a:pt x="14068" y="4181487"/>
                  <a:pt x="42205" y="4181487"/>
                </a:cubicBezTo>
                <a:close/>
              </a:path>
            </a:pathLst>
          </a:custGeom>
          <a:solidFill>
            <a:srgbClr val="F6F6F3"/>
          </a:solidFill>
          <a:ln cap="flat" cmpd="sng" w="9525">
            <a:solidFill>
              <a:srgbClr val="242629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4"/>
          <p:cNvSpPr/>
          <p:nvPr/>
        </p:nvSpPr>
        <p:spPr>
          <a:xfrm>
            <a:off x="6585819" y="607413"/>
            <a:ext cx="2172389" cy="1850340"/>
          </a:xfrm>
          <a:custGeom>
            <a:rect b="b" l="l" r="r" t="t"/>
            <a:pathLst>
              <a:path extrusionOk="0" h="2044575" w="2400430">
                <a:moveTo>
                  <a:pt x="42193" y="2044576"/>
                </a:moveTo>
                <a:lnTo>
                  <a:pt x="2358237" y="2044576"/>
                </a:lnTo>
                <a:cubicBezTo>
                  <a:pt x="2386387" y="2044576"/>
                  <a:pt x="2400431" y="2030506"/>
                  <a:pt x="2400431" y="2002365"/>
                </a:cubicBezTo>
                <a:lnTo>
                  <a:pt x="2400431" y="42211"/>
                </a:lnTo>
                <a:cubicBezTo>
                  <a:pt x="2400431" y="14070"/>
                  <a:pt x="2386387" y="0"/>
                  <a:pt x="2358237" y="0"/>
                </a:cubicBezTo>
                <a:lnTo>
                  <a:pt x="42193" y="0"/>
                </a:lnTo>
                <a:cubicBezTo>
                  <a:pt x="14044" y="0"/>
                  <a:pt x="0" y="14070"/>
                  <a:pt x="0" y="42211"/>
                </a:cubicBezTo>
                <a:lnTo>
                  <a:pt x="0" y="2002365"/>
                </a:lnTo>
                <a:cubicBezTo>
                  <a:pt x="0" y="2030506"/>
                  <a:pt x="14044" y="2044576"/>
                  <a:pt x="42193" y="2044576"/>
                </a:cubicBezTo>
                <a:close/>
              </a:path>
            </a:pathLst>
          </a:custGeom>
          <a:solidFill>
            <a:srgbClr val="FFE49B"/>
          </a:solidFill>
          <a:ln cap="flat" cmpd="sng" w="9525">
            <a:solidFill>
              <a:srgbClr val="242629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4"/>
          <p:cNvSpPr/>
          <p:nvPr/>
        </p:nvSpPr>
        <p:spPr>
          <a:xfrm>
            <a:off x="6585819" y="2588360"/>
            <a:ext cx="2172389" cy="1802590"/>
          </a:xfrm>
          <a:custGeom>
            <a:rect b="b" l="l" r="r" t="t"/>
            <a:pathLst>
              <a:path extrusionOk="0" h="1991812" w="2400430">
                <a:moveTo>
                  <a:pt x="42193" y="1991812"/>
                </a:moveTo>
                <a:lnTo>
                  <a:pt x="2358237" y="1991812"/>
                </a:lnTo>
                <a:cubicBezTo>
                  <a:pt x="2386387" y="1991812"/>
                  <a:pt x="2400431" y="1977742"/>
                  <a:pt x="2400431" y="1949602"/>
                </a:cubicBezTo>
                <a:lnTo>
                  <a:pt x="2400431" y="42211"/>
                </a:lnTo>
                <a:cubicBezTo>
                  <a:pt x="2400431" y="14070"/>
                  <a:pt x="2386387" y="0"/>
                  <a:pt x="2358237" y="0"/>
                </a:cubicBezTo>
                <a:lnTo>
                  <a:pt x="42193" y="0"/>
                </a:lnTo>
                <a:cubicBezTo>
                  <a:pt x="14044" y="0"/>
                  <a:pt x="0" y="14070"/>
                  <a:pt x="0" y="42211"/>
                </a:cubicBezTo>
                <a:lnTo>
                  <a:pt x="0" y="1949602"/>
                </a:lnTo>
                <a:cubicBezTo>
                  <a:pt x="0" y="1977742"/>
                  <a:pt x="14044" y="1991812"/>
                  <a:pt x="42193" y="1991812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5" name="Google Shape;1045;p44"/>
          <p:cNvGrpSpPr/>
          <p:nvPr/>
        </p:nvGrpSpPr>
        <p:grpSpPr>
          <a:xfrm>
            <a:off x="798395" y="1204955"/>
            <a:ext cx="231995" cy="22099"/>
            <a:chOff x="1876073" y="1227722"/>
            <a:chExt cx="295498" cy="24427"/>
          </a:xfrm>
        </p:grpSpPr>
        <p:sp>
          <p:nvSpPr>
            <p:cNvPr id="1046" name="Google Shape;1046;p44"/>
            <p:cNvSpPr/>
            <p:nvPr/>
          </p:nvSpPr>
          <p:spPr>
            <a:xfrm>
              <a:off x="1876073" y="1239936"/>
              <a:ext cx="295498" cy="6106"/>
            </a:xfrm>
            <a:custGeom>
              <a:rect b="b" l="l" r="r" t="t"/>
              <a:pathLst>
                <a:path extrusionOk="0" h="6106" w="295498">
                  <a:moveTo>
                    <a:pt x="0" y="0"/>
                  </a:moveTo>
                  <a:cubicBezTo>
                    <a:pt x="101117" y="0"/>
                    <a:pt x="199615" y="0"/>
                    <a:pt x="295499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44"/>
            <p:cNvSpPr/>
            <p:nvPr/>
          </p:nvSpPr>
          <p:spPr>
            <a:xfrm>
              <a:off x="2147147" y="1227722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8" name="Google Shape;1048;p44"/>
          <p:cNvGrpSpPr/>
          <p:nvPr/>
        </p:nvGrpSpPr>
        <p:grpSpPr>
          <a:xfrm>
            <a:off x="1861578" y="1366344"/>
            <a:ext cx="22099" cy="200599"/>
            <a:chOff x="3090454" y="1556515"/>
            <a:chExt cx="24424" cy="71291"/>
          </a:xfrm>
        </p:grpSpPr>
        <p:sp>
          <p:nvSpPr>
            <p:cNvPr id="1049" name="Google Shape;1049;p44"/>
            <p:cNvSpPr/>
            <p:nvPr/>
          </p:nvSpPr>
          <p:spPr>
            <a:xfrm>
              <a:off x="3102666" y="1556515"/>
              <a:ext cx="6106" cy="71291"/>
            </a:xfrm>
            <a:custGeom>
              <a:rect b="b" l="l" r="r" t="t"/>
              <a:pathLst>
                <a:path extrusionOk="0" h="71291" w="6106">
                  <a:moveTo>
                    <a:pt x="0" y="0"/>
                  </a:moveTo>
                  <a:cubicBezTo>
                    <a:pt x="0" y="26382"/>
                    <a:pt x="0" y="50143"/>
                    <a:pt x="0" y="71291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44"/>
            <p:cNvSpPr/>
            <p:nvPr/>
          </p:nvSpPr>
          <p:spPr>
            <a:xfrm>
              <a:off x="3090454" y="1603379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24424" y="0"/>
                  </a:moveTo>
                  <a:lnTo>
                    <a:pt x="12212" y="24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1" name="Google Shape;1051;p44"/>
          <p:cNvGrpSpPr/>
          <p:nvPr/>
        </p:nvGrpSpPr>
        <p:grpSpPr>
          <a:xfrm>
            <a:off x="1861729" y="1717269"/>
            <a:ext cx="22096" cy="148032"/>
            <a:chOff x="3090454" y="1793950"/>
            <a:chExt cx="24424" cy="163626"/>
          </a:xfrm>
        </p:grpSpPr>
        <p:sp>
          <p:nvSpPr>
            <p:cNvPr id="1052" name="Google Shape;1052;p44"/>
            <p:cNvSpPr/>
            <p:nvPr/>
          </p:nvSpPr>
          <p:spPr>
            <a:xfrm>
              <a:off x="3102666" y="1793950"/>
              <a:ext cx="6106" cy="163626"/>
            </a:xfrm>
            <a:custGeom>
              <a:rect b="b" l="l" r="r" t="t"/>
              <a:pathLst>
                <a:path extrusionOk="0" h="163626" w="6106">
                  <a:moveTo>
                    <a:pt x="0" y="0"/>
                  </a:moveTo>
                  <a:cubicBezTo>
                    <a:pt x="0" y="57160"/>
                    <a:pt x="0" y="111700"/>
                    <a:pt x="0" y="163627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44"/>
            <p:cNvSpPr/>
            <p:nvPr/>
          </p:nvSpPr>
          <p:spPr>
            <a:xfrm>
              <a:off x="3090454" y="1933149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24424" y="0"/>
                  </a:moveTo>
                  <a:lnTo>
                    <a:pt x="12212" y="24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4" name="Google Shape;1054;p44"/>
          <p:cNvGrpSpPr/>
          <p:nvPr/>
        </p:nvGrpSpPr>
        <p:grpSpPr>
          <a:xfrm>
            <a:off x="2815426" y="2111968"/>
            <a:ext cx="243473" cy="22099"/>
            <a:chOff x="4144612" y="2230224"/>
            <a:chExt cx="269120" cy="24427"/>
          </a:xfrm>
        </p:grpSpPr>
        <p:sp>
          <p:nvSpPr>
            <p:cNvPr id="1055" name="Google Shape;1055;p44"/>
            <p:cNvSpPr/>
            <p:nvPr/>
          </p:nvSpPr>
          <p:spPr>
            <a:xfrm>
              <a:off x="4144612" y="2242437"/>
              <a:ext cx="269120" cy="6106"/>
            </a:xfrm>
            <a:custGeom>
              <a:rect b="b" l="l" r="r" t="t"/>
              <a:pathLst>
                <a:path extrusionOk="0" h="6106" w="269120">
                  <a:moveTo>
                    <a:pt x="0" y="0"/>
                  </a:moveTo>
                  <a:cubicBezTo>
                    <a:pt x="92324" y="0"/>
                    <a:pt x="182029" y="0"/>
                    <a:pt x="26912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4"/>
            <p:cNvSpPr/>
            <p:nvPr/>
          </p:nvSpPr>
          <p:spPr>
            <a:xfrm>
              <a:off x="4389307" y="2230224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7" name="Google Shape;1057;p44"/>
          <p:cNvGrpSpPr/>
          <p:nvPr/>
        </p:nvGrpSpPr>
        <p:grpSpPr>
          <a:xfrm>
            <a:off x="3853531" y="2111968"/>
            <a:ext cx="1670570" cy="22099"/>
            <a:chOff x="5292070" y="2230224"/>
            <a:chExt cx="1846546" cy="24427"/>
          </a:xfrm>
        </p:grpSpPr>
        <p:sp>
          <p:nvSpPr>
            <p:cNvPr id="1058" name="Google Shape;1058;p44"/>
            <p:cNvSpPr/>
            <p:nvPr/>
          </p:nvSpPr>
          <p:spPr>
            <a:xfrm>
              <a:off x="5292070" y="2242437"/>
              <a:ext cx="1846546" cy="6106"/>
            </a:xfrm>
            <a:custGeom>
              <a:rect b="b" l="l" r="r" t="t"/>
              <a:pathLst>
                <a:path extrusionOk="0" h="6106" w="1846546">
                  <a:moveTo>
                    <a:pt x="0" y="0"/>
                  </a:moveTo>
                  <a:cubicBezTo>
                    <a:pt x="618133" y="0"/>
                    <a:pt x="1233646" y="0"/>
                    <a:pt x="1846546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44"/>
            <p:cNvSpPr/>
            <p:nvPr/>
          </p:nvSpPr>
          <p:spPr>
            <a:xfrm>
              <a:off x="7114192" y="2230224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0" name="Google Shape;1060;p44"/>
          <p:cNvGrpSpPr/>
          <p:nvPr/>
        </p:nvGrpSpPr>
        <p:grpSpPr>
          <a:xfrm>
            <a:off x="1861729" y="2385543"/>
            <a:ext cx="22096" cy="124166"/>
            <a:chOff x="3090454" y="2532635"/>
            <a:chExt cx="24424" cy="137245"/>
          </a:xfrm>
        </p:grpSpPr>
        <p:sp>
          <p:nvSpPr>
            <p:cNvPr id="1061" name="Google Shape;1061;p44"/>
            <p:cNvSpPr/>
            <p:nvPr/>
          </p:nvSpPr>
          <p:spPr>
            <a:xfrm>
              <a:off x="3102666" y="2532635"/>
              <a:ext cx="6106" cy="137245"/>
            </a:xfrm>
            <a:custGeom>
              <a:rect b="b" l="l" r="r" t="t"/>
              <a:pathLst>
                <a:path extrusionOk="0" h="137245" w="6106">
                  <a:moveTo>
                    <a:pt x="0" y="0"/>
                  </a:moveTo>
                  <a:cubicBezTo>
                    <a:pt x="0" y="48366"/>
                    <a:pt x="0" y="94113"/>
                    <a:pt x="0" y="137245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44"/>
            <p:cNvSpPr/>
            <p:nvPr/>
          </p:nvSpPr>
          <p:spPr>
            <a:xfrm>
              <a:off x="3090454" y="2645453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24424" y="0"/>
                  </a:moveTo>
                  <a:lnTo>
                    <a:pt x="12212" y="24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3" name="Google Shape;1063;p44"/>
          <p:cNvGrpSpPr/>
          <p:nvPr/>
        </p:nvGrpSpPr>
        <p:grpSpPr>
          <a:xfrm>
            <a:off x="1861729" y="2660021"/>
            <a:ext cx="22096" cy="148033"/>
            <a:chOff x="3090454" y="2836024"/>
            <a:chExt cx="24424" cy="163627"/>
          </a:xfrm>
        </p:grpSpPr>
        <p:sp>
          <p:nvSpPr>
            <p:cNvPr id="1064" name="Google Shape;1064;p44"/>
            <p:cNvSpPr/>
            <p:nvPr/>
          </p:nvSpPr>
          <p:spPr>
            <a:xfrm>
              <a:off x="3102666" y="2836024"/>
              <a:ext cx="6106" cy="163627"/>
            </a:xfrm>
            <a:custGeom>
              <a:rect b="b" l="l" r="r" t="t"/>
              <a:pathLst>
                <a:path extrusionOk="0" h="163627" w="6106">
                  <a:moveTo>
                    <a:pt x="0" y="0"/>
                  </a:moveTo>
                  <a:cubicBezTo>
                    <a:pt x="0" y="57160"/>
                    <a:pt x="0" y="111701"/>
                    <a:pt x="0" y="163627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44"/>
            <p:cNvSpPr/>
            <p:nvPr/>
          </p:nvSpPr>
          <p:spPr>
            <a:xfrm>
              <a:off x="3090454" y="2975223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24424" y="0"/>
                  </a:moveTo>
                  <a:lnTo>
                    <a:pt x="12212" y="24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6" name="Google Shape;1066;p44"/>
          <p:cNvGrpSpPr/>
          <p:nvPr/>
        </p:nvGrpSpPr>
        <p:grpSpPr>
          <a:xfrm>
            <a:off x="2815426" y="3054735"/>
            <a:ext cx="243473" cy="22099"/>
            <a:chOff x="4144612" y="3272298"/>
            <a:chExt cx="269120" cy="24427"/>
          </a:xfrm>
        </p:grpSpPr>
        <p:sp>
          <p:nvSpPr>
            <p:cNvPr id="1067" name="Google Shape;1067;p44"/>
            <p:cNvSpPr/>
            <p:nvPr/>
          </p:nvSpPr>
          <p:spPr>
            <a:xfrm>
              <a:off x="4144612" y="3284511"/>
              <a:ext cx="269120" cy="6106"/>
            </a:xfrm>
            <a:custGeom>
              <a:rect b="b" l="l" r="r" t="t"/>
              <a:pathLst>
                <a:path extrusionOk="0" h="6106" w="269120">
                  <a:moveTo>
                    <a:pt x="0" y="0"/>
                  </a:moveTo>
                  <a:cubicBezTo>
                    <a:pt x="92324" y="0"/>
                    <a:pt x="182029" y="0"/>
                    <a:pt x="26912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44"/>
            <p:cNvSpPr/>
            <p:nvPr/>
          </p:nvSpPr>
          <p:spPr>
            <a:xfrm>
              <a:off x="4389307" y="3272298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9" name="Google Shape;1069;p44"/>
          <p:cNvGrpSpPr/>
          <p:nvPr/>
        </p:nvGrpSpPr>
        <p:grpSpPr>
          <a:xfrm>
            <a:off x="3853531" y="3054735"/>
            <a:ext cx="1670570" cy="22099"/>
            <a:chOff x="5292070" y="3272298"/>
            <a:chExt cx="1846546" cy="24427"/>
          </a:xfrm>
        </p:grpSpPr>
        <p:sp>
          <p:nvSpPr>
            <p:cNvPr id="1070" name="Google Shape;1070;p44"/>
            <p:cNvSpPr/>
            <p:nvPr/>
          </p:nvSpPr>
          <p:spPr>
            <a:xfrm>
              <a:off x="5292070" y="3284511"/>
              <a:ext cx="1846546" cy="6106"/>
            </a:xfrm>
            <a:custGeom>
              <a:rect b="b" l="l" r="r" t="t"/>
              <a:pathLst>
                <a:path extrusionOk="0" h="6106" w="1846546">
                  <a:moveTo>
                    <a:pt x="0" y="0"/>
                  </a:moveTo>
                  <a:cubicBezTo>
                    <a:pt x="618133" y="0"/>
                    <a:pt x="1233646" y="0"/>
                    <a:pt x="1846546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44"/>
            <p:cNvSpPr/>
            <p:nvPr/>
          </p:nvSpPr>
          <p:spPr>
            <a:xfrm>
              <a:off x="7114192" y="3272298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2" name="Google Shape;1072;p44"/>
          <p:cNvGrpSpPr/>
          <p:nvPr/>
        </p:nvGrpSpPr>
        <p:grpSpPr>
          <a:xfrm>
            <a:off x="1861729" y="3328304"/>
            <a:ext cx="22096" cy="124166"/>
            <a:chOff x="3090454" y="3574709"/>
            <a:chExt cx="24424" cy="137245"/>
          </a:xfrm>
        </p:grpSpPr>
        <p:sp>
          <p:nvSpPr>
            <p:cNvPr id="1073" name="Google Shape;1073;p44"/>
            <p:cNvSpPr/>
            <p:nvPr/>
          </p:nvSpPr>
          <p:spPr>
            <a:xfrm>
              <a:off x="3102666" y="3574709"/>
              <a:ext cx="6106" cy="137245"/>
            </a:xfrm>
            <a:custGeom>
              <a:rect b="b" l="l" r="r" t="t"/>
              <a:pathLst>
                <a:path extrusionOk="0" h="137245" w="6106">
                  <a:moveTo>
                    <a:pt x="0" y="0"/>
                  </a:moveTo>
                  <a:cubicBezTo>
                    <a:pt x="0" y="48367"/>
                    <a:pt x="0" y="94113"/>
                    <a:pt x="0" y="137245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44"/>
            <p:cNvSpPr/>
            <p:nvPr/>
          </p:nvSpPr>
          <p:spPr>
            <a:xfrm>
              <a:off x="3090454" y="3687527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24424" y="0"/>
                  </a:moveTo>
                  <a:lnTo>
                    <a:pt x="12212" y="24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5" name="Google Shape;1075;p44"/>
          <p:cNvGrpSpPr/>
          <p:nvPr/>
        </p:nvGrpSpPr>
        <p:grpSpPr>
          <a:xfrm>
            <a:off x="1861729" y="3602783"/>
            <a:ext cx="22096" cy="148033"/>
            <a:chOff x="3090454" y="3878098"/>
            <a:chExt cx="24424" cy="163627"/>
          </a:xfrm>
        </p:grpSpPr>
        <p:sp>
          <p:nvSpPr>
            <p:cNvPr id="1076" name="Google Shape;1076;p44"/>
            <p:cNvSpPr/>
            <p:nvPr/>
          </p:nvSpPr>
          <p:spPr>
            <a:xfrm>
              <a:off x="3102666" y="3878098"/>
              <a:ext cx="6106" cy="163627"/>
            </a:xfrm>
            <a:custGeom>
              <a:rect b="b" l="l" r="r" t="t"/>
              <a:pathLst>
                <a:path extrusionOk="0" h="163627" w="6106">
                  <a:moveTo>
                    <a:pt x="0" y="0"/>
                  </a:moveTo>
                  <a:cubicBezTo>
                    <a:pt x="0" y="57160"/>
                    <a:pt x="0" y="111701"/>
                    <a:pt x="0" y="163627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44"/>
            <p:cNvSpPr/>
            <p:nvPr/>
          </p:nvSpPr>
          <p:spPr>
            <a:xfrm>
              <a:off x="3090454" y="4017297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24424" y="0"/>
                  </a:moveTo>
                  <a:lnTo>
                    <a:pt x="12212" y="24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8" name="Google Shape;1078;p44"/>
          <p:cNvGrpSpPr/>
          <p:nvPr/>
        </p:nvGrpSpPr>
        <p:grpSpPr>
          <a:xfrm>
            <a:off x="2815426" y="3997502"/>
            <a:ext cx="243473" cy="22099"/>
            <a:chOff x="4144612" y="4314371"/>
            <a:chExt cx="269120" cy="24427"/>
          </a:xfrm>
        </p:grpSpPr>
        <p:sp>
          <p:nvSpPr>
            <p:cNvPr id="1079" name="Google Shape;1079;p44"/>
            <p:cNvSpPr/>
            <p:nvPr/>
          </p:nvSpPr>
          <p:spPr>
            <a:xfrm>
              <a:off x="4144612" y="4326585"/>
              <a:ext cx="269120" cy="6106"/>
            </a:xfrm>
            <a:custGeom>
              <a:rect b="b" l="l" r="r" t="t"/>
              <a:pathLst>
                <a:path extrusionOk="0" h="6106" w="269120">
                  <a:moveTo>
                    <a:pt x="0" y="0"/>
                  </a:moveTo>
                  <a:cubicBezTo>
                    <a:pt x="92324" y="0"/>
                    <a:pt x="182029" y="0"/>
                    <a:pt x="26912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44"/>
            <p:cNvSpPr/>
            <p:nvPr/>
          </p:nvSpPr>
          <p:spPr>
            <a:xfrm>
              <a:off x="4389307" y="4314371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1" name="Google Shape;1081;p44"/>
          <p:cNvGrpSpPr/>
          <p:nvPr/>
        </p:nvGrpSpPr>
        <p:grpSpPr>
          <a:xfrm>
            <a:off x="5596524" y="3156414"/>
            <a:ext cx="22096" cy="245890"/>
            <a:chOff x="7218667" y="3384700"/>
            <a:chExt cx="24424" cy="271792"/>
          </a:xfrm>
        </p:grpSpPr>
        <p:sp>
          <p:nvSpPr>
            <p:cNvPr id="1082" name="Google Shape;1082;p44"/>
            <p:cNvSpPr/>
            <p:nvPr/>
          </p:nvSpPr>
          <p:spPr>
            <a:xfrm>
              <a:off x="7230879" y="3384700"/>
              <a:ext cx="6106" cy="271792"/>
            </a:xfrm>
            <a:custGeom>
              <a:rect b="b" l="l" r="r" t="t"/>
              <a:pathLst>
                <a:path extrusionOk="0" h="271792" w="6106">
                  <a:moveTo>
                    <a:pt x="0" y="271792"/>
                  </a:moveTo>
                  <a:cubicBezTo>
                    <a:pt x="0" y="178577"/>
                    <a:pt x="0" y="87982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44"/>
            <p:cNvSpPr/>
            <p:nvPr/>
          </p:nvSpPr>
          <p:spPr>
            <a:xfrm>
              <a:off x="7218667" y="3384700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24427"/>
                  </a:moveTo>
                  <a:lnTo>
                    <a:pt x="12212" y="0"/>
                  </a:lnTo>
                  <a:lnTo>
                    <a:pt x="24424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4" name="Google Shape;1084;p44"/>
          <p:cNvGrpSpPr/>
          <p:nvPr/>
        </p:nvGrpSpPr>
        <p:grpSpPr>
          <a:xfrm>
            <a:off x="5596524" y="2776921"/>
            <a:ext cx="22096" cy="205314"/>
            <a:chOff x="7218667" y="2965233"/>
            <a:chExt cx="24424" cy="226942"/>
          </a:xfrm>
        </p:grpSpPr>
        <p:sp>
          <p:nvSpPr>
            <p:cNvPr id="1085" name="Google Shape;1085;p44"/>
            <p:cNvSpPr/>
            <p:nvPr/>
          </p:nvSpPr>
          <p:spPr>
            <a:xfrm>
              <a:off x="7230879" y="2965233"/>
              <a:ext cx="6106" cy="226942"/>
            </a:xfrm>
            <a:custGeom>
              <a:rect b="b" l="l" r="r" t="t"/>
              <a:pathLst>
                <a:path extrusionOk="0" h="226942" w="6106">
                  <a:moveTo>
                    <a:pt x="0" y="226943"/>
                  </a:moveTo>
                  <a:cubicBezTo>
                    <a:pt x="0" y="148677"/>
                    <a:pt x="0" y="73032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44"/>
            <p:cNvSpPr/>
            <p:nvPr/>
          </p:nvSpPr>
          <p:spPr>
            <a:xfrm>
              <a:off x="7218667" y="2965233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24427"/>
                  </a:moveTo>
                  <a:lnTo>
                    <a:pt x="12212" y="0"/>
                  </a:lnTo>
                  <a:lnTo>
                    <a:pt x="24424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7" name="Google Shape;1087;p44"/>
          <p:cNvGrpSpPr/>
          <p:nvPr/>
        </p:nvGrpSpPr>
        <p:grpSpPr>
          <a:xfrm>
            <a:off x="5596524" y="2213650"/>
            <a:ext cx="22096" cy="241116"/>
            <a:chOff x="7218667" y="2342626"/>
            <a:chExt cx="24424" cy="266515"/>
          </a:xfrm>
        </p:grpSpPr>
        <p:sp>
          <p:nvSpPr>
            <p:cNvPr id="1088" name="Google Shape;1088;p44"/>
            <p:cNvSpPr/>
            <p:nvPr/>
          </p:nvSpPr>
          <p:spPr>
            <a:xfrm>
              <a:off x="7230879" y="2342626"/>
              <a:ext cx="6106" cy="266515"/>
            </a:xfrm>
            <a:custGeom>
              <a:rect b="b" l="l" r="r" t="t"/>
              <a:pathLst>
                <a:path extrusionOk="0" h="266515" w="6106">
                  <a:moveTo>
                    <a:pt x="0" y="266515"/>
                  </a:moveTo>
                  <a:cubicBezTo>
                    <a:pt x="0" y="175059"/>
                    <a:pt x="0" y="86223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44"/>
            <p:cNvSpPr/>
            <p:nvPr/>
          </p:nvSpPr>
          <p:spPr>
            <a:xfrm>
              <a:off x="7218667" y="2342626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24427"/>
                  </a:moveTo>
                  <a:lnTo>
                    <a:pt x="12212" y="0"/>
                  </a:lnTo>
                  <a:lnTo>
                    <a:pt x="24424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0" name="Google Shape;1090;p44"/>
          <p:cNvGrpSpPr/>
          <p:nvPr/>
        </p:nvGrpSpPr>
        <p:grpSpPr>
          <a:xfrm>
            <a:off x="5596524" y="1366357"/>
            <a:ext cx="22096" cy="673117"/>
            <a:chOff x="7218667" y="1406079"/>
            <a:chExt cx="24424" cy="744022"/>
          </a:xfrm>
        </p:grpSpPr>
        <p:sp>
          <p:nvSpPr>
            <p:cNvPr id="1091" name="Google Shape;1091;p44"/>
            <p:cNvSpPr/>
            <p:nvPr/>
          </p:nvSpPr>
          <p:spPr>
            <a:xfrm>
              <a:off x="7230879" y="1406079"/>
              <a:ext cx="6106" cy="744022"/>
            </a:xfrm>
            <a:custGeom>
              <a:rect b="b" l="l" r="r" t="t"/>
              <a:pathLst>
                <a:path extrusionOk="0" h="744022" w="6106">
                  <a:moveTo>
                    <a:pt x="0" y="744023"/>
                  </a:moveTo>
                  <a:cubicBezTo>
                    <a:pt x="0" y="493397"/>
                    <a:pt x="0" y="245392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44"/>
            <p:cNvSpPr/>
            <p:nvPr/>
          </p:nvSpPr>
          <p:spPr>
            <a:xfrm>
              <a:off x="7218667" y="1406079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24427"/>
                  </a:moveTo>
                  <a:lnTo>
                    <a:pt x="12212" y="0"/>
                  </a:lnTo>
                  <a:lnTo>
                    <a:pt x="24424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3" name="Google Shape;1093;p44"/>
          <p:cNvGrpSpPr/>
          <p:nvPr/>
        </p:nvGrpSpPr>
        <p:grpSpPr>
          <a:xfrm>
            <a:off x="7313884" y="1061795"/>
            <a:ext cx="195722" cy="22099"/>
            <a:chOff x="9116932" y="1069432"/>
            <a:chExt cx="216339" cy="24427"/>
          </a:xfrm>
        </p:grpSpPr>
        <p:sp>
          <p:nvSpPr>
            <p:cNvPr id="1094" name="Google Shape;1094;p44"/>
            <p:cNvSpPr/>
            <p:nvPr/>
          </p:nvSpPr>
          <p:spPr>
            <a:xfrm>
              <a:off x="9116932" y="1081646"/>
              <a:ext cx="216339" cy="6106"/>
            </a:xfrm>
            <a:custGeom>
              <a:rect b="b" l="l" r="r" t="t"/>
              <a:pathLst>
                <a:path extrusionOk="0" h="6106" w="216339">
                  <a:moveTo>
                    <a:pt x="0" y="0"/>
                  </a:moveTo>
                  <a:cubicBezTo>
                    <a:pt x="74739" y="0"/>
                    <a:pt x="146852" y="0"/>
                    <a:pt x="21634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4"/>
            <p:cNvSpPr/>
            <p:nvPr/>
          </p:nvSpPr>
          <p:spPr>
            <a:xfrm>
              <a:off x="9308847" y="1069432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6" name="Google Shape;1096;p44"/>
          <p:cNvGrpSpPr/>
          <p:nvPr/>
        </p:nvGrpSpPr>
        <p:grpSpPr>
          <a:xfrm>
            <a:off x="7313884" y="1288538"/>
            <a:ext cx="195722" cy="22099"/>
            <a:chOff x="9116932" y="1320058"/>
            <a:chExt cx="216339" cy="24427"/>
          </a:xfrm>
        </p:grpSpPr>
        <p:sp>
          <p:nvSpPr>
            <p:cNvPr id="1097" name="Google Shape;1097;p44"/>
            <p:cNvSpPr/>
            <p:nvPr/>
          </p:nvSpPr>
          <p:spPr>
            <a:xfrm>
              <a:off x="9116932" y="1332271"/>
              <a:ext cx="216339" cy="6106"/>
            </a:xfrm>
            <a:custGeom>
              <a:rect b="b" l="l" r="r" t="t"/>
              <a:pathLst>
                <a:path extrusionOk="0" h="6106" w="216339">
                  <a:moveTo>
                    <a:pt x="0" y="0"/>
                  </a:moveTo>
                  <a:cubicBezTo>
                    <a:pt x="74739" y="0"/>
                    <a:pt x="146852" y="0"/>
                    <a:pt x="21634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4"/>
            <p:cNvSpPr/>
            <p:nvPr/>
          </p:nvSpPr>
          <p:spPr>
            <a:xfrm>
              <a:off x="9308847" y="1320058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9" name="Google Shape;1099;p44"/>
          <p:cNvGrpSpPr/>
          <p:nvPr/>
        </p:nvGrpSpPr>
        <p:grpSpPr>
          <a:xfrm>
            <a:off x="7313884" y="1515279"/>
            <a:ext cx="195722" cy="22099"/>
            <a:chOff x="9116932" y="1570683"/>
            <a:chExt cx="216339" cy="24427"/>
          </a:xfrm>
        </p:grpSpPr>
        <p:sp>
          <p:nvSpPr>
            <p:cNvPr id="1100" name="Google Shape;1100;p44"/>
            <p:cNvSpPr/>
            <p:nvPr/>
          </p:nvSpPr>
          <p:spPr>
            <a:xfrm>
              <a:off x="9116932" y="1582897"/>
              <a:ext cx="216339" cy="6106"/>
            </a:xfrm>
            <a:custGeom>
              <a:rect b="b" l="l" r="r" t="t"/>
              <a:pathLst>
                <a:path extrusionOk="0" h="6106" w="216339">
                  <a:moveTo>
                    <a:pt x="0" y="0"/>
                  </a:moveTo>
                  <a:cubicBezTo>
                    <a:pt x="74739" y="0"/>
                    <a:pt x="146852" y="0"/>
                    <a:pt x="21634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44"/>
            <p:cNvSpPr/>
            <p:nvPr/>
          </p:nvSpPr>
          <p:spPr>
            <a:xfrm>
              <a:off x="9308847" y="1570683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2" name="Google Shape;1102;p44"/>
          <p:cNvGrpSpPr/>
          <p:nvPr/>
        </p:nvGrpSpPr>
        <p:grpSpPr>
          <a:xfrm>
            <a:off x="7313884" y="1742020"/>
            <a:ext cx="195722" cy="22099"/>
            <a:chOff x="9116932" y="1821308"/>
            <a:chExt cx="216339" cy="24427"/>
          </a:xfrm>
        </p:grpSpPr>
        <p:sp>
          <p:nvSpPr>
            <p:cNvPr id="1103" name="Google Shape;1103;p44"/>
            <p:cNvSpPr/>
            <p:nvPr/>
          </p:nvSpPr>
          <p:spPr>
            <a:xfrm>
              <a:off x="9116932" y="1833522"/>
              <a:ext cx="216339" cy="6106"/>
            </a:xfrm>
            <a:custGeom>
              <a:rect b="b" l="l" r="r" t="t"/>
              <a:pathLst>
                <a:path extrusionOk="0" h="6106" w="216339">
                  <a:moveTo>
                    <a:pt x="0" y="0"/>
                  </a:moveTo>
                  <a:cubicBezTo>
                    <a:pt x="74739" y="0"/>
                    <a:pt x="146852" y="0"/>
                    <a:pt x="21634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44"/>
            <p:cNvSpPr/>
            <p:nvPr/>
          </p:nvSpPr>
          <p:spPr>
            <a:xfrm>
              <a:off x="9308847" y="1821308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5" name="Google Shape;1105;p44"/>
          <p:cNvGrpSpPr/>
          <p:nvPr/>
        </p:nvGrpSpPr>
        <p:grpSpPr>
          <a:xfrm>
            <a:off x="7313884" y="1968762"/>
            <a:ext cx="195722" cy="22099"/>
            <a:chOff x="9116932" y="2071934"/>
            <a:chExt cx="216339" cy="24427"/>
          </a:xfrm>
        </p:grpSpPr>
        <p:sp>
          <p:nvSpPr>
            <p:cNvPr id="1106" name="Google Shape;1106;p44"/>
            <p:cNvSpPr/>
            <p:nvPr/>
          </p:nvSpPr>
          <p:spPr>
            <a:xfrm>
              <a:off x="9116932" y="2084148"/>
              <a:ext cx="216339" cy="6106"/>
            </a:xfrm>
            <a:custGeom>
              <a:rect b="b" l="l" r="r" t="t"/>
              <a:pathLst>
                <a:path extrusionOk="0" h="6106" w="216339">
                  <a:moveTo>
                    <a:pt x="0" y="0"/>
                  </a:moveTo>
                  <a:cubicBezTo>
                    <a:pt x="74739" y="0"/>
                    <a:pt x="146852" y="0"/>
                    <a:pt x="21634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4"/>
            <p:cNvSpPr/>
            <p:nvPr/>
          </p:nvSpPr>
          <p:spPr>
            <a:xfrm>
              <a:off x="9308847" y="2071934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8" name="Google Shape;1108;p44"/>
          <p:cNvGrpSpPr/>
          <p:nvPr/>
        </p:nvGrpSpPr>
        <p:grpSpPr>
          <a:xfrm>
            <a:off x="7250303" y="3615622"/>
            <a:ext cx="136061" cy="22099"/>
            <a:chOff x="9046653" y="3892266"/>
            <a:chExt cx="150393" cy="24427"/>
          </a:xfrm>
        </p:grpSpPr>
        <p:sp>
          <p:nvSpPr>
            <p:cNvPr id="1109" name="Google Shape;1109;p44"/>
            <p:cNvSpPr/>
            <p:nvPr/>
          </p:nvSpPr>
          <p:spPr>
            <a:xfrm>
              <a:off x="9046653" y="3904479"/>
              <a:ext cx="150393" cy="6106"/>
            </a:xfrm>
            <a:custGeom>
              <a:rect b="b" l="l" r="r" t="t"/>
              <a:pathLst>
                <a:path extrusionOk="0" h="6106" w="150393">
                  <a:moveTo>
                    <a:pt x="0" y="0"/>
                  </a:moveTo>
                  <a:cubicBezTo>
                    <a:pt x="52757" y="0"/>
                    <a:pt x="102888" y="0"/>
                    <a:pt x="150393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44"/>
            <p:cNvSpPr/>
            <p:nvPr/>
          </p:nvSpPr>
          <p:spPr>
            <a:xfrm>
              <a:off x="9172622" y="3892266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1" name="Google Shape;1111;p44"/>
          <p:cNvGrpSpPr/>
          <p:nvPr/>
        </p:nvGrpSpPr>
        <p:grpSpPr>
          <a:xfrm>
            <a:off x="7942373" y="3615622"/>
            <a:ext cx="136061" cy="22099"/>
            <a:chOff x="9811626" y="3892266"/>
            <a:chExt cx="150393" cy="24427"/>
          </a:xfrm>
        </p:grpSpPr>
        <p:sp>
          <p:nvSpPr>
            <p:cNvPr id="1112" name="Google Shape;1112;p44"/>
            <p:cNvSpPr/>
            <p:nvPr/>
          </p:nvSpPr>
          <p:spPr>
            <a:xfrm>
              <a:off x="9811626" y="3904479"/>
              <a:ext cx="150393" cy="6106"/>
            </a:xfrm>
            <a:custGeom>
              <a:rect b="b" l="l" r="r" t="t"/>
              <a:pathLst>
                <a:path extrusionOk="0" h="6106" w="150393">
                  <a:moveTo>
                    <a:pt x="0" y="0"/>
                  </a:moveTo>
                  <a:cubicBezTo>
                    <a:pt x="52757" y="0"/>
                    <a:pt x="102888" y="0"/>
                    <a:pt x="150393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44"/>
            <p:cNvSpPr/>
            <p:nvPr/>
          </p:nvSpPr>
          <p:spPr>
            <a:xfrm>
              <a:off x="9937594" y="3892266"/>
              <a:ext cx="24424" cy="24427"/>
            </a:xfrm>
            <a:custGeom>
              <a:rect b="b" l="l" r="r" t="t"/>
              <a:pathLst>
                <a:path extrusionOk="0" h="24427" w="24424">
                  <a:moveTo>
                    <a:pt x="0" y="0"/>
                  </a:moveTo>
                  <a:lnTo>
                    <a:pt x="24424" y="12214"/>
                  </a:lnTo>
                  <a:lnTo>
                    <a:pt x="0" y="24427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4" name="Google Shape;1114;p44"/>
          <p:cNvSpPr/>
          <p:nvPr/>
        </p:nvSpPr>
        <p:spPr>
          <a:xfrm>
            <a:off x="1037475" y="978302"/>
            <a:ext cx="1671069" cy="380686"/>
          </a:xfrm>
          <a:custGeom>
            <a:rect b="b" l="l" r="r" t="t"/>
            <a:pathLst>
              <a:path extrusionOk="0" h="316579" w="1846485">
                <a:moveTo>
                  <a:pt x="42205" y="316580"/>
                </a:moveTo>
                <a:lnTo>
                  <a:pt x="1804280" y="316580"/>
                </a:lnTo>
                <a:cubicBezTo>
                  <a:pt x="1832417" y="316580"/>
                  <a:pt x="1846485" y="302509"/>
                  <a:pt x="1846485" y="274369"/>
                </a:cubicBezTo>
                <a:lnTo>
                  <a:pt x="1846485" y="42211"/>
                </a:lnTo>
                <a:cubicBezTo>
                  <a:pt x="1846485" y="14070"/>
                  <a:pt x="1832417" y="0"/>
                  <a:pt x="1804280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274369"/>
                </a:lnTo>
                <a:cubicBezTo>
                  <a:pt x="0" y="302509"/>
                  <a:pt x="14068" y="316580"/>
                  <a:pt x="42205" y="316580"/>
                </a:cubicBez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44"/>
          <p:cNvSpPr/>
          <p:nvPr/>
        </p:nvSpPr>
        <p:spPr>
          <a:xfrm>
            <a:off x="1341733" y="1574019"/>
            <a:ext cx="1062322" cy="143252"/>
          </a:xfrm>
          <a:custGeom>
            <a:rect b="b" l="l" r="r" t="t"/>
            <a:pathLst>
              <a:path extrusionOk="0" h="158289" w="1173836">
                <a:moveTo>
                  <a:pt x="42205" y="158290"/>
                </a:moveTo>
                <a:lnTo>
                  <a:pt x="1131632" y="158290"/>
                </a:lnTo>
                <a:cubicBezTo>
                  <a:pt x="1159769" y="158290"/>
                  <a:pt x="1173837" y="144220"/>
                  <a:pt x="1173837" y="116079"/>
                </a:cubicBezTo>
                <a:lnTo>
                  <a:pt x="1173837" y="42211"/>
                </a:lnTo>
                <a:cubicBezTo>
                  <a:pt x="1173837" y="14070"/>
                  <a:pt x="1159769" y="0"/>
                  <a:pt x="1131632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16079"/>
                </a:lnTo>
                <a:cubicBezTo>
                  <a:pt x="0" y="144220"/>
                  <a:pt x="14068" y="158290"/>
                  <a:pt x="42205" y="158290"/>
                </a:cubicBez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44"/>
          <p:cNvSpPr/>
          <p:nvPr/>
        </p:nvSpPr>
        <p:spPr>
          <a:xfrm>
            <a:off x="930081" y="1872355"/>
            <a:ext cx="1885920" cy="501383"/>
          </a:xfrm>
          <a:custGeom>
            <a:rect b="b" l="l" r="r" t="t"/>
            <a:pathLst>
              <a:path extrusionOk="0" h="554014" w="2083890">
                <a:moveTo>
                  <a:pt x="42205" y="554014"/>
                </a:moveTo>
                <a:lnTo>
                  <a:pt x="2041685" y="554014"/>
                </a:lnTo>
                <a:cubicBezTo>
                  <a:pt x="2069822" y="554014"/>
                  <a:pt x="2083891" y="539944"/>
                  <a:pt x="2083891" y="511804"/>
                </a:cubicBezTo>
                <a:lnTo>
                  <a:pt x="2083891" y="42211"/>
                </a:lnTo>
                <a:cubicBezTo>
                  <a:pt x="2083891" y="14070"/>
                  <a:pt x="2069822" y="0"/>
                  <a:pt x="2041685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511804"/>
                </a:lnTo>
                <a:cubicBezTo>
                  <a:pt x="0" y="539944"/>
                  <a:pt x="14068" y="554014"/>
                  <a:pt x="42205" y="554014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44"/>
          <p:cNvSpPr/>
          <p:nvPr/>
        </p:nvSpPr>
        <p:spPr>
          <a:xfrm>
            <a:off x="1035082" y="2057323"/>
            <a:ext cx="426520" cy="131314"/>
          </a:xfrm>
          <a:custGeom>
            <a:rect b="b" l="l" r="r" t="t"/>
            <a:pathLst>
              <a:path extrusionOk="0" h="145098" w="471293">
                <a:moveTo>
                  <a:pt x="42205" y="145099"/>
                </a:moveTo>
                <a:lnTo>
                  <a:pt x="429088" y="145099"/>
                </a:lnTo>
                <a:cubicBezTo>
                  <a:pt x="457225" y="145099"/>
                  <a:pt x="471293" y="131029"/>
                  <a:pt x="471293" y="102888"/>
                </a:cubicBezTo>
                <a:lnTo>
                  <a:pt x="471293" y="42211"/>
                </a:lnTo>
                <a:cubicBezTo>
                  <a:pt x="471293" y="14070"/>
                  <a:pt x="457225" y="0"/>
                  <a:pt x="429088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02888"/>
                </a:lnTo>
                <a:cubicBezTo>
                  <a:pt x="0" y="131029"/>
                  <a:pt x="14068" y="145099"/>
                  <a:pt x="42205" y="145099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44"/>
          <p:cNvSpPr/>
          <p:nvPr/>
        </p:nvSpPr>
        <p:spPr>
          <a:xfrm>
            <a:off x="1480541" y="2057323"/>
            <a:ext cx="426520" cy="131314"/>
          </a:xfrm>
          <a:custGeom>
            <a:rect b="b" l="l" r="r" t="t"/>
            <a:pathLst>
              <a:path extrusionOk="0" h="145098" w="471293">
                <a:moveTo>
                  <a:pt x="42205" y="145099"/>
                </a:moveTo>
                <a:lnTo>
                  <a:pt x="429088" y="145099"/>
                </a:lnTo>
                <a:cubicBezTo>
                  <a:pt x="457225" y="145099"/>
                  <a:pt x="471293" y="131029"/>
                  <a:pt x="471293" y="102888"/>
                </a:cubicBezTo>
                <a:lnTo>
                  <a:pt x="471293" y="42211"/>
                </a:lnTo>
                <a:cubicBezTo>
                  <a:pt x="471293" y="14070"/>
                  <a:pt x="457225" y="0"/>
                  <a:pt x="429088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02888"/>
                </a:lnTo>
                <a:cubicBezTo>
                  <a:pt x="0" y="131029"/>
                  <a:pt x="14068" y="145099"/>
                  <a:pt x="42205" y="145099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44"/>
          <p:cNvSpPr/>
          <p:nvPr/>
        </p:nvSpPr>
        <p:spPr>
          <a:xfrm>
            <a:off x="1926000" y="2057323"/>
            <a:ext cx="426520" cy="131314"/>
          </a:xfrm>
          <a:custGeom>
            <a:rect b="b" l="l" r="r" t="t"/>
            <a:pathLst>
              <a:path extrusionOk="0" h="145098" w="471293">
                <a:moveTo>
                  <a:pt x="42205" y="145099"/>
                </a:moveTo>
                <a:lnTo>
                  <a:pt x="429088" y="145099"/>
                </a:lnTo>
                <a:cubicBezTo>
                  <a:pt x="457225" y="145099"/>
                  <a:pt x="471293" y="131029"/>
                  <a:pt x="471293" y="102888"/>
                </a:cubicBezTo>
                <a:lnTo>
                  <a:pt x="471293" y="42211"/>
                </a:lnTo>
                <a:cubicBezTo>
                  <a:pt x="471293" y="14070"/>
                  <a:pt x="457225" y="0"/>
                  <a:pt x="429088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02888"/>
                </a:lnTo>
                <a:cubicBezTo>
                  <a:pt x="0" y="131029"/>
                  <a:pt x="14068" y="145099"/>
                  <a:pt x="42205" y="145099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44"/>
          <p:cNvSpPr/>
          <p:nvPr/>
        </p:nvSpPr>
        <p:spPr>
          <a:xfrm>
            <a:off x="2386970" y="2057323"/>
            <a:ext cx="389120" cy="131314"/>
          </a:xfrm>
          <a:custGeom>
            <a:rect b="b" l="l" r="r" t="t"/>
            <a:pathLst>
              <a:path extrusionOk="0" h="145098" w="429967">
                <a:moveTo>
                  <a:pt x="42205" y="145099"/>
                </a:moveTo>
                <a:lnTo>
                  <a:pt x="387762" y="145099"/>
                </a:lnTo>
                <a:cubicBezTo>
                  <a:pt x="415899" y="145099"/>
                  <a:pt x="429967" y="131029"/>
                  <a:pt x="429967" y="102888"/>
                </a:cubicBezTo>
                <a:lnTo>
                  <a:pt x="429967" y="42211"/>
                </a:lnTo>
                <a:cubicBezTo>
                  <a:pt x="429967" y="14070"/>
                  <a:pt x="415899" y="0"/>
                  <a:pt x="387762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02888"/>
                </a:lnTo>
                <a:cubicBezTo>
                  <a:pt x="0" y="131029"/>
                  <a:pt x="14068" y="145099"/>
                  <a:pt x="42205" y="145099"/>
                </a:cubicBezTo>
                <a:close/>
              </a:path>
            </a:pathLst>
          </a:custGeom>
          <a:solidFill>
            <a:srgbClr val="D5C5E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44"/>
          <p:cNvSpPr/>
          <p:nvPr/>
        </p:nvSpPr>
        <p:spPr>
          <a:xfrm>
            <a:off x="3065897" y="1979755"/>
            <a:ext cx="787790" cy="286504"/>
          </a:xfrm>
          <a:custGeom>
            <a:rect b="b" l="l" r="r" t="t"/>
            <a:pathLst>
              <a:path extrusionOk="0" h="316579" w="870486">
                <a:moveTo>
                  <a:pt x="42205" y="316579"/>
                </a:moveTo>
                <a:lnTo>
                  <a:pt x="828280" y="316579"/>
                </a:lnTo>
                <a:cubicBezTo>
                  <a:pt x="856417" y="316579"/>
                  <a:pt x="870486" y="302509"/>
                  <a:pt x="870486" y="274369"/>
                </a:cubicBezTo>
                <a:lnTo>
                  <a:pt x="870486" y="42211"/>
                </a:lnTo>
                <a:cubicBezTo>
                  <a:pt x="870486" y="14070"/>
                  <a:pt x="856417" y="0"/>
                  <a:pt x="828280" y="0"/>
                </a:cubicBezTo>
                <a:lnTo>
                  <a:pt x="42205" y="0"/>
                </a:lnTo>
                <a:cubicBezTo>
                  <a:pt x="14069" y="0"/>
                  <a:pt x="0" y="14070"/>
                  <a:pt x="0" y="42211"/>
                </a:cubicBezTo>
                <a:lnTo>
                  <a:pt x="0" y="274369"/>
                </a:lnTo>
                <a:cubicBezTo>
                  <a:pt x="0" y="302509"/>
                  <a:pt x="14069" y="316579"/>
                  <a:pt x="42205" y="316579"/>
                </a:cubicBezTo>
                <a:close/>
              </a:path>
            </a:pathLst>
          </a:custGeom>
          <a:solidFill>
            <a:srgbClr val="A9CE9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44"/>
          <p:cNvSpPr/>
          <p:nvPr/>
        </p:nvSpPr>
        <p:spPr>
          <a:xfrm>
            <a:off x="1341733" y="2516758"/>
            <a:ext cx="1062322" cy="143252"/>
          </a:xfrm>
          <a:custGeom>
            <a:rect b="b" l="l" r="r" t="t"/>
            <a:pathLst>
              <a:path extrusionOk="0" h="158289" w="1173836">
                <a:moveTo>
                  <a:pt x="42205" y="158290"/>
                </a:moveTo>
                <a:lnTo>
                  <a:pt x="1131632" y="158290"/>
                </a:lnTo>
                <a:cubicBezTo>
                  <a:pt x="1159769" y="158290"/>
                  <a:pt x="1173837" y="144220"/>
                  <a:pt x="1173837" y="116079"/>
                </a:cubicBezTo>
                <a:lnTo>
                  <a:pt x="1173837" y="42211"/>
                </a:lnTo>
                <a:cubicBezTo>
                  <a:pt x="1173837" y="14070"/>
                  <a:pt x="1159769" y="0"/>
                  <a:pt x="1131632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16079"/>
                </a:lnTo>
                <a:cubicBezTo>
                  <a:pt x="0" y="144220"/>
                  <a:pt x="14068" y="158290"/>
                  <a:pt x="42205" y="158290"/>
                </a:cubicBez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44"/>
          <p:cNvSpPr/>
          <p:nvPr/>
        </p:nvSpPr>
        <p:spPr>
          <a:xfrm>
            <a:off x="930081" y="2815094"/>
            <a:ext cx="1885920" cy="501383"/>
          </a:xfrm>
          <a:custGeom>
            <a:rect b="b" l="l" r="r" t="t"/>
            <a:pathLst>
              <a:path extrusionOk="0" h="554014" w="2083890">
                <a:moveTo>
                  <a:pt x="42205" y="554014"/>
                </a:moveTo>
                <a:lnTo>
                  <a:pt x="2041685" y="554014"/>
                </a:lnTo>
                <a:cubicBezTo>
                  <a:pt x="2069822" y="554014"/>
                  <a:pt x="2083891" y="539944"/>
                  <a:pt x="2083891" y="511804"/>
                </a:cubicBezTo>
                <a:lnTo>
                  <a:pt x="2083891" y="42211"/>
                </a:lnTo>
                <a:cubicBezTo>
                  <a:pt x="2083891" y="14070"/>
                  <a:pt x="2069822" y="0"/>
                  <a:pt x="2041685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511804"/>
                </a:lnTo>
                <a:cubicBezTo>
                  <a:pt x="0" y="539944"/>
                  <a:pt x="14068" y="554014"/>
                  <a:pt x="42205" y="554014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44"/>
          <p:cNvSpPr/>
          <p:nvPr/>
        </p:nvSpPr>
        <p:spPr>
          <a:xfrm>
            <a:off x="1035082" y="3000063"/>
            <a:ext cx="315116" cy="131314"/>
          </a:xfrm>
          <a:custGeom>
            <a:rect b="b" l="l" r="r" t="t"/>
            <a:pathLst>
              <a:path extrusionOk="0" h="145098" w="348194">
                <a:moveTo>
                  <a:pt x="42205" y="145099"/>
                </a:moveTo>
                <a:lnTo>
                  <a:pt x="305989" y="145099"/>
                </a:lnTo>
                <a:cubicBezTo>
                  <a:pt x="334126" y="145099"/>
                  <a:pt x="348194" y="131029"/>
                  <a:pt x="348194" y="102888"/>
                </a:cubicBezTo>
                <a:lnTo>
                  <a:pt x="348194" y="42211"/>
                </a:lnTo>
                <a:cubicBezTo>
                  <a:pt x="348194" y="14070"/>
                  <a:pt x="334126" y="0"/>
                  <a:pt x="305989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02888"/>
                </a:lnTo>
                <a:cubicBezTo>
                  <a:pt x="0" y="131029"/>
                  <a:pt x="14068" y="145099"/>
                  <a:pt x="42205" y="145099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44"/>
          <p:cNvSpPr/>
          <p:nvPr/>
        </p:nvSpPr>
        <p:spPr>
          <a:xfrm>
            <a:off x="1369176" y="3000063"/>
            <a:ext cx="315116" cy="131314"/>
          </a:xfrm>
          <a:custGeom>
            <a:rect b="b" l="l" r="r" t="t"/>
            <a:pathLst>
              <a:path extrusionOk="0" h="145098" w="348194">
                <a:moveTo>
                  <a:pt x="42205" y="145099"/>
                </a:moveTo>
                <a:lnTo>
                  <a:pt x="305989" y="145099"/>
                </a:lnTo>
                <a:cubicBezTo>
                  <a:pt x="334126" y="145099"/>
                  <a:pt x="348194" y="131029"/>
                  <a:pt x="348194" y="102888"/>
                </a:cubicBezTo>
                <a:lnTo>
                  <a:pt x="348194" y="42211"/>
                </a:lnTo>
                <a:cubicBezTo>
                  <a:pt x="348194" y="14070"/>
                  <a:pt x="334126" y="0"/>
                  <a:pt x="305989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02888"/>
                </a:lnTo>
                <a:cubicBezTo>
                  <a:pt x="0" y="131029"/>
                  <a:pt x="14068" y="145099"/>
                  <a:pt x="42205" y="145099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44"/>
          <p:cNvSpPr/>
          <p:nvPr/>
        </p:nvSpPr>
        <p:spPr>
          <a:xfrm>
            <a:off x="1703270" y="3000063"/>
            <a:ext cx="315116" cy="131314"/>
          </a:xfrm>
          <a:custGeom>
            <a:rect b="b" l="l" r="r" t="t"/>
            <a:pathLst>
              <a:path extrusionOk="0" h="145098" w="348194">
                <a:moveTo>
                  <a:pt x="42205" y="145099"/>
                </a:moveTo>
                <a:lnTo>
                  <a:pt x="305989" y="145099"/>
                </a:lnTo>
                <a:cubicBezTo>
                  <a:pt x="334126" y="145099"/>
                  <a:pt x="348194" y="131029"/>
                  <a:pt x="348194" y="102888"/>
                </a:cubicBezTo>
                <a:lnTo>
                  <a:pt x="348194" y="42211"/>
                </a:lnTo>
                <a:cubicBezTo>
                  <a:pt x="348194" y="14070"/>
                  <a:pt x="334126" y="0"/>
                  <a:pt x="305989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02888"/>
                </a:lnTo>
                <a:cubicBezTo>
                  <a:pt x="0" y="131029"/>
                  <a:pt x="14068" y="145099"/>
                  <a:pt x="42205" y="145099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4"/>
          <p:cNvSpPr/>
          <p:nvPr/>
        </p:nvSpPr>
        <p:spPr>
          <a:xfrm>
            <a:off x="2037365" y="3000063"/>
            <a:ext cx="315116" cy="131314"/>
          </a:xfrm>
          <a:custGeom>
            <a:rect b="b" l="l" r="r" t="t"/>
            <a:pathLst>
              <a:path extrusionOk="0" h="145098" w="348194">
                <a:moveTo>
                  <a:pt x="42205" y="145099"/>
                </a:moveTo>
                <a:lnTo>
                  <a:pt x="305989" y="145099"/>
                </a:lnTo>
                <a:cubicBezTo>
                  <a:pt x="334126" y="145099"/>
                  <a:pt x="348194" y="131029"/>
                  <a:pt x="348194" y="102888"/>
                </a:cubicBezTo>
                <a:lnTo>
                  <a:pt x="348194" y="42211"/>
                </a:lnTo>
                <a:cubicBezTo>
                  <a:pt x="348194" y="14070"/>
                  <a:pt x="334126" y="0"/>
                  <a:pt x="305989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02888"/>
                </a:lnTo>
                <a:cubicBezTo>
                  <a:pt x="0" y="131029"/>
                  <a:pt x="14068" y="145099"/>
                  <a:pt x="42205" y="145099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44"/>
          <p:cNvSpPr/>
          <p:nvPr/>
        </p:nvSpPr>
        <p:spPr>
          <a:xfrm>
            <a:off x="2386970" y="3000063"/>
            <a:ext cx="389120" cy="131314"/>
          </a:xfrm>
          <a:custGeom>
            <a:rect b="b" l="l" r="r" t="t"/>
            <a:pathLst>
              <a:path extrusionOk="0" h="145098" w="429967">
                <a:moveTo>
                  <a:pt x="42205" y="145099"/>
                </a:moveTo>
                <a:lnTo>
                  <a:pt x="387762" y="145099"/>
                </a:lnTo>
                <a:cubicBezTo>
                  <a:pt x="415899" y="145099"/>
                  <a:pt x="429967" y="131029"/>
                  <a:pt x="429967" y="102888"/>
                </a:cubicBezTo>
                <a:lnTo>
                  <a:pt x="429967" y="42211"/>
                </a:lnTo>
                <a:cubicBezTo>
                  <a:pt x="429967" y="14070"/>
                  <a:pt x="415899" y="0"/>
                  <a:pt x="387762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02888"/>
                </a:lnTo>
                <a:cubicBezTo>
                  <a:pt x="0" y="131029"/>
                  <a:pt x="14068" y="145099"/>
                  <a:pt x="42205" y="145099"/>
                </a:cubicBezTo>
                <a:close/>
              </a:path>
            </a:pathLst>
          </a:custGeom>
          <a:solidFill>
            <a:srgbClr val="D5C5E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44"/>
          <p:cNvSpPr/>
          <p:nvPr/>
        </p:nvSpPr>
        <p:spPr>
          <a:xfrm>
            <a:off x="3065897" y="2922495"/>
            <a:ext cx="787790" cy="286504"/>
          </a:xfrm>
          <a:custGeom>
            <a:rect b="b" l="l" r="r" t="t"/>
            <a:pathLst>
              <a:path extrusionOk="0" h="316579" w="870486">
                <a:moveTo>
                  <a:pt x="42205" y="316579"/>
                </a:moveTo>
                <a:lnTo>
                  <a:pt x="828280" y="316579"/>
                </a:lnTo>
                <a:cubicBezTo>
                  <a:pt x="856417" y="316579"/>
                  <a:pt x="870486" y="302509"/>
                  <a:pt x="870486" y="274369"/>
                </a:cubicBezTo>
                <a:lnTo>
                  <a:pt x="870486" y="42210"/>
                </a:lnTo>
                <a:cubicBezTo>
                  <a:pt x="870486" y="14070"/>
                  <a:pt x="856417" y="0"/>
                  <a:pt x="828280" y="0"/>
                </a:cubicBezTo>
                <a:lnTo>
                  <a:pt x="42205" y="0"/>
                </a:lnTo>
                <a:cubicBezTo>
                  <a:pt x="14069" y="0"/>
                  <a:pt x="0" y="14070"/>
                  <a:pt x="0" y="42210"/>
                </a:cubicBezTo>
                <a:lnTo>
                  <a:pt x="0" y="274369"/>
                </a:lnTo>
                <a:cubicBezTo>
                  <a:pt x="0" y="302509"/>
                  <a:pt x="14069" y="316579"/>
                  <a:pt x="42205" y="316579"/>
                </a:cubicBezTo>
                <a:close/>
              </a:path>
            </a:pathLst>
          </a:custGeom>
          <a:solidFill>
            <a:srgbClr val="A9CE9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44"/>
          <p:cNvSpPr/>
          <p:nvPr/>
        </p:nvSpPr>
        <p:spPr>
          <a:xfrm>
            <a:off x="1341733" y="3459498"/>
            <a:ext cx="1062322" cy="143252"/>
          </a:xfrm>
          <a:custGeom>
            <a:rect b="b" l="l" r="r" t="t"/>
            <a:pathLst>
              <a:path extrusionOk="0" h="158289" w="1173836">
                <a:moveTo>
                  <a:pt x="42205" y="158290"/>
                </a:moveTo>
                <a:lnTo>
                  <a:pt x="1131632" y="158290"/>
                </a:lnTo>
                <a:cubicBezTo>
                  <a:pt x="1159769" y="158290"/>
                  <a:pt x="1173837" y="144220"/>
                  <a:pt x="1173837" y="116079"/>
                </a:cubicBezTo>
                <a:lnTo>
                  <a:pt x="1173837" y="42211"/>
                </a:lnTo>
                <a:cubicBezTo>
                  <a:pt x="1173837" y="14070"/>
                  <a:pt x="1159769" y="0"/>
                  <a:pt x="1131632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16079"/>
                </a:lnTo>
                <a:cubicBezTo>
                  <a:pt x="0" y="144220"/>
                  <a:pt x="14068" y="158290"/>
                  <a:pt x="42205" y="158290"/>
                </a:cubicBez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4"/>
          <p:cNvSpPr/>
          <p:nvPr/>
        </p:nvSpPr>
        <p:spPr>
          <a:xfrm>
            <a:off x="930081" y="3757834"/>
            <a:ext cx="1885920" cy="501383"/>
          </a:xfrm>
          <a:custGeom>
            <a:rect b="b" l="l" r="r" t="t"/>
            <a:pathLst>
              <a:path extrusionOk="0" h="554014" w="2083890">
                <a:moveTo>
                  <a:pt x="42205" y="554014"/>
                </a:moveTo>
                <a:lnTo>
                  <a:pt x="2041685" y="554014"/>
                </a:lnTo>
                <a:cubicBezTo>
                  <a:pt x="2069822" y="554014"/>
                  <a:pt x="2083891" y="539944"/>
                  <a:pt x="2083891" y="511803"/>
                </a:cubicBezTo>
                <a:lnTo>
                  <a:pt x="2083891" y="42211"/>
                </a:lnTo>
                <a:cubicBezTo>
                  <a:pt x="2083891" y="14070"/>
                  <a:pt x="2069822" y="0"/>
                  <a:pt x="2041685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511803"/>
                </a:lnTo>
                <a:cubicBezTo>
                  <a:pt x="0" y="539944"/>
                  <a:pt x="14068" y="554014"/>
                  <a:pt x="42205" y="554014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4"/>
          <p:cNvSpPr/>
          <p:nvPr/>
        </p:nvSpPr>
        <p:spPr>
          <a:xfrm>
            <a:off x="1035082" y="3942801"/>
            <a:ext cx="828373" cy="131314"/>
          </a:xfrm>
          <a:custGeom>
            <a:rect b="b" l="l" r="r" t="t"/>
            <a:pathLst>
              <a:path extrusionOk="0" h="145098" w="915329">
                <a:moveTo>
                  <a:pt x="42205" y="145099"/>
                </a:moveTo>
                <a:lnTo>
                  <a:pt x="873124" y="145099"/>
                </a:lnTo>
                <a:cubicBezTo>
                  <a:pt x="901261" y="145099"/>
                  <a:pt x="915329" y="131029"/>
                  <a:pt x="915329" y="102888"/>
                </a:cubicBezTo>
                <a:lnTo>
                  <a:pt x="915329" y="42211"/>
                </a:lnTo>
                <a:cubicBezTo>
                  <a:pt x="915329" y="14070"/>
                  <a:pt x="901261" y="0"/>
                  <a:pt x="873124" y="0"/>
                </a:cubicBezTo>
                <a:lnTo>
                  <a:pt x="42205" y="0"/>
                </a:lnTo>
                <a:cubicBezTo>
                  <a:pt x="14068" y="0"/>
                  <a:pt x="0" y="14070"/>
                  <a:pt x="0" y="42211"/>
                </a:cubicBezTo>
                <a:lnTo>
                  <a:pt x="0" y="102888"/>
                </a:lnTo>
                <a:cubicBezTo>
                  <a:pt x="0" y="131029"/>
                  <a:pt x="14068" y="145099"/>
                  <a:pt x="42205" y="145099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44"/>
          <p:cNvSpPr/>
          <p:nvPr/>
        </p:nvSpPr>
        <p:spPr>
          <a:xfrm>
            <a:off x="1882250" y="3942801"/>
            <a:ext cx="828373" cy="131314"/>
          </a:xfrm>
          <a:custGeom>
            <a:rect b="b" l="l" r="r" t="t"/>
            <a:pathLst>
              <a:path extrusionOk="0" h="145098" w="915329">
                <a:moveTo>
                  <a:pt x="42205" y="145099"/>
                </a:moveTo>
                <a:lnTo>
                  <a:pt x="873124" y="145099"/>
                </a:lnTo>
                <a:cubicBezTo>
                  <a:pt x="901261" y="145099"/>
                  <a:pt x="915329" y="131029"/>
                  <a:pt x="915329" y="102888"/>
                </a:cubicBezTo>
                <a:lnTo>
                  <a:pt x="915329" y="42211"/>
                </a:lnTo>
                <a:cubicBezTo>
                  <a:pt x="915329" y="14070"/>
                  <a:pt x="901261" y="0"/>
                  <a:pt x="873124" y="0"/>
                </a:cubicBezTo>
                <a:lnTo>
                  <a:pt x="42205" y="0"/>
                </a:lnTo>
                <a:cubicBezTo>
                  <a:pt x="14069" y="0"/>
                  <a:pt x="0" y="14070"/>
                  <a:pt x="0" y="42211"/>
                </a:cubicBezTo>
                <a:lnTo>
                  <a:pt x="0" y="102888"/>
                </a:lnTo>
                <a:cubicBezTo>
                  <a:pt x="0" y="131029"/>
                  <a:pt x="14069" y="145099"/>
                  <a:pt x="42205" y="145099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44"/>
          <p:cNvSpPr/>
          <p:nvPr/>
        </p:nvSpPr>
        <p:spPr>
          <a:xfrm>
            <a:off x="3065897" y="3865235"/>
            <a:ext cx="787790" cy="286504"/>
          </a:xfrm>
          <a:custGeom>
            <a:rect b="b" l="l" r="r" t="t"/>
            <a:pathLst>
              <a:path extrusionOk="0" h="316579" w="870486">
                <a:moveTo>
                  <a:pt x="42205" y="316580"/>
                </a:moveTo>
                <a:lnTo>
                  <a:pt x="828280" y="316580"/>
                </a:lnTo>
                <a:cubicBezTo>
                  <a:pt x="856417" y="316580"/>
                  <a:pt x="870486" y="302509"/>
                  <a:pt x="870486" y="274369"/>
                </a:cubicBezTo>
                <a:lnTo>
                  <a:pt x="870486" y="42211"/>
                </a:lnTo>
                <a:cubicBezTo>
                  <a:pt x="870486" y="14070"/>
                  <a:pt x="856417" y="0"/>
                  <a:pt x="828280" y="0"/>
                </a:cubicBezTo>
                <a:lnTo>
                  <a:pt x="42205" y="0"/>
                </a:lnTo>
                <a:cubicBezTo>
                  <a:pt x="14069" y="0"/>
                  <a:pt x="0" y="14070"/>
                  <a:pt x="0" y="42211"/>
                </a:cubicBezTo>
                <a:lnTo>
                  <a:pt x="0" y="274369"/>
                </a:lnTo>
                <a:cubicBezTo>
                  <a:pt x="0" y="302509"/>
                  <a:pt x="14069" y="316580"/>
                  <a:pt x="42205" y="316580"/>
                </a:cubicBezTo>
                <a:close/>
              </a:path>
            </a:pathLst>
          </a:custGeom>
          <a:solidFill>
            <a:srgbClr val="A9CE9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44"/>
          <p:cNvSpPr/>
          <p:nvPr/>
        </p:nvSpPr>
        <p:spPr>
          <a:xfrm>
            <a:off x="5040634" y="3402218"/>
            <a:ext cx="1133939" cy="305604"/>
          </a:xfrm>
          <a:custGeom>
            <a:rect b="b" l="l" r="r" t="t"/>
            <a:pathLst>
              <a:path extrusionOk="0" h="337684" w="1252971">
                <a:moveTo>
                  <a:pt x="42205" y="337685"/>
                </a:moveTo>
                <a:lnTo>
                  <a:pt x="1210779" y="337685"/>
                </a:lnTo>
                <a:cubicBezTo>
                  <a:pt x="1238928" y="337685"/>
                  <a:pt x="1252972" y="323615"/>
                  <a:pt x="1252972" y="295474"/>
                </a:cubicBezTo>
                <a:lnTo>
                  <a:pt x="1252972" y="42211"/>
                </a:lnTo>
                <a:cubicBezTo>
                  <a:pt x="1252972" y="14070"/>
                  <a:pt x="1238928" y="0"/>
                  <a:pt x="1210779" y="0"/>
                </a:cubicBezTo>
                <a:lnTo>
                  <a:pt x="42205" y="0"/>
                </a:lnTo>
                <a:cubicBezTo>
                  <a:pt x="14069" y="0"/>
                  <a:pt x="0" y="14070"/>
                  <a:pt x="0" y="42211"/>
                </a:cubicBezTo>
                <a:lnTo>
                  <a:pt x="0" y="295474"/>
                </a:lnTo>
                <a:cubicBezTo>
                  <a:pt x="0" y="323615"/>
                  <a:pt x="14069" y="337685"/>
                  <a:pt x="42205" y="337685"/>
                </a:cubicBezTo>
                <a:close/>
              </a:path>
            </a:pathLst>
          </a:custGeom>
          <a:solidFill>
            <a:srgbClr val="FFE49B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44"/>
          <p:cNvSpPr/>
          <p:nvPr/>
        </p:nvSpPr>
        <p:spPr>
          <a:xfrm>
            <a:off x="5040634" y="2454705"/>
            <a:ext cx="1133939" cy="315154"/>
          </a:xfrm>
          <a:custGeom>
            <a:rect b="b" l="l" r="r" t="t"/>
            <a:pathLst>
              <a:path extrusionOk="0" h="348237" w="1252971">
                <a:moveTo>
                  <a:pt x="42205" y="348238"/>
                </a:moveTo>
                <a:lnTo>
                  <a:pt x="1210779" y="348238"/>
                </a:lnTo>
                <a:cubicBezTo>
                  <a:pt x="1238928" y="348238"/>
                  <a:pt x="1252972" y="334167"/>
                  <a:pt x="1252972" y="306027"/>
                </a:cubicBezTo>
                <a:lnTo>
                  <a:pt x="1252972" y="42211"/>
                </a:lnTo>
                <a:cubicBezTo>
                  <a:pt x="1252972" y="14070"/>
                  <a:pt x="1238928" y="0"/>
                  <a:pt x="1210779" y="0"/>
                </a:cubicBezTo>
                <a:lnTo>
                  <a:pt x="42205" y="0"/>
                </a:lnTo>
                <a:cubicBezTo>
                  <a:pt x="14069" y="0"/>
                  <a:pt x="0" y="14070"/>
                  <a:pt x="0" y="42211"/>
                </a:cubicBezTo>
                <a:lnTo>
                  <a:pt x="0" y="306027"/>
                </a:lnTo>
                <a:cubicBezTo>
                  <a:pt x="0" y="334167"/>
                  <a:pt x="14069" y="348238"/>
                  <a:pt x="42205" y="348238"/>
                </a:cubicBezTo>
                <a:close/>
              </a:path>
            </a:pathLst>
          </a:custGeom>
          <a:solidFill>
            <a:srgbClr val="FFE49B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44"/>
          <p:cNvSpPr/>
          <p:nvPr/>
        </p:nvSpPr>
        <p:spPr>
          <a:xfrm>
            <a:off x="5040634" y="1072816"/>
            <a:ext cx="1133939" cy="286504"/>
          </a:xfrm>
          <a:custGeom>
            <a:rect b="b" l="l" r="r" t="t"/>
            <a:pathLst>
              <a:path extrusionOk="0" h="316579" w="1252971">
                <a:moveTo>
                  <a:pt x="42205" y="316580"/>
                </a:moveTo>
                <a:lnTo>
                  <a:pt x="1210779" y="316580"/>
                </a:lnTo>
                <a:cubicBezTo>
                  <a:pt x="1238928" y="316580"/>
                  <a:pt x="1252972" y="302509"/>
                  <a:pt x="1252972" y="274369"/>
                </a:cubicBezTo>
                <a:lnTo>
                  <a:pt x="1252972" y="42211"/>
                </a:lnTo>
                <a:cubicBezTo>
                  <a:pt x="1252972" y="14070"/>
                  <a:pt x="1238928" y="0"/>
                  <a:pt x="1210779" y="0"/>
                </a:cubicBezTo>
                <a:lnTo>
                  <a:pt x="42205" y="0"/>
                </a:lnTo>
                <a:cubicBezTo>
                  <a:pt x="14069" y="0"/>
                  <a:pt x="0" y="14070"/>
                  <a:pt x="0" y="42211"/>
                </a:cubicBezTo>
                <a:lnTo>
                  <a:pt x="0" y="274369"/>
                </a:lnTo>
                <a:cubicBezTo>
                  <a:pt x="0" y="302509"/>
                  <a:pt x="14069" y="316580"/>
                  <a:pt x="42205" y="316580"/>
                </a:cubicBezTo>
                <a:close/>
              </a:path>
            </a:pathLst>
          </a:custGeom>
          <a:solidFill>
            <a:srgbClr val="A9CE9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44"/>
          <p:cNvSpPr/>
          <p:nvPr/>
        </p:nvSpPr>
        <p:spPr>
          <a:xfrm>
            <a:off x="6931845" y="1001216"/>
            <a:ext cx="381958" cy="143252"/>
          </a:xfrm>
          <a:custGeom>
            <a:rect b="b" l="l" r="r" t="t"/>
            <a:pathLst>
              <a:path extrusionOk="0" h="158289" w="422053">
                <a:moveTo>
                  <a:pt x="42193" y="158290"/>
                </a:moveTo>
                <a:lnTo>
                  <a:pt x="379860" y="158290"/>
                </a:lnTo>
                <a:cubicBezTo>
                  <a:pt x="408009" y="158290"/>
                  <a:pt x="422054" y="144220"/>
                  <a:pt x="422054" y="116079"/>
                </a:cubicBezTo>
                <a:lnTo>
                  <a:pt x="422054" y="42211"/>
                </a:lnTo>
                <a:cubicBezTo>
                  <a:pt x="422054" y="14070"/>
                  <a:pt x="408009" y="0"/>
                  <a:pt x="379860" y="0"/>
                </a:cubicBezTo>
                <a:lnTo>
                  <a:pt x="42193" y="0"/>
                </a:lnTo>
                <a:cubicBezTo>
                  <a:pt x="14044" y="0"/>
                  <a:pt x="0" y="14070"/>
                  <a:pt x="0" y="42211"/>
                </a:cubicBezTo>
                <a:lnTo>
                  <a:pt x="0" y="116079"/>
                </a:lnTo>
                <a:cubicBezTo>
                  <a:pt x="0" y="144220"/>
                  <a:pt x="14044" y="158290"/>
                  <a:pt x="42193" y="158290"/>
                </a:cubicBez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44"/>
          <p:cNvSpPr/>
          <p:nvPr/>
        </p:nvSpPr>
        <p:spPr>
          <a:xfrm>
            <a:off x="6931845" y="1227950"/>
            <a:ext cx="381958" cy="143252"/>
          </a:xfrm>
          <a:custGeom>
            <a:rect b="b" l="l" r="r" t="t"/>
            <a:pathLst>
              <a:path extrusionOk="0" h="158289" w="422053">
                <a:moveTo>
                  <a:pt x="42193" y="158290"/>
                </a:moveTo>
                <a:lnTo>
                  <a:pt x="379860" y="158290"/>
                </a:lnTo>
                <a:cubicBezTo>
                  <a:pt x="408009" y="158290"/>
                  <a:pt x="422054" y="144220"/>
                  <a:pt x="422054" y="116079"/>
                </a:cubicBezTo>
                <a:lnTo>
                  <a:pt x="422054" y="42211"/>
                </a:lnTo>
                <a:cubicBezTo>
                  <a:pt x="422054" y="14070"/>
                  <a:pt x="408009" y="0"/>
                  <a:pt x="379860" y="0"/>
                </a:cubicBezTo>
                <a:lnTo>
                  <a:pt x="42193" y="0"/>
                </a:lnTo>
                <a:cubicBezTo>
                  <a:pt x="14044" y="0"/>
                  <a:pt x="0" y="14070"/>
                  <a:pt x="0" y="42211"/>
                </a:cubicBezTo>
                <a:lnTo>
                  <a:pt x="0" y="116079"/>
                </a:lnTo>
                <a:cubicBezTo>
                  <a:pt x="0" y="144220"/>
                  <a:pt x="14044" y="158290"/>
                  <a:pt x="42193" y="158290"/>
                </a:cubicBez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44"/>
          <p:cNvSpPr/>
          <p:nvPr/>
        </p:nvSpPr>
        <p:spPr>
          <a:xfrm>
            <a:off x="6931845" y="1454685"/>
            <a:ext cx="381958" cy="143252"/>
          </a:xfrm>
          <a:custGeom>
            <a:rect b="b" l="l" r="r" t="t"/>
            <a:pathLst>
              <a:path extrusionOk="0" h="158289" w="422053">
                <a:moveTo>
                  <a:pt x="42193" y="158290"/>
                </a:moveTo>
                <a:lnTo>
                  <a:pt x="379860" y="158290"/>
                </a:lnTo>
                <a:cubicBezTo>
                  <a:pt x="408009" y="158290"/>
                  <a:pt x="422054" y="144219"/>
                  <a:pt x="422054" y="116079"/>
                </a:cubicBezTo>
                <a:lnTo>
                  <a:pt x="422054" y="42211"/>
                </a:lnTo>
                <a:cubicBezTo>
                  <a:pt x="422054" y="14070"/>
                  <a:pt x="408009" y="0"/>
                  <a:pt x="379860" y="0"/>
                </a:cubicBezTo>
                <a:lnTo>
                  <a:pt x="42193" y="0"/>
                </a:lnTo>
                <a:cubicBezTo>
                  <a:pt x="14044" y="0"/>
                  <a:pt x="0" y="14070"/>
                  <a:pt x="0" y="42211"/>
                </a:cubicBezTo>
                <a:lnTo>
                  <a:pt x="0" y="116079"/>
                </a:lnTo>
                <a:cubicBezTo>
                  <a:pt x="0" y="144219"/>
                  <a:pt x="14044" y="158290"/>
                  <a:pt x="42193" y="158290"/>
                </a:cubicBez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44"/>
          <p:cNvSpPr/>
          <p:nvPr/>
        </p:nvSpPr>
        <p:spPr>
          <a:xfrm>
            <a:off x="6931845" y="1681419"/>
            <a:ext cx="381958" cy="143252"/>
          </a:xfrm>
          <a:custGeom>
            <a:rect b="b" l="l" r="r" t="t"/>
            <a:pathLst>
              <a:path extrusionOk="0" h="158289" w="422053">
                <a:moveTo>
                  <a:pt x="42193" y="158290"/>
                </a:moveTo>
                <a:lnTo>
                  <a:pt x="379860" y="158290"/>
                </a:lnTo>
                <a:cubicBezTo>
                  <a:pt x="408009" y="158290"/>
                  <a:pt x="422054" y="144220"/>
                  <a:pt x="422054" y="116079"/>
                </a:cubicBezTo>
                <a:lnTo>
                  <a:pt x="422054" y="42211"/>
                </a:lnTo>
                <a:cubicBezTo>
                  <a:pt x="422054" y="14070"/>
                  <a:pt x="408009" y="0"/>
                  <a:pt x="379860" y="0"/>
                </a:cubicBezTo>
                <a:lnTo>
                  <a:pt x="42193" y="0"/>
                </a:lnTo>
                <a:cubicBezTo>
                  <a:pt x="14044" y="0"/>
                  <a:pt x="0" y="14070"/>
                  <a:pt x="0" y="42211"/>
                </a:cubicBezTo>
                <a:lnTo>
                  <a:pt x="0" y="116079"/>
                </a:lnTo>
                <a:cubicBezTo>
                  <a:pt x="0" y="144220"/>
                  <a:pt x="14044" y="158290"/>
                  <a:pt x="42193" y="158290"/>
                </a:cubicBez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44"/>
          <p:cNvSpPr/>
          <p:nvPr/>
        </p:nvSpPr>
        <p:spPr>
          <a:xfrm>
            <a:off x="6931845" y="1908155"/>
            <a:ext cx="381958" cy="143252"/>
          </a:xfrm>
          <a:custGeom>
            <a:rect b="b" l="l" r="r" t="t"/>
            <a:pathLst>
              <a:path extrusionOk="0" h="158289" w="422053">
                <a:moveTo>
                  <a:pt x="42193" y="158290"/>
                </a:moveTo>
                <a:lnTo>
                  <a:pt x="379860" y="158290"/>
                </a:lnTo>
                <a:cubicBezTo>
                  <a:pt x="408009" y="158290"/>
                  <a:pt x="422054" y="144220"/>
                  <a:pt x="422054" y="116079"/>
                </a:cubicBezTo>
                <a:lnTo>
                  <a:pt x="422054" y="42211"/>
                </a:lnTo>
                <a:cubicBezTo>
                  <a:pt x="422054" y="14070"/>
                  <a:pt x="408009" y="0"/>
                  <a:pt x="379860" y="0"/>
                </a:cubicBezTo>
                <a:lnTo>
                  <a:pt x="42193" y="0"/>
                </a:lnTo>
                <a:cubicBezTo>
                  <a:pt x="14044" y="0"/>
                  <a:pt x="0" y="14070"/>
                  <a:pt x="0" y="42211"/>
                </a:cubicBezTo>
                <a:lnTo>
                  <a:pt x="0" y="116079"/>
                </a:lnTo>
                <a:cubicBezTo>
                  <a:pt x="0" y="144220"/>
                  <a:pt x="14044" y="158290"/>
                  <a:pt x="42193" y="158290"/>
                </a:cubicBez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4"/>
          <p:cNvSpPr/>
          <p:nvPr/>
        </p:nvSpPr>
        <p:spPr>
          <a:xfrm>
            <a:off x="6701217" y="3548998"/>
            <a:ext cx="549065" cy="155189"/>
          </a:xfrm>
          <a:custGeom>
            <a:rect b="b" l="l" r="r" t="t"/>
            <a:pathLst>
              <a:path extrusionOk="0" h="171480" w="606702">
                <a:moveTo>
                  <a:pt x="42193" y="171481"/>
                </a:moveTo>
                <a:lnTo>
                  <a:pt x="564509" y="171481"/>
                </a:lnTo>
                <a:cubicBezTo>
                  <a:pt x="592658" y="171481"/>
                  <a:pt x="606702" y="157410"/>
                  <a:pt x="606702" y="129270"/>
                </a:cubicBezTo>
                <a:lnTo>
                  <a:pt x="606702" y="42211"/>
                </a:lnTo>
                <a:cubicBezTo>
                  <a:pt x="606702" y="14070"/>
                  <a:pt x="592658" y="0"/>
                  <a:pt x="564509" y="0"/>
                </a:cubicBezTo>
                <a:lnTo>
                  <a:pt x="42193" y="0"/>
                </a:lnTo>
                <a:cubicBezTo>
                  <a:pt x="14044" y="0"/>
                  <a:pt x="0" y="14070"/>
                  <a:pt x="0" y="42211"/>
                </a:cubicBezTo>
                <a:lnTo>
                  <a:pt x="0" y="129270"/>
                </a:lnTo>
                <a:cubicBezTo>
                  <a:pt x="0" y="157410"/>
                  <a:pt x="14044" y="171481"/>
                  <a:pt x="42193" y="171481"/>
                </a:cubicBezTo>
                <a:close/>
              </a:path>
            </a:pathLst>
          </a:custGeom>
          <a:solidFill>
            <a:srgbClr val="D5C5E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44"/>
          <p:cNvSpPr/>
          <p:nvPr/>
        </p:nvSpPr>
        <p:spPr>
          <a:xfrm>
            <a:off x="7393269" y="3548998"/>
            <a:ext cx="549065" cy="155189"/>
          </a:xfrm>
          <a:custGeom>
            <a:rect b="b" l="l" r="r" t="t"/>
            <a:pathLst>
              <a:path extrusionOk="0" h="171480" w="606702">
                <a:moveTo>
                  <a:pt x="42193" y="171481"/>
                </a:moveTo>
                <a:lnTo>
                  <a:pt x="564509" y="171481"/>
                </a:lnTo>
                <a:cubicBezTo>
                  <a:pt x="592658" y="171481"/>
                  <a:pt x="606702" y="157410"/>
                  <a:pt x="606702" y="129270"/>
                </a:cubicBezTo>
                <a:lnTo>
                  <a:pt x="606702" y="42211"/>
                </a:lnTo>
                <a:cubicBezTo>
                  <a:pt x="606702" y="14070"/>
                  <a:pt x="592658" y="0"/>
                  <a:pt x="564509" y="0"/>
                </a:cubicBezTo>
                <a:lnTo>
                  <a:pt x="42193" y="0"/>
                </a:lnTo>
                <a:cubicBezTo>
                  <a:pt x="14044" y="0"/>
                  <a:pt x="0" y="14070"/>
                  <a:pt x="0" y="42211"/>
                </a:cubicBezTo>
                <a:lnTo>
                  <a:pt x="0" y="129270"/>
                </a:lnTo>
                <a:cubicBezTo>
                  <a:pt x="0" y="157410"/>
                  <a:pt x="14044" y="171481"/>
                  <a:pt x="42193" y="171481"/>
                </a:cubicBezTo>
                <a:close/>
              </a:path>
            </a:pathLst>
          </a:custGeom>
          <a:solidFill>
            <a:srgbClr val="D5C5E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44"/>
          <p:cNvSpPr/>
          <p:nvPr/>
        </p:nvSpPr>
        <p:spPr>
          <a:xfrm>
            <a:off x="8085320" y="3548998"/>
            <a:ext cx="549065" cy="155189"/>
          </a:xfrm>
          <a:custGeom>
            <a:rect b="b" l="l" r="r" t="t"/>
            <a:pathLst>
              <a:path extrusionOk="0" h="171480" w="606702">
                <a:moveTo>
                  <a:pt x="42193" y="171481"/>
                </a:moveTo>
                <a:lnTo>
                  <a:pt x="564510" y="171481"/>
                </a:lnTo>
                <a:cubicBezTo>
                  <a:pt x="592659" y="171481"/>
                  <a:pt x="606703" y="157410"/>
                  <a:pt x="606703" y="129270"/>
                </a:cubicBezTo>
                <a:lnTo>
                  <a:pt x="606703" y="42211"/>
                </a:lnTo>
                <a:cubicBezTo>
                  <a:pt x="606703" y="14070"/>
                  <a:pt x="592659" y="0"/>
                  <a:pt x="564510" y="0"/>
                </a:cubicBezTo>
                <a:lnTo>
                  <a:pt x="42193" y="0"/>
                </a:lnTo>
                <a:cubicBezTo>
                  <a:pt x="14044" y="0"/>
                  <a:pt x="0" y="14070"/>
                  <a:pt x="0" y="42211"/>
                </a:cubicBezTo>
                <a:lnTo>
                  <a:pt x="0" y="129270"/>
                </a:lnTo>
                <a:cubicBezTo>
                  <a:pt x="0" y="157410"/>
                  <a:pt x="14044" y="171481"/>
                  <a:pt x="42193" y="171481"/>
                </a:cubicBezTo>
                <a:close/>
              </a:path>
            </a:pathLst>
          </a:custGeom>
          <a:solidFill>
            <a:srgbClr val="D5C5E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44"/>
          <p:cNvSpPr/>
          <p:nvPr/>
        </p:nvSpPr>
        <p:spPr>
          <a:xfrm>
            <a:off x="5523876" y="2982161"/>
            <a:ext cx="167106" cy="167127"/>
          </a:xfrm>
          <a:custGeom>
            <a:rect b="b" l="l" r="r" t="t"/>
            <a:pathLst>
              <a:path extrusionOk="0" h="184671" w="184648">
                <a:moveTo>
                  <a:pt x="92324" y="184672"/>
                </a:moveTo>
                <a:cubicBezTo>
                  <a:pt x="116810" y="184672"/>
                  <a:pt x="140294" y="174943"/>
                  <a:pt x="157605" y="157624"/>
                </a:cubicBezTo>
                <a:cubicBezTo>
                  <a:pt x="174922" y="140311"/>
                  <a:pt x="184648" y="116824"/>
                  <a:pt x="184648" y="92336"/>
                </a:cubicBezTo>
                <a:cubicBezTo>
                  <a:pt x="184648" y="67847"/>
                  <a:pt x="174922" y="44360"/>
                  <a:pt x="157605" y="27047"/>
                </a:cubicBezTo>
                <a:cubicBezTo>
                  <a:pt x="140294" y="9728"/>
                  <a:pt x="116810" y="0"/>
                  <a:pt x="92324" y="0"/>
                </a:cubicBezTo>
                <a:cubicBezTo>
                  <a:pt x="67839" y="0"/>
                  <a:pt x="44355" y="9728"/>
                  <a:pt x="27044" y="27047"/>
                </a:cubicBezTo>
                <a:cubicBezTo>
                  <a:pt x="9727" y="44360"/>
                  <a:pt x="0" y="67847"/>
                  <a:pt x="0" y="92336"/>
                </a:cubicBezTo>
                <a:cubicBezTo>
                  <a:pt x="0" y="116824"/>
                  <a:pt x="9727" y="140311"/>
                  <a:pt x="27044" y="157624"/>
                </a:cubicBezTo>
                <a:cubicBezTo>
                  <a:pt x="44355" y="174943"/>
                  <a:pt x="67839" y="184672"/>
                  <a:pt x="92324" y="184672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44"/>
          <p:cNvSpPr/>
          <p:nvPr/>
        </p:nvSpPr>
        <p:spPr>
          <a:xfrm>
            <a:off x="5523876" y="2039423"/>
            <a:ext cx="167106" cy="167127"/>
          </a:xfrm>
          <a:custGeom>
            <a:rect b="b" l="l" r="r" t="t"/>
            <a:pathLst>
              <a:path extrusionOk="0" h="184671" w="184648">
                <a:moveTo>
                  <a:pt x="92324" y="184671"/>
                </a:moveTo>
                <a:cubicBezTo>
                  <a:pt x="116810" y="184671"/>
                  <a:pt x="140294" y="174943"/>
                  <a:pt x="157605" y="157624"/>
                </a:cubicBezTo>
                <a:cubicBezTo>
                  <a:pt x="174922" y="140311"/>
                  <a:pt x="184648" y="116824"/>
                  <a:pt x="184648" y="92336"/>
                </a:cubicBezTo>
                <a:cubicBezTo>
                  <a:pt x="184648" y="67847"/>
                  <a:pt x="174922" y="44360"/>
                  <a:pt x="157605" y="27047"/>
                </a:cubicBezTo>
                <a:cubicBezTo>
                  <a:pt x="140294" y="9728"/>
                  <a:pt x="116810" y="0"/>
                  <a:pt x="92324" y="0"/>
                </a:cubicBezTo>
                <a:cubicBezTo>
                  <a:pt x="67839" y="0"/>
                  <a:pt x="44355" y="9728"/>
                  <a:pt x="27044" y="27047"/>
                </a:cubicBezTo>
                <a:cubicBezTo>
                  <a:pt x="9727" y="44360"/>
                  <a:pt x="0" y="67847"/>
                  <a:pt x="0" y="92336"/>
                </a:cubicBezTo>
                <a:cubicBezTo>
                  <a:pt x="0" y="116824"/>
                  <a:pt x="9727" y="140311"/>
                  <a:pt x="27044" y="157624"/>
                </a:cubicBezTo>
                <a:cubicBezTo>
                  <a:pt x="44355" y="174943"/>
                  <a:pt x="67839" y="184671"/>
                  <a:pt x="92324" y="184671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4"/>
          <p:cNvSpPr txBox="1"/>
          <p:nvPr/>
        </p:nvSpPr>
        <p:spPr>
          <a:xfrm>
            <a:off x="540196" y="629325"/>
            <a:ext cx="8946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12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Backbone</a:t>
            </a:r>
            <a:endParaRPr sz="1100"/>
          </a:p>
        </p:txBody>
      </p:sp>
      <p:sp>
        <p:nvSpPr>
          <p:cNvPr id="1149" name="Google Shape;1149;p44"/>
          <p:cNvSpPr txBox="1"/>
          <p:nvPr/>
        </p:nvSpPr>
        <p:spPr>
          <a:xfrm>
            <a:off x="1272139" y="756788"/>
            <a:ext cx="1308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900" u="none" cap="none" strike="noStrike">
                <a:solidFill>
                  <a:srgbClr val="59616A"/>
                </a:solidFill>
                <a:latin typeface="Arial"/>
                <a:ea typeface="Arial"/>
                <a:cs typeface="Arial"/>
                <a:sym typeface="Arial"/>
              </a:rPr>
              <a:t>Bottom-up encoder</a:t>
            </a:r>
            <a:endParaRPr sz="1100"/>
          </a:p>
        </p:txBody>
      </p:sp>
      <p:sp>
        <p:nvSpPr>
          <p:cNvPr id="1150" name="Google Shape;1150;p44"/>
          <p:cNvSpPr txBox="1"/>
          <p:nvPr/>
        </p:nvSpPr>
        <p:spPr>
          <a:xfrm>
            <a:off x="5237565" y="731899"/>
            <a:ext cx="717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800" u="none" cap="none" strike="noStrike">
                <a:solidFill>
                  <a:srgbClr val="59616A"/>
                </a:solidFill>
                <a:latin typeface="Arial"/>
                <a:ea typeface="Arial"/>
                <a:cs typeface="Arial"/>
                <a:sym typeface="Arial"/>
              </a:rPr>
              <a:t>Top-down SG-FPN</a:t>
            </a:r>
            <a:endParaRPr sz="1100"/>
          </a:p>
        </p:txBody>
      </p:sp>
      <p:sp>
        <p:nvSpPr>
          <p:cNvPr id="1151" name="Google Shape;1151;p44"/>
          <p:cNvSpPr txBox="1"/>
          <p:nvPr/>
        </p:nvSpPr>
        <p:spPr>
          <a:xfrm>
            <a:off x="504142" y="1416155"/>
            <a:ext cx="8109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8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hist14 input</a:t>
            </a:r>
            <a:endParaRPr sz="1100"/>
          </a:p>
        </p:txBody>
      </p:sp>
      <p:sp>
        <p:nvSpPr>
          <p:cNvPr id="1152" name="Google Shape;1152;p44"/>
          <p:cNvSpPr txBox="1"/>
          <p:nvPr/>
        </p:nvSpPr>
        <p:spPr>
          <a:xfrm>
            <a:off x="487769" y="1554051"/>
            <a:ext cx="8274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8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14 × 800 × 704</a:t>
            </a:r>
            <a:endParaRPr sz="1100"/>
          </a:p>
        </p:txBody>
      </p:sp>
      <p:grpSp>
        <p:nvGrpSpPr>
          <p:cNvPr id="1153" name="Google Shape;1153;p44"/>
          <p:cNvGrpSpPr/>
          <p:nvPr/>
        </p:nvGrpSpPr>
        <p:grpSpPr>
          <a:xfrm>
            <a:off x="1062115" y="968326"/>
            <a:ext cx="1632531" cy="261845"/>
            <a:chOff x="2211846" y="1090126"/>
            <a:chExt cx="1804500" cy="289427"/>
          </a:xfrm>
        </p:grpSpPr>
        <p:sp>
          <p:nvSpPr>
            <p:cNvPr id="1154" name="Google Shape;1154;p44"/>
            <p:cNvSpPr txBox="1"/>
            <p:nvPr/>
          </p:nvSpPr>
          <p:spPr>
            <a:xfrm>
              <a:off x="2385321" y="1090126"/>
              <a:ext cx="14469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Stem: Conv 3×3, 14→32, s=2</a:t>
              </a:r>
              <a:endParaRPr sz="1100"/>
            </a:p>
          </p:txBody>
        </p:sp>
        <p:sp>
          <p:nvSpPr>
            <p:cNvPr id="1155" name="Google Shape;1155;p44"/>
            <p:cNvSpPr txBox="1"/>
            <p:nvPr/>
          </p:nvSpPr>
          <p:spPr>
            <a:xfrm>
              <a:off x="2211846" y="1214853"/>
              <a:ext cx="18045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Conv 3×3, 32→32, s=1 · BN + SiLU</a:t>
              </a:r>
              <a:endParaRPr b="0" i="0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6" name="Google Shape;1156;p44"/>
          <p:cNvSpPr txBox="1"/>
          <p:nvPr/>
        </p:nvSpPr>
        <p:spPr>
          <a:xfrm>
            <a:off x="1425387" y="1206013"/>
            <a:ext cx="8946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352, /2</a:t>
            </a:r>
            <a:endParaRPr sz="1100"/>
          </a:p>
        </p:txBody>
      </p:sp>
      <p:sp>
        <p:nvSpPr>
          <p:cNvPr id="1157" name="Google Shape;1157;p44"/>
          <p:cNvSpPr txBox="1"/>
          <p:nvPr/>
        </p:nvSpPr>
        <p:spPr>
          <a:xfrm>
            <a:off x="1340712" y="1567050"/>
            <a:ext cx="10749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 3×3, 32→48, s=2</a:t>
            </a:r>
            <a:endParaRPr sz="1100"/>
          </a:p>
        </p:txBody>
      </p:sp>
      <p:sp>
        <p:nvSpPr>
          <p:cNvPr id="1158" name="Google Shape;1158;p44"/>
          <p:cNvSpPr txBox="1"/>
          <p:nvPr/>
        </p:nvSpPr>
        <p:spPr>
          <a:xfrm>
            <a:off x="2427825" y="1565325"/>
            <a:ext cx="5079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6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BN + SiLU</a:t>
            </a:r>
            <a:endParaRPr b="0" i="0" spc="0" sz="600" u="none" cap="none" strike="noStrike">
              <a:solidFill>
                <a:srgbClr val="24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44"/>
          <p:cNvSpPr txBox="1"/>
          <p:nvPr/>
        </p:nvSpPr>
        <p:spPr>
          <a:xfrm>
            <a:off x="1219072" y="1875456"/>
            <a:ext cx="13347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Stage 2 / C3 · 3 NeXt blocks</a:t>
            </a:r>
            <a:endParaRPr sz="1100"/>
          </a:p>
        </p:txBody>
      </p:sp>
      <p:sp>
        <p:nvSpPr>
          <p:cNvPr id="1160" name="Google Shape;1160;p44"/>
          <p:cNvSpPr txBox="1"/>
          <p:nvPr/>
        </p:nvSpPr>
        <p:spPr>
          <a:xfrm>
            <a:off x="1083413" y="2048567"/>
            <a:ext cx="338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pc="0" sz="700" u="none" cap="none" strike="noStrike">
              <a:solidFill>
                <a:srgbClr val="24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44"/>
          <p:cNvSpPr txBox="1"/>
          <p:nvPr/>
        </p:nvSpPr>
        <p:spPr>
          <a:xfrm>
            <a:off x="1519479" y="2047864"/>
            <a:ext cx="3468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pc="0" sz="700" u="none" cap="none" strike="noStrike">
              <a:solidFill>
                <a:srgbClr val="24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44"/>
          <p:cNvSpPr txBox="1"/>
          <p:nvPr/>
        </p:nvSpPr>
        <p:spPr>
          <a:xfrm>
            <a:off x="1974949" y="2044614"/>
            <a:ext cx="3468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pc="0" sz="700" u="none" cap="none" strike="noStrike">
              <a:solidFill>
                <a:srgbClr val="24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44"/>
          <p:cNvSpPr txBox="1"/>
          <p:nvPr/>
        </p:nvSpPr>
        <p:spPr>
          <a:xfrm>
            <a:off x="2366588" y="2056237"/>
            <a:ext cx="383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600">
                <a:solidFill>
                  <a:srgbClr val="242629"/>
                </a:solidFill>
              </a:rPr>
              <a:t>SimAM</a:t>
            </a:r>
            <a:endParaRPr sz="600">
              <a:solidFill>
                <a:srgbClr val="242629"/>
              </a:solidFill>
            </a:endParaRPr>
          </a:p>
        </p:txBody>
      </p:sp>
      <p:sp>
        <p:nvSpPr>
          <p:cNvPr id="1164" name="Google Shape;1164;p44"/>
          <p:cNvSpPr txBox="1"/>
          <p:nvPr/>
        </p:nvSpPr>
        <p:spPr>
          <a:xfrm>
            <a:off x="1434799" y="2204525"/>
            <a:ext cx="9111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176, /4</a:t>
            </a:r>
            <a:endParaRPr sz="1100"/>
          </a:p>
        </p:txBody>
      </p:sp>
      <p:grpSp>
        <p:nvGrpSpPr>
          <p:cNvPr id="1165" name="Google Shape;1165;p44"/>
          <p:cNvGrpSpPr/>
          <p:nvPr/>
        </p:nvGrpSpPr>
        <p:grpSpPr>
          <a:xfrm>
            <a:off x="3110689" y="1973050"/>
            <a:ext cx="690467" cy="294187"/>
            <a:chOff x="4470976" y="2076682"/>
            <a:chExt cx="763200" cy="325176"/>
          </a:xfrm>
        </p:grpSpPr>
        <p:sp>
          <p:nvSpPr>
            <p:cNvPr id="1166" name="Google Shape;1166;p44"/>
            <p:cNvSpPr txBox="1"/>
            <p:nvPr/>
          </p:nvSpPr>
          <p:spPr>
            <a:xfrm>
              <a:off x="4470976" y="2076682"/>
              <a:ext cx="763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L3: Conv 1×1</a:t>
              </a:r>
              <a:endParaRPr sz="1100"/>
            </a:p>
          </p:txBody>
        </p:sp>
        <p:sp>
          <p:nvSpPr>
            <p:cNvPr id="1167" name="Google Shape;1167;p44"/>
            <p:cNvSpPr txBox="1"/>
            <p:nvPr/>
          </p:nvSpPr>
          <p:spPr>
            <a:xfrm>
              <a:off x="4625286" y="2202658"/>
              <a:ext cx="479700" cy="19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48→24</a:t>
              </a:r>
              <a:endParaRPr sz="1100"/>
            </a:p>
          </p:txBody>
        </p:sp>
      </p:grpSp>
      <p:sp>
        <p:nvSpPr>
          <p:cNvPr id="1168" name="Google Shape;1168;p44"/>
          <p:cNvSpPr txBox="1"/>
          <p:nvPr/>
        </p:nvSpPr>
        <p:spPr>
          <a:xfrm>
            <a:off x="3050651" y="2250265"/>
            <a:ext cx="7497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24 × 200 × 176</a:t>
            </a:r>
            <a:endParaRPr sz="1100"/>
          </a:p>
        </p:txBody>
      </p:sp>
      <p:sp>
        <p:nvSpPr>
          <p:cNvPr id="1169" name="Google Shape;1169;p44"/>
          <p:cNvSpPr txBox="1"/>
          <p:nvPr/>
        </p:nvSpPr>
        <p:spPr>
          <a:xfrm>
            <a:off x="1352328" y="2500872"/>
            <a:ext cx="10521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 3×3, 48→96, s=2</a:t>
            </a:r>
            <a:endParaRPr sz="1100"/>
          </a:p>
        </p:txBody>
      </p:sp>
      <p:sp>
        <p:nvSpPr>
          <p:cNvPr id="1170" name="Google Shape;1170;p44"/>
          <p:cNvSpPr txBox="1"/>
          <p:nvPr/>
        </p:nvSpPr>
        <p:spPr>
          <a:xfrm>
            <a:off x="2417966" y="2505815"/>
            <a:ext cx="4998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6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BN + SiLU</a:t>
            </a:r>
            <a:endParaRPr b="0" i="0" spc="0" sz="600" u="none" cap="none" strike="noStrike">
              <a:solidFill>
                <a:srgbClr val="24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44"/>
          <p:cNvSpPr txBox="1"/>
          <p:nvPr/>
        </p:nvSpPr>
        <p:spPr>
          <a:xfrm>
            <a:off x="938363" y="2801655"/>
            <a:ext cx="1792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Stage 3 / C4 · 4 NeXt blocks</a:t>
            </a:r>
            <a:endParaRPr sz="1100"/>
          </a:p>
        </p:txBody>
      </p:sp>
      <p:sp>
        <p:nvSpPr>
          <p:cNvPr id="1172" name="Google Shape;1172;p44"/>
          <p:cNvSpPr txBox="1"/>
          <p:nvPr/>
        </p:nvSpPr>
        <p:spPr>
          <a:xfrm>
            <a:off x="997338" y="2989349"/>
            <a:ext cx="3864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pc="0" sz="700" u="none" cap="none" strike="noStrike">
              <a:solidFill>
                <a:srgbClr val="24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44"/>
          <p:cNvSpPr txBox="1"/>
          <p:nvPr/>
        </p:nvSpPr>
        <p:spPr>
          <a:xfrm>
            <a:off x="1344859" y="2978467"/>
            <a:ext cx="3540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pc="0" sz="700" u="none" cap="none" strike="noStrike">
              <a:solidFill>
                <a:srgbClr val="24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44"/>
          <p:cNvSpPr txBox="1"/>
          <p:nvPr/>
        </p:nvSpPr>
        <p:spPr>
          <a:xfrm>
            <a:off x="2019025" y="2979065"/>
            <a:ext cx="3540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sz="1100"/>
          </a:p>
        </p:txBody>
      </p:sp>
      <p:sp>
        <p:nvSpPr>
          <p:cNvPr id="1175" name="Google Shape;1175;p44"/>
          <p:cNvSpPr txBox="1"/>
          <p:nvPr/>
        </p:nvSpPr>
        <p:spPr>
          <a:xfrm>
            <a:off x="2393971" y="2972700"/>
            <a:ext cx="373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Focal</a:t>
            </a:r>
            <a:endParaRPr sz="1100"/>
          </a:p>
        </p:txBody>
      </p:sp>
      <p:sp>
        <p:nvSpPr>
          <p:cNvPr id="1176" name="Google Shape;1176;p44"/>
          <p:cNvSpPr txBox="1"/>
          <p:nvPr/>
        </p:nvSpPr>
        <p:spPr>
          <a:xfrm>
            <a:off x="1475825" y="3128400"/>
            <a:ext cx="8598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96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× 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88, /8</a:t>
            </a:r>
            <a:endParaRPr sz="1100"/>
          </a:p>
        </p:txBody>
      </p:sp>
      <p:grpSp>
        <p:nvGrpSpPr>
          <p:cNvPr id="1177" name="Google Shape;1177;p44"/>
          <p:cNvGrpSpPr/>
          <p:nvPr/>
        </p:nvGrpSpPr>
        <p:grpSpPr>
          <a:xfrm>
            <a:off x="3125441" y="2900969"/>
            <a:ext cx="690467" cy="312456"/>
            <a:chOff x="4487284" y="3102346"/>
            <a:chExt cx="763200" cy="345370"/>
          </a:xfrm>
        </p:grpSpPr>
        <p:sp>
          <p:nvSpPr>
            <p:cNvPr id="1178" name="Google Shape;1178;p44"/>
            <p:cNvSpPr txBox="1"/>
            <p:nvPr/>
          </p:nvSpPr>
          <p:spPr>
            <a:xfrm>
              <a:off x="4487284" y="3102346"/>
              <a:ext cx="763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L4: Conv 1×1</a:t>
              </a:r>
              <a:endParaRPr sz="1100"/>
            </a:p>
          </p:txBody>
        </p:sp>
        <p:sp>
          <p:nvSpPr>
            <p:cNvPr id="1179" name="Google Shape;1179;p44"/>
            <p:cNvSpPr txBox="1"/>
            <p:nvPr/>
          </p:nvSpPr>
          <p:spPr>
            <a:xfrm>
              <a:off x="4604487" y="3228716"/>
              <a:ext cx="5277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96→48</a:t>
              </a:r>
              <a:endParaRPr sz="1100"/>
            </a:p>
          </p:txBody>
        </p:sp>
      </p:grpSp>
      <p:sp>
        <p:nvSpPr>
          <p:cNvPr id="1180" name="Google Shape;1180;p44"/>
          <p:cNvSpPr txBox="1"/>
          <p:nvPr/>
        </p:nvSpPr>
        <p:spPr>
          <a:xfrm>
            <a:off x="3100278" y="3193004"/>
            <a:ext cx="7056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48 × 100 × 88</a:t>
            </a:r>
            <a:endParaRPr sz="1100"/>
          </a:p>
        </p:txBody>
      </p:sp>
      <p:sp>
        <p:nvSpPr>
          <p:cNvPr id="1181" name="Google Shape;1181;p44"/>
          <p:cNvSpPr txBox="1"/>
          <p:nvPr/>
        </p:nvSpPr>
        <p:spPr>
          <a:xfrm>
            <a:off x="1300156" y="3421410"/>
            <a:ext cx="1156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 3×3, 96→128, s=2</a:t>
            </a:r>
            <a:endParaRPr sz="1100"/>
          </a:p>
        </p:txBody>
      </p:sp>
      <p:sp>
        <p:nvSpPr>
          <p:cNvPr id="1182" name="Google Shape;1182;p44"/>
          <p:cNvSpPr txBox="1"/>
          <p:nvPr/>
        </p:nvSpPr>
        <p:spPr>
          <a:xfrm>
            <a:off x="2368088" y="3434633"/>
            <a:ext cx="5439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6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BN + SiLU</a:t>
            </a:r>
            <a:endParaRPr b="0" i="0" spc="0" sz="600" u="none" cap="none" strike="noStrike">
              <a:solidFill>
                <a:srgbClr val="24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44"/>
          <p:cNvSpPr txBox="1"/>
          <p:nvPr/>
        </p:nvSpPr>
        <p:spPr>
          <a:xfrm>
            <a:off x="1157163" y="3726475"/>
            <a:ext cx="14310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Stage 4 / C5 · 2 NeXt blocks</a:t>
            </a:r>
            <a:endParaRPr sz="1100"/>
          </a:p>
        </p:txBody>
      </p:sp>
      <p:sp>
        <p:nvSpPr>
          <p:cNvPr id="1184" name="Google Shape;1184;p44"/>
          <p:cNvSpPr txBox="1"/>
          <p:nvPr/>
        </p:nvSpPr>
        <p:spPr>
          <a:xfrm>
            <a:off x="1272150" y="3914179"/>
            <a:ext cx="3540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pc="0" sz="700" u="none" cap="none" strike="noStrike">
              <a:solidFill>
                <a:srgbClr val="24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44"/>
          <p:cNvSpPr txBox="1"/>
          <p:nvPr/>
        </p:nvSpPr>
        <p:spPr>
          <a:xfrm>
            <a:off x="2119437" y="3921724"/>
            <a:ext cx="3540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pc="0" sz="700" u="none" cap="none" strike="noStrike">
              <a:solidFill>
                <a:srgbClr val="24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44"/>
          <p:cNvSpPr txBox="1"/>
          <p:nvPr/>
        </p:nvSpPr>
        <p:spPr>
          <a:xfrm>
            <a:off x="1463950" y="4061375"/>
            <a:ext cx="8598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128 × 50 × 44, /16</a:t>
            </a:r>
            <a:endParaRPr sz="1100"/>
          </a:p>
        </p:txBody>
      </p:sp>
      <p:grpSp>
        <p:nvGrpSpPr>
          <p:cNvPr id="1187" name="Google Shape;1187;p44"/>
          <p:cNvGrpSpPr/>
          <p:nvPr/>
        </p:nvGrpSpPr>
        <p:grpSpPr>
          <a:xfrm>
            <a:off x="3114393" y="3850624"/>
            <a:ext cx="690467" cy="321269"/>
            <a:chOff x="4475072" y="4152035"/>
            <a:chExt cx="763200" cy="355111"/>
          </a:xfrm>
        </p:grpSpPr>
        <p:sp>
          <p:nvSpPr>
            <p:cNvPr id="1188" name="Google Shape;1188;p44"/>
            <p:cNvSpPr txBox="1"/>
            <p:nvPr/>
          </p:nvSpPr>
          <p:spPr>
            <a:xfrm>
              <a:off x="4475072" y="4152035"/>
              <a:ext cx="763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L5: Conv 1×1</a:t>
              </a:r>
              <a:endParaRPr sz="1100"/>
            </a:p>
          </p:txBody>
        </p:sp>
        <p:sp>
          <p:nvSpPr>
            <p:cNvPr id="1189" name="Google Shape;1189;p44"/>
            <p:cNvSpPr txBox="1"/>
            <p:nvPr/>
          </p:nvSpPr>
          <p:spPr>
            <a:xfrm>
              <a:off x="4558604" y="4288146"/>
              <a:ext cx="5766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128→48</a:t>
              </a:r>
              <a:endParaRPr sz="1100"/>
            </a:p>
          </p:txBody>
        </p:sp>
      </p:grpSp>
      <p:sp>
        <p:nvSpPr>
          <p:cNvPr id="1190" name="Google Shape;1190;p44"/>
          <p:cNvSpPr txBox="1"/>
          <p:nvPr/>
        </p:nvSpPr>
        <p:spPr>
          <a:xfrm>
            <a:off x="3128976" y="4135584"/>
            <a:ext cx="6612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48 × 50 × 44</a:t>
            </a:r>
            <a:endParaRPr sz="1100"/>
          </a:p>
        </p:txBody>
      </p:sp>
      <p:grpSp>
        <p:nvGrpSpPr>
          <p:cNvPr id="1191" name="Google Shape;1191;p44"/>
          <p:cNvGrpSpPr/>
          <p:nvPr/>
        </p:nvGrpSpPr>
        <p:grpSpPr>
          <a:xfrm>
            <a:off x="5089055" y="3352081"/>
            <a:ext cx="1059313" cy="387338"/>
            <a:chOff x="6657743" y="3600974"/>
            <a:chExt cx="1170900" cy="428139"/>
          </a:xfrm>
        </p:grpSpPr>
        <p:sp>
          <p:nvSpPr>
            <p:cNvPr id="1192" name="Google Shape;1192;p44"/>
            <p:cNvSpPr txBox="1"/>
            <p:nvPr/>
          </p:nvSpPr>
          <p:spPr>
            <a:xfrm>
              <a:off x="6889696" y="3600974"/>
              <a:ext cx="6579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Bilinear ↑2</a:t>
              </a:r>
              <a:endParaRPr sz="1100"/>
            </a:p>
          </p:txBody>
        </p:sp>
        <p:sp>
          <p:nvSpPr>
            <p:cNvPr id="1193" name="Google Shape;1193;p44"/>
            <p:cNvSpPr txBox="1"/>
            <p:nvPr/>
          </p:nvSpPr>
          <p:spPr>
            <a:xfrm>
              <a:off x="6657743" y="3699263"/>
              <a:ext cx="1170900" cy="23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DWConv 3×3, 48→48</a:t>
              </a:r>
              <a:endParaRPr sz="1100"/>
            </a:p>
          </p:txBody>
        </p:sp>
        <p:sp>
          <p:nvSpPr>
            <p:cNvPr id="1194" name="Google Shape;1194;p44"/>
            <p:cNvSpPr txBox="1"/>
            <p:nvPr/>
          </p:nvSpPr>
          <p:spPr>
            <a:xfrm>
              <a:off x="6894171" y="3817914"/>
              <a:ext cx="6420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b="0" i="0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5" name="Google Shape;1195;p44"/>
          <p:cNvSpPr txBox="1"/>
          <p:nvPr/>
        </p:nvSpPr>
        <p:spPr>
          <a:xfrm>
            <a:off x="5497056" y="2977855"/>
            <a:ext cx="2208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100"/>
          </a:p>
        </p:txBody>
      </p:sp>
      <p:sp>
        <p:nvSpPr>
          <p:cNvPr id="1196" name="Google Shape;1196;p44"/>
          <p:cNvSpPr txBox="1"/>
          <p:nvPr/>
        </p:nvSpPr>
        <p:spPr>
          <a:xfrm>
            <a:off x="5671581" y="2970195"/>
            <a:ext cx="2871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1100"/>
          </a:p>
        </p:txBody>
      </p:sp>
      <p:sp>
        <p:nvSpPr>
          <p:cNvPr id="1197" name="Google Shape;1197;p44"/>
          <p:cNvSpPr txBox="1"/>
          <p:nvPr/>
        </p:nvSpPr>
        <p:spPr>
          <a:xfrm>
            <a:off x="4332809" y="3125896"/>
            <a:ext cx="4968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Gated fusion</a:t>
            </a:r>
            <a:endParaRPr sz="1100"/>
          </a:p>
        </p:txBody>
      </p:sp>
      <p:grpSp>
        <p:nvGrpSpPr>
          <p:cNvPr id="1198" name="Google Shape;1198;p44"/>
          <p:cNvGrpSpPr/>
          <p:nvPr/>
        </p:nvGrpSpPr>
        <p:grpSpPr>
          <a:xfrm>
            <a:off x="5161294" y="2405421"/>
            <a:ext cx="929579" cy="403239"/>
            <a:chOff x="6737591" y="2554601"/>
            <a:chExt cx="1027500" cy="445715"/>
          </a:xfrm>
        </p:grpSpPr>
        <p:sp>
          <p:nvSpPr>
            <p:cNvPr id="1199" name="Google Shape;1199;p44"/>
            <p:cNvSpPr txBox="1"/>
            <p:nvPr/>
          </p:nvSpPr>
          <p:spPr>
            <a:xfrm>
              <a:off x="6901908" y="2554601"/>
              <a:ext cx="6579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Bilinear ↑2</a:t>
              </a:r>
              <a:endParaRPr sz="1100"/>
            </a:p>
          </p:txBody>
        </p:sp>
        <p:sp>
          <p:nvSpPr>
            <p:cNvPr id="1200" name="Google Shape;1200;p44"/>
            <p:cNvSpPr txBox="1"/>
            <p:nvPr/>
          </p:nvSpPr>
          <p:spPr>
            <a:xfrm>
              <a:off x="6737591" y="2660355"/>
              <a:ext cx="1027500" cy="23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Conv 3×3, 48→24</a:t>
              </a:r>
              <a:endParaRPr sz="1100"/>
            </a:p>
          </p:txBody>
        </p:sp>
        <p:sp>
          <p:nvSpPr>
            <p:cNvPr id="1201" name="Google Shape;1201;p44"/>
            <p:cNvSpPr txBox="1"/>
            <p:nvPr/>
          </p:nvSpPr>
          <p:spPr>
            <a:xfrm>
              <a:off x="6922252" y="2789116"/>
              <a:ext cx="6420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b="0" i="0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2" name="Google Shape;1202;p44"/>
          <p:cNvSpPr txBox="1"/>
          <p:nvPr/>
        </p:nvSpPr>
        <p:spPr>
          <a:xfrm>
            <a:off x="5497056" y="2035115"/>
            <a:ext cx="2208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100"/>
          </a:p>
        </p:txBody>
      </p:sp>
      <p:sp>
        <p:nvSpPr>
          <p:cNvPr id="1203" name="Google Shape;1203;p44"/>
          <p:cNvSpPr txBox="1"/>
          <p:nvPr/>
        </p:nvSpPr>
        <p:spPr>
          <a:xfrm>
            <a:off x="5684631" y="2035660"/>
            <a:ext cx="261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1100"/>
          </a:p>
        </p:txBody>
      </p:sp>
      <p:sp>
        <p:nvSpPr>
          <p:cNvPr id="1204" name="Google Shape;1204;p44"/>
          <p:cNvSpPr txBox="1"/>
          <p:nvPr/>
        </p:nvSpPr>
        <p:spPr>
          <a:xfrm>
            <a:off x="4332809" y="2183156"/>
            <a:ext cx="4968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Gated fusion</a:t>
            </a:r>
            <a:endParaRPr sz="1100"/>
          </a:p>
        </p:txBody>
      </p:sp>
      <p:grpSp>
        <p:nvGrpSpPr>
          <p:cNvPr id="1205" name="Google Shape;1205;p44"/>
          <p:cNvGrpSpPr/>
          <p:nvPr/>
        </p:nvGrpSpPr>
        <p:grpSpPr>
          <a:xfrm>
            <a:off x="5580416" y="1565236"/>
            <a:ext cx="703495" cy="296317"/>
            <a:chOff x="7200863" y="1625909"/>
            <a:chExt cx="777600" cy="327531"/>
          </a:xfrm>
        </p:grpSpPr>
        <p:sp>
          <p:nvSpPr>
            <p:cNvPr id="1206" name="Google Shape;1206;p44"/>
            <p:cNvSpPr txBox="1"/>
            <p:nvPr/>
          </p:nvSpPr>
          <p:spPr>
            <a:xfrm>
              <a:off x="7200863" y="1625909"/>
              <a:ext cx="777600" cy="23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24 channels</a:t>
              </a:r>
              <a:endParaRPr sz="1100"/>
            </a:p>
          </p:txBody>
        </p:sp>
        <p:sp>
          <p:nvSpPr>
            <p:cNvPr id="1207" name="Google Shape;1207;p44"/>
            <p:cNvSpPr txBox="1"/>
            <p:nvPr/>
          </p:nvSpPr>
          <p:spPr>
            <a:xfrm>
              <a:off x="7259453" y="1742240"/>
              <a:ext cx="5196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stride 4</a:t>
              </a:r>
              <a:endParaRPr sz="1100"/>
            </a:p>
          </p:txBody>
        </p:sp>
      </p:grpSp>
      <p:grpSp>
        <p:nvGrpSpPr>
          <p:cNvPr id="1208" name="Google Shape;1208;p44"/>
          <p:cNvGrpSpPr/>
          <p:nvPr/>
        </p:nvGrpSpPr>
        <p:grpSpPr>
          <a:xfrm>
            <a:off x="5166589" y="1034256"/>
            <a:ext cx="859827" cy="315002"/>
            <a:chOff x="6743443" y="1038995"/>
            <a:chExt cx="950400" cy="348184"/>
          </a:xfrm>
        </p:grpSpPr>
        <p:sp>
          <p:nvSpPr>
            <p:cNvPr id="1209" name="Google Shape;1209;p44"/>
            <p:cNvSpPr txBox="1"/>
            <p:nvPr/>
          </p:nvSpPr>
          <p:spPr>
            <a:xfrm>
              <a:off x="6743443" y="1038995"/>
              <a:ext cx="950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Conv 3×3, 24→32</a:t>
              </a:r>
              <a:endParaRPr sz="1100"/>
            </a:p>
          </p:txBody>
        </p:sp>
        <p:sp>
          <p:nvSpPr>
            <p:cNvPr id="1210" name="Google Shape;1210;p44"/>
            <p:cNvSpPr txBox="1"/>
            <p:nvPr/>
          </p:nvSpPr>
          <p:spPr>
            <a:xfrm>
              <a:off x="6958171" y="1168179"/>
              <a:ext cx="6339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b="0" i="0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1" name="Google Shape;1211;p44"/>
          <p:cNvSpPr txBox="1"/>
          <p:nvPr/>
        </p:nvSpPr>
        <p:spPr>
          <a:xfrm>
            <a:off x="4516684" y="1355098"/>
            <a:ext cx="7497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32 × 200 × 176</a:t>
            </a:r>
            <a:endParaRPr sz="1100"/>
          </a:p>
        </p:txBody>
      </p:sp>
      <p:sp>
        <p:nvSpPr>
          <p:cNvPr id="1212" name="Google Shape;1212;p44"/>
          <p:cNvSpPr txBox="1"/>
          <p:nvPr/>
        </p:nvSpPr>
        <p:spPr>
          <a:xfrm>
            <a:off x="6513111" y="612351"/>
            <a:ext cx="975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8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Detection heads</a:t>
            </a:r>
            <a:endParaRPr sz="1100"/>
          </a:p>
        </p:txBody>
      </p:sp>
      <p:sp>
        <p:nvSpPr>
          <p:cNvPr id="1213" name="Google Shape;1213;p44"/>
          <p:cNvSpPr txBox="1"/>
          <p:nvPr/>
        </p:nvSpPr>
        <p:spPr>
          <a:xfrm>
            <a:off x="7216026" y="775014"/>
            <a:ext cx="9111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Per branch: 3×3 + 3×3 + 1×1</a:t>
            </a:r>
            <a:endParaRPr sz="1100"/>
          </a:p>
        </p:txBody>
      </p:sp>
      <p:sp>
        <p:nvSpPr>
          <p:cNvPr id="1214" name="Google Shape;1214;p44"/>
          <p:cNvSpPr txBox="1"/>
          <p:nvPr/>
        </p:nvSpPr>
        <p:spPr>
          <a:xfrm>
            <a:off x="6939105" y="977315"/>
            <a:ext cx="3672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215" name="Google Shape;1215;p44"/>
          <p:cNvGrpSpPr/>
          <p:nvPr/>
        </p:nvGrpSpPr>
        <p:grpSpPr>
          <a:xfrm>
            <a:off x="7623118" y="901096"/>
            <a:ext cx="624514" cy="290795"/>
            <a:chOff x="9427647" y="887366"/>
            <a:chExt cx="690300" cy="321427"/>
          </a:xfrm>
        </p:grpSpPr>
        <p:sp>
          <p:nvSpPr>
            <p:cNvPr id="1216" name="Google Shape;1216;p44"/>
            <p:cNvSpPr txBox="1"/>
            <p:nvPr/>
          </p:nvSpPr>
          <p:spPr>
            <a:xfrm>
              <a:off x="9439782" y="887366"/>
              <a:ext cx="5928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Heatmap</a:t>
              </a:r>
              <a:endParaRPr sz="1100"/>
            </a:p>
          </p:txBody>
        </p:sp>
        <p:sp>
          <p:nvSpPr>
            <p:cNvPr id="1217" name="Google Shape;1217;p44"/>
            <p:cNvSpPr txBox="1"/>
            <p:nvPr/>
          </p:nvSpPr>
          <p:spPr>
            <a:xfrm>
              <a:off x="9427647" y="997593"/>
              <a:ext cx="6903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200×176×K</a:t>
              </a:r>
              <a:endParaRPr sz="1100"/>
            </a:p>
          </p:txBody>
        </p:sp>
      </p:grpSp>
      <p:sp>
        <p:nvSpPr>
          <p:cNvPr id="1218" name="Google Shape;1218;p44"/>
          <p:cNvSpPr txBox="1"/>
          <p:nvPr/>
        </p:nvSpPr>
        <p:spPr>
          <a:xfrm>
            <a:off x="6939105" y="1204050"/>
            <a:ext cx="3672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219" name="Google Shape;1219;p44"/>
          <p:cNvGrpSpPr/>
          <p:nvPr/>
        </p:nvGrpSpPr>
        <p:grpSpPr>
          <a:xfrm>
            <a:off x="7617747" y="1149913"/>
            <a:ext cx="617458" cy="275204"/>
            <a:chOff x="9421710" y="1166835"/>
            <a:chExt cx="682500" cy="304194"/>
          </a:xfrm>
        </p:grpSpPr>
        <p:sp>
          <p:nvSpPr>
            <p:cNvPr id="1220" name="Google Shape;1220;p44"/>
            <p:cNvSpPr txBox="1"/>
            <p:nvPr/>
          </p:nvSpPr>
          <p:spPr>
            <a:xfrm>
              <a:off x="9476982" y="1166835"/>
              <a:ext cx="4209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Offset</a:t>
              </a:r>
              <a:endParaRPr sz="1100"/>
            </a:p>
          </p:txBody>
        </p:sp>
        <p:sp>
          <p:nvSpPr>
            <p:cNvPr id="1221" name="Google Shape;1221;p44"/>
            <p:cNvSpPr txBox="1"/>
            <p:nvPr/>
          </p:nvSpPr>
          <p:spPr>
            <a:xfrm>
              <a:off x="9421710" y="1259829"/>
              <a:ext cx="6825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200×176×2</a:t>
              </a:r>
              <a:endParaRPr sz="1100"/>
            </a:p>
          </p:txBody>
        </p:sp>
      </p:grpSp>
      <p:sp>
        <p:nvSpPr>
          <p:cNvPr id="1222" name="Google Shape;1222;p44"/>
          <p:cNvSpPr txBox="1"/>
          <p:nvPr/>
        </p:nvSpPr>
        <p:spPr>
          <a:xfrm>
            <a:off x="6939105" y="1430785"/>
            <a:ext cx="3672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223" name="Google Shape;1223;p44"/>
          <p:cNvGrpSpPr/>
          <p:nvPr/>
        </p:nvGrpSpPr>
        <p:grpSpPr>
          <a:xfrm>
            <a:off x="7624014" y="1365850"/>
            <a:ext cx="617458" cy="277456"/>
            <a:chOff x="9428637" y="1401076"/>
            <a:chExt cx="682500" cy="306683"/>
          </a:xfrm>
        </p:grpSpPr>
        <p:sp>
          <p:nvSpPr>
            <p:cNvPr id="1224" name="Google Shape;1224;p44"/>
            <p:cNvSpPr txBox="1"/>
            <p:nvPr/>
          </p:nvSpPr>
          <p:spPr>
            <a:xfrm>
              <a:off x="9480822" y="1401076"/>
              <a:ext cx="3765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Size</a:t>
              </a:r>
              <a:endParaRPr sz="1100"/>
            </a:p>
          </p:txBody>
        </p:sp>
        <p:sp>
          <p:nvSpPr>
            <p:cNvPr id="1225" name="Google Shape;1225;p44"/>
            <p:cNvSpPr txBox="1"/>
            <p:nvPr/>
          </p:nvSpPr>
          <p:spPr>
            <a:xfrm>
              <a:off x="9428637" y="1496559"/>
              <a:ext cx="6825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200×176×2</a:t>
              </a:r>
              <a:endParaRPr sz="1100"/>
            </a:p>
          </p:txBody>
        </p:sp>
      </p:grpSp>
      <p:sp>
        <p:nvSpPr>
          <p:cNvPr id="1226" name="Google Shape;1226;p44"/>
          <p:cNvSpPr txBox="1"/>
          <p:nvPr/>
        </p:nvSpPr>
        <p:spPr>
          <a:xfrm>
            <a:off x="6939105" y="1657520"/>
            <a:ext cx="3672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227" name="Google Shape;1227;p44"/>
          <p:cNvGrpSpPr/>
          <p:nvPr/>
        </p:nvGrpSpPr>
        <p:grpSpPr>
          <a:xfrm>
            <a:off x="7624014" y="1590243"/>
            <a:ext cx="617458" cy="289242"/>
            <a:chOff x="9428637" y="1649107"/>
            <a:chExt cx="682500" cy="319710"/>
          </a:xfrm>
        </p:grpSpPr>
        <p:sp>
          <p:nvSpPr>
            <p:cNvPr id="1228" name="Google Shape;1228;p44"/>
            <p:cNvSpPr txBox="1"/>
            <p:nvPr/>
          </p:nvSpPr>
          <p:spPr>
            <a:xfrm>
              <a:off x="9464022" y="1649107"/>
              <a:ext cx="3981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Yaw</a:t>
              </a:r>
              <a:endParaRPr sz="1100"/>
            </a:p>
          </p:txBody>
        </p:sp>
        <p:sp>
          <p:nvSpPr>
            <p:cNvPr id="1229" name="Google Shape;1229;p44"/>
            <p:cNvSpPr txBox="1"/>
            <p:nvPr/>
          </p:nvSpPr>
          <p:spPr>
            <a:xfrm>
              <a:off x="9428637" y="1757617"/>
              <a:ext cx="6825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200×176×2</a:t>
              </a:r>
              <a:endParaRPr sz="1100"/>
            </a:p>
          </p:txBody>
        </p:sp>
      </p:grpSp>
      <p:sp>
        <p:nvSpPr>
          <p:cNvPr id="1230" name="Google Shape;1230;p44"/>
          <p:cNvSpPr txBox="1"/>
          <p:nvPr/>
        </p:nvSpPr>
        <p:spPr>
          <a:xfrm>
            <a:off x="6939105" y="1884255"/>
            <a:ext cx="3672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231" name="Google Shape;1231;p44"/>
          <p:cNvGrpSpPr/>
          <p:nvPr/>
        </p:nvGrpSpPr>
        <p:grpSpPr>
          <a:xfrm>
            <a:off x="7624014" y="1816494"/>
            <a:ext cx="617458" cy="302551"/>
            <a:chOff x="9428637" y="1899191"/>
            <a:chExt cx="682500" cy="334421"/>
          </a:xfrm>
        </p:grpSpPr>
        <p:sp>
          <p:nvSpPr>
            <p:cNvPr id="1232" name="Google Shape;1232;p44"/>
            <p:cNvSpPr txBox="1"/>
            <p:nvPr/>
          </p:nvSpPr>
          <p:spPr>
            <a:xfrm>
              <a:off x="9431667" y="1899191"/>
              <a:ext cx="6579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IoU quality</a:t>
              </a:r>
              <a:endParaRPr sz="1100"/>
            </a:p>
          </p:txBody>
        </p:sp>
        <p:sp>
          <p:nvSpPr>
            <p:cNvPr id="1233" name="Google Shape;1233;p44"/>
            <p:cNvSpPr txBox="1"/>
            <p:nvPr/>
          </p:nvSpPr>
          <p:spPr>
            <a:xfrm>
              <a:off x="9428637" y="2022412"/>
              <a:ext cx="682500" cy="2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7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200×176×1</a:t>
              </a:r>
              <a:endParaRPr sz="1100"/>
            </a:p>
          </p:txBody>
        </p:sp>
      </p:grpSp>
      <p:grpSp>
        <p:nvGrpSpPr>
          <p:cNvPr id="1234" name="Google Shape;1234;p44"/>
          <p:cNvGrpSpPr/>
          <p:nvPr/>
        </p:nvGrpSpPr>
        <p:grpSpPr>
          <a:xfrm>
            <a:off x="6884824" y="2157470"/>
            <a:ext cx="1407261" cy="300098"/>
            <a:chOff x="8642678" y="2280526"/>
            <a:chExt cx="1555500" cy="331710"/>
          </a:xfrm>
        </p:grpSpPr>
        <p:sp>
          <p:nvSpPr>
            <p:cNvPr id="1235" name="Google Shape;1235;p44"/>
            <p:cNvSpPr txBox="1"/>
            <p:nvPr/>
          </p:nvSpPr>
          <p:spPr>
            <a:xfrm>
              <a:off x="8735984" y="2280526"/>
              <a:ext cx="14481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6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Independent template per group</a:t>
              </a:r>
              <a:endParaRPr sz="1100"/>
            </a:p>
          </p:txBody>
        </p:sp>
        <p:sp>
          <p:nvSpPr>
            <p:cNvPr id="1236" name="Google Shape;1236;p44"/>
            <p:cNvSpPr txBox="1"/>
            <p:nvPr/>
          </p:nvSpPr>
          <p:spPr>
            <a:xfrm>
              <a:off x="8642678" y="2389036"/>
              <a:ext cx="1555500" cy="2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vi" spc="0" sz="600" u="none" cap="none" strike="noStrike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Car: K=1; Pedestrian+Cyclist: K=2</a:t>
              </a:r>
              <a:endParaRPr sz="1100"/>
            </a:p>
          </p:txBody>
        </p:sp>
      </p:grpSp>
      <p:sp>
        <p:nvSpPr>
          <p:cNvPr id="1237" name="Google Shape;1237;p44"/>
          <p:cNvSpPr txBox="1"/>
          <p:nvPr/>
        </p:nvSpPr>
        <p:spPr>
          <a:xfrm>
            <a:off x="6512628" y="2593298"/>
            <a:ext cx="11094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8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Feature refinement</a:t>
            </a:r>
            <a:endParaRPr sz="1100"/>
          </a:p>
        </p:txBody>
      </p:sp>
      <p:sp>
        <p:nvSpPr>
          <p:cNvPr id="1238" name="Google Shape;1238;p44"/>
          <p:cNvSpPr txBox="1"/>
          <p:nvPr/>
        </p:nvSpPr>
        <p:spPr>
          <a:xfrm>
            <a:off x="7043156" y="2739204"/>
            <a:ext cx="1257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C3 / stride 4: residual ECA</a:t>
            </a:r>
            <a:endParaRPr sz="1100"/>
          </a:p>
        </p:txBody>
      </p:sp>
      <p:sp>
        <p:nvSpPr>
          <p:cNvPr id="1239" name="Google Shape;1239;p44"/>
          <p:cNvSpPr txBox="1"/>
          <p:nvPr/>
        </p:nvSpPr>
        <p:spPr>
          <a:xfrm>
            <a:off x="6956083" y="2863082"/>
            <a:ext cx="1431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GAP → Conv1D k=3 → sigmoid</a:t>
            </a:r>
            <a:endParaRPr sz="1100"/>
          </a:p>
        </p:txBody>
      </p:sp>
      <p:sp>
        <p:nvSpPr>
          <p:cNvPr id="1240" name="Google Shape;1240;p44"/>
          <p:cNvSpPr txBox="1"/>
          <p:nvPr/>
        </p:nvSpPr>
        <p:spPr>
          <a:xfrm>
            <a:off x="6899417" y="2985664"/>
            <a:ext cx="154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Y = X + β [ECA(X) − X], β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₀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= 0.001</a:t>
            </a:r>
            <a:endParaRPr sz="1100"/>
          </a:p>
        </p:txBody>
      </p:sp>
      <p:sp>
        <p:nvSpPr>
          <p:cNvPr id="1241" name="Google Shape;1241;p44"/>
          <p:cNvSpPr txBox="1"/>
          <p:nvPr/>
        </p:nvSpPr>
        <p:spPr>
          <a:xfrm>
            <a:off x="7028491" y="3197448"/>
            <a:ext cx="1286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C4 / stride 8: Focal Context</a:t>
            </a:r>
            <a:endParaRPr sz="1100"/>
          </a:p>
        </p:txBody>
      </p:sp>
      <p:sp>
        <p:nvSpPr>
          <p:cNvPr id="1242" name="Google Shape;1242;p44"/>
          <p:cNvSpPr txBox="1"/>
          <p:nvPr/>
        </p:nvSpPr>
        <p:spPr>
          <a:xfrm>
            <a:off x="6915653" y="3326493"/>
            <a:ext cx="1511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BN → Conv1×1 → Q, S, G (D=64)</a:t>
            </a:r>
            <a:endParaRPr sz="1100"/>
          </a:p>
        </p:txBody>
      </p:sp>
      <p:sp>
        <p:nvSpPr>
          <p:cNvPr id="1243" name="Google Shape;1243;p44"/>
          <p:cNvSpPr txBox="1"/>
          <p:nvPr/>
        </p:nvSpPr>
        <p:spPr>
          <a:xfrm>
            <a:off x="6688124" y="3529253"/>
            <a:ext cx="5805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6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DW3×3 d=1</a:t>
            </a:r>
            <a:endParaRPr sz="1100"/>
          </a:p>
        </p:txBody>
      </p:sp>
      <p:sp>
        <p:nvSpPr>
          <p:cNvPr id="1244" name="Google Shape;1244;p44"/>
          <p:cNvSpPr txBox="1"/>
          <p:nvPr/>
        </p:nvSpPr>
        <p:spPr>
          <a:xfrm>
            <a:off x="7380176" y="3532386"/>
            <a:ext cx="5805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6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DW3×3 d=2</a:t>
            </a:r>
            <a:endParaRPr sz="1100"/>
          </a:p>
        </p:txBody>
      </p:sp>
      <p:sp>
        <p:nvSpPr>
          <p:cNvPr id="1245" name="Google Shape;1245;p44"/>
          <p:cNvSpPr txBox="1"/>
          <p:nvPr/>
        </p:nvSpPr>
        <p:spPr>
          <a:xfrm>
            <a:off x="8073374" y="3526118"/>
            <a:ext cx="5805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6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DW3×3 d=3</a:t>
            </a:r>
            <a:endParaRPr sz="1100"/>
          </a:p>
        </p:txBody>
      </p:sp>
      <p:sp>
        <p:nvSpPr>
          <p:cNvPr id="1246" name="Google Shape;1246;p44"/>
          <p:cNvSpPr txBox="1"/>
          <p:nvPr/>
        </p:nvSpPr>
        <p:spPr>
          <a:xfrm>
            <a:off x="6822591" y="3696035"/>
            <a:ext cx="1698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Sequential local levels + global mean</a:t>
            </a:r>
            <a:endParaRPr sz="1100"/>
          </a:p>
        </p:txBody>
      </p:sp>
      <p:sp>
        <p:nvSpPr>
          <p:cNvPr id="1247" name="Google Shape;1247;p44"/>
          <p:cNvSpPr txBox="1"/>
          <p:nvPr/>
        </p:nvSpPr>
        <p:spPr>
          <a:xfrm>
            <a:off x="6818614" y="3834852"/>
            <a:ext cx="1705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Softmax(G) → context mix → Conv1×1</a:t>
            </a:r>
            <a:endParaRPr sz="1100"/>
          </a:p>
        </p:txBody>
      </p:sp>
      <p:sp>
        <p:nvSpPr>
          <p:cNvPr id="1248" name="Google Shape;1248;p44"/>
          <p:cNvSpPr txBox="1"/>
          <p:nvPr/>
        </p:nvSpPr>
        <p:spPr>
          <a:xfrm>
            <a:off x="6956081" y="3968035"/>
            <a:ext cx="14310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Q 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⊙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context → projection + BN</a:t>
            </a:r>
            <a:endParaRPr sz="1100"/>
          </a:p>
        </p:txBody>
      </p:sp>
      <p:sp>
        <p:nvSpPr>
          <p:cNvPr id="1249" name="Google Shape;1249;p44"/>
          <p:cNvSpPr txBox="1"/>
          <p:nvPr/>
        </p:nvSpPr>
        <p:spPr>
          <a:xfrm>
            <a:off x="6972203" y="4114331"/>
            <a:ext cx="13989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Y = X + γ · residual, γ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₀</a:t>
            </a: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= 0.001</a:t>
            </a:r>
            <a:endParaRPr sz="1100"/>
          </a:p>
        </p:txBody>
      </p:sp>
      <p:sp>
        <p:nvSpPr>
          <p:cNvPr id="1250" name="Google Shape;1250;p44"/>
          <p:cNvSpPr txBox="1"/>
          <p:nvPr/>
        </p:nvSpPr>
        <p:spPr>
          <a:xfrm>
            <a:off x="1684294" y="2979235"/>
            <a:ext cx="3540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" spc="0" sz="700" u="none" cap="none" strike="noStrike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pc="0" sz="700" u="none" cap="none" strike="noStrike">
              <a:solidFill>
                <a:srgbClr val="24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1" name="Google Shape;1251;p44"/>
          <p:cNvCxnSpPr>
            <a:stCxn id="1041" idx="3"/>
            <a:endCxn id="1214" idx="1"/>
          </p:cNvCxnSpPr>
          <p:nvPr/>
        </p:nvCxnSpPr>
        <p:spPr>
          <a:xfrm flipH="1" rot="10800000">
            <a:off x="6174575" y="1067700"/>
            <a:ext cx="764400" cy="148800"/>
          </a:xfrm>
          <a:prstGeom prst="bentConnector3">
            <a:avLst>
              <a:gd fmla="val 6852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2" name="Google Shape;1252;p44"/>
          <p:cNvCxnSpPr>
            <a:stCxn id="1041" idx="3"/>
            <a:endCxn id="1218" idx="1"/>
          </p:cNvCxnSpPr>
          <p:nvPr/>
        </p:nvCxnSpPr>
        <p:spPr>
          <a:xfrm>
            <a:off x="6174575" y="1216500"/>
            <a:ext cx="764400" cy="77700"/>
          </a:xfrm>
          <a:prstGeom prst="bentConnector3">
            <a:avLst>
              <a:gd fmla="val 6884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3" name="Google Shape;1253;p44"/>
          <p:cNvCxnSpPr>
            <a:stCxn id="1041" idx="3"/>
            <a:endCxn id="1222" idx="1"/>
          </p:cNvCxnSpPr>
          <p:nvPr/>
        </p:nvCxnSpPr>
        <p:spPr>
          <a:xfrm>
            <a:off x="6174575" y="1216500"/>
            <a:ext cx="764400" cy="304500"/>
          </a:xfrm>
          <a:prstGeom prst="bentConnector3">
            <a:avLst>
              <a:gd fmla="val 6852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4" name="Google Shape;1254;p44"/>
          <p:cNvCxnSpPr>
            <a:stCxn id="1041" idx="3"/>
            <a:endCxn id="1226" idx="1"/>
          </p:cNvCxnSpPr>
          <p:nvPr/>
        </p:nvCxnSpPr>
        <p:spPr>
          <a:xfrm>
            <a:off x="6174575" y="1216500"/>
            <a:ext cx="764400" cy="531300"/>
          </a:xfrm>
          <a:prstGeom prst="bentConnector3">
            <a:avLst>
              <a:gd fmla="val 6884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5" name="Google Shape;1255;p44"/>
          <p:cNvCxnSpPr>
            <a:stCxn id="1041" idx="3"/>
            <a:endCxn id="1230" idx="1"/>
          </p:cNvCxnSpPr>
          <p:nvPr/>
        </p:nvCxnSpPr>
        <p:spPr>
          <a:xfrm>
            <a:off x="6174575" y="1216500"/>
            <a:ext cx="764400" cy="758100"/>
          </a:xfrm>
          <a:prstGeom prst="bentConnector3">
            <a:avLst>
              <a:gd fmla="val 687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6" name="Google Shape;1256;p44"/>
          <p:cNvCxnSpPr>
            <a:stCxn id="1039" idx="3"/>
            <a:endCxn id="1040" idx="2"/>
          </p:cNvCxnSpPr>
          <p:nvPr/>
        </p:nvCxnSpPr>
        <p:spPr>
          <a:xfrm flipH="1" rot="10800000">
            <a:off x="3853675" y="3714525"/>
            <a:ext cx="1743000" cy="286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7" name="Google Shape;1257;p44"/>
          <p:cNvSpPr/>
          <p:nvPr/>
        </p:nvSpPr>
        <p:spPr>
          <a:xfrm>
            <a:off x="583298" y="969438"/>
            <a:ext cx="195600" cy="421200"/>
          </a:xfrm>
          <a:prstGeom prst="cube">
            <a:avLst>
              <a:gd fmla="val 25000" name="adj"/>
            </a:avLst>
          </a:prstGeom>
          <a:solidFill>
            <a:srgbClr val="BCCEE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44"/>
          <p:cNvSpPr/>
          <p:nvPr/>
        </p:nvSpPr>
        <p:spPr>
          <a:xfrm>
            <a:off x="7548042" y="981275"/>
            <a:ext cx="78900" cy="160200"/>
          </a:xfrm>
          <a:prstGeom prst="cube">
            <a:avLst>
              <a:gd fmla="val 25000" name="adj"/>
            </a:avLst>
          </a:prstGeom>
          <a:solidFill>
            <a:srgbClr val="E89A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44"/>
          <p:cNvSpPr/>
          <p:nvPr/>
        </p:nvSpPr>
        <p:spPr>
          <a:xfrm>
            <a:off x="7548042" y="1220082"/>
            <a:ext cx="78900" cy="160200"/>
          </a:xfrm>
          <a:prstGeom prst="cube">
            <a:avLst>
              <a:gd fmla="val 25000" name="adj"/>
            </a:avLst>
          </a:prstGeom>
          <a:solidFill>
            <a:srgbClr val="A6BD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44"/>
          <p:cNvSpPr/>
          <p:nvPr/>
        </p:nvSpPr>
        <p:spPr>
          <a:xfrm>
            <a:off x="7548042" y="1445231"/>
            <a:ext cx="78900" cy="160200"/>
          </a:xfrm>
          <a:prstGeom prst="cube">
            <a:avLst>
              <a:gd fmla="val 25000" name="adj"/>
            </a:avLst>
          </a:prstGeom>
          <a:solidFill>
            <a:srgbClr val="DDC66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44"/>
          <p:cNvSpPr/>
          <p:nvPr/>
        </p:nvSpPr>
        <p:spPr>
          <a:xfrm>
            <a:off x="7548042" y="1667820"/>
            <a:ext cx="78900" cy="160200"/>
          </a:xfrm>
          <a:prstGeom prst="cube">
            <a:avLst>
              <a:gd fmla="val 25000" name="adj"/>
            </a:avLst>
          </a:prstGeom>
          <a:solidFill>
            <a:srgbClr val="A8C98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44"/>
          <p:cNvSpPr/>
          <p:nvPr/>
        </p:nvSpPr>
        <p:spPr>
          <a:xfrm>
            <a:off x="7548042" y="1898397"/>
            <a:ext cx="78900" cy="160200"/>
          </a:xfrm>
          <a:prstGeom prst="cube">
            <a:avLst>
              <a:gd fmla="val 25000" name="adj"/>
            </a:avLst>
          </a:prstGeom>
          <a:solidFill>
            <a:srgbClr val="B6A1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45"/>
          <p:cNvSpPr/>
          <p:nvPr/>
        </p:nvSpPr>
        <p:spPr>
          <a:xfrm>
            <a:off x="6004832" y="1524771"/>
            <a:ext cx="288000" cy="287700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45"/>
          <p:cNvSpPr/>
          <p:nvPr/>
        </p:nvSpPr>
        <p:spPr>
          <a:xfrm>
            <a:off x="5987532" y="2763294"/>
            <a:ext cx="288000" cy="287700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45"/>
          <p:cNvSpPr/>
          <p:nvPr/>
        </p:nvSpPr>
        <p:spPr>
          <a:xfrm>
            <a:off x="5526216" y="208201"/>
            <a:ext cx="1243800" cy="287700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45"/>
          <p:cNvSpPr/>
          <p:nvPr/>
        </p:nvSpPr>
        <p:spPr>
          <a:xfrm>
            <a:off x="5619012" y="607502"/>
            <a:ext cx="1059600" cy="494700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45"/>
          <p:cNvSpPr/>
          <p:nvPr/>
        </p:nvSpPr>
        <p:spPr>
          <a:xfrm>
            <a:off x="5555669" y="1994553"/>
            <a:ext cx="1151700" cy="598200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45"/>
          <p:cNvSpPr/>
          <p:nvPr/>
        </p:nvSpPr>
        <p:spPr>
          <a:xfrm>
            <a:off x="5555669" y="3097013"/>
            <a:ext cx="1151700" cy="598200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45"/>
          <p:cNvSpPr/>
          <p:nvPr/>
        </p:nvSpPr>
        <p:spPr>
          <a:xfrm>
            <a:off x="4179385" y="2634039"/>
            <a:ext cx="886800" cy="529200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45"/>
          <p:cNvSpPr/>
          <p:nvPr/>
        </p:nvSpPr>
        <p:spPr>
          <a:xfrm>
            <a:off x="4179385" y="1395660"/>
            <a:ext cx="886800" cy="529200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45"/>
          <p:cNvSpPr/>
          <p:nvPr/>
        </p:nvSpPr>
        <p:spPr>
          <a:xfrm>
            <a:off x="4179385" y="3666462"/>
            <a:ext cx="886811" cy="529184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45"/>
          <p:cNvSpPr/>
          <p:nvPr/>
        </p:nvSpPr>
        <p:spPr>
          <a:xfrm>
            <a:off x="2451832" y="3591685"/>
            <a:ext cx="1255354" cy="678736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45"/>
          <p:cNvSpPr/>
          <p:nvPr/>
        </p:nvSpPr>
        <p:spPr>
          <a:xfrm>
            <a:off x="2451832" y="2559263"/>
            <a:ext cx="1255500" cy="678600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45"/>
          <p:cNvSpPr/>
          <p:nvPr/>
        </p:nvSpPr>
        <p:spPr>
          <a:xfrm>
            <a:off x="2451832" y="1320884"/>
            <a:ext cx="1255500" cy="678600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45"/>
          <p:cNvSpPr/>
          <p:nvPr/>
        </p:nvSpPr>
        <p:spPr>
          <a:xfrm>
            <a:off x="2446073" y="407541"/>
            <a:ext cx="1266900" cy="667200"/>
          </a:xfrm>
          <a:prstGeom prst="roundRect">
            <a:avLst>
              <a:gd fmla="val 16667" name="adj"/>
            </a:avLst>
          </a:prstGeom>
          <a:noFill/>
          <a:ln cap="flat" cmpd="sng" w="15350">
            <a:solidFill>
              <a:srgbClr val="2473AA">
                <a:alpha val="0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45"/>
          <p:cNvSpPr/>
          <p:nvPr/>
        </p:nvSpPr>
        <p:spPr>
          <a:xfrm>
            <a:off x="2270004" y="1206058"/>
            <a:ext cx="4537800" cy="3175200"/>
          </a:xfrm>
          <a:prstGeom prst="roundRect">
            <a:avLst>
              <a:gd fmla="val 5387" name="adj"/>
            </a:avLst>
          </a:prstGeom>
          <a:solidFill>
            <a:srgbClr val="FAFAFA"/>
          </a:solidFill>
          <a:ln cap="flat" cmpd="sng" w="10725">
            <a:solidFill>
              <a:srgbClr val="303030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45"/>
          <p:cNvSpPr/>
          <p:nvPr/>
        </p:nvSpPr>
        <p:spPr>
          <a:xfrm>
            <a:off x="3943510" y="1195537"/>
            <a:ext cx="1150800" cy="183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8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Backbone + SG-FPN</a:t>
            </a:r>
            <a:endParaRPr sz="1100"/>
          </a:p>
        </p:txBody>
      </p:sp>
      <p:sp>
        <p:nvSpPr>
          <p:cNvPr id="1282" name="Google Shape;1282;p45"/>
          <p:cNvSpPr/>
          <p:nvPr/>
        </p:nvSpPr>
        <p:spPr>
          <a:xfrm>
            <a:off x="2463349" y="424797"/>
            <a:ext cx="1232400" cy="632700"/>
          </a:xfrm>
          <a:prstGeom prst="roundRect">
            <a:avLst>
              <a:gd fmla="val 16667" name="adj"/>
            </a:avLst>
          </a:prstGeom>
          <a:solidFill>
            <a:srgbClr val="F8CEB4"/>
          </a:solidFill>
          <a:ln cap="flat" cmpd="sng" w="99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3" name="Google Shape;1283;p45"/>
          <p:cNvGrpSpPr/>
          <p:nvPr/>
        </p:nvGrpSpPr>
        <p:grpSpPr>
          <a:xfrm>
            <a:off x="2504180" y="459674"/>
            <a:ext cx="1150658" cy="555171"/>
            <a:chOff x="3329180" y="648324"/>
            <a:chExt cx="1534210" cy="740228"/>
          </a:xfrm>
        </p:grpSpPr>
        <p:sp>
          <p:nvSpPr>
            <p:cNvPr id="1284" name="Google Shape;1284;p45"/>
            <p:cNvSpPr/>
            <p:nvPr/>
          </p:nvSpPr>
          <p:spPr>
            <a:xfrm>
              <a:off x="3822570" y="648324"/>
              <a:ext cx="5475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Stem</a:t>
              </a:r>
              <a:endParaRPr sz="1100"/>
            </a:p>
          </p:txBody>
        </p:sp>
        <p:sp>
          <p:nvSpPr>
            <p:cNvPr id="1285" name="Google Shape;1285;p45"/>
            <p:cNvSpPr/>
            <p:nvPr/>
          </p:nvSpPr>
          <p:spPr>
            <a:xfrm>
              <a:off x="3329180" y="821613"/>
              <a:ext cx="1534210" cy="244826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Conv 3×3, s=2 → s=1</a:t>
              </a:r>
              <a:endParaRPr sz="1100"/>
            </a:p>
          </p:txBody>
        </p:sp>
        <p:sp>
          <p:nvSpPr>
            <p:cNvPr id="1286" name="Google Shape;1286;p45"/>
            <p:cNvSpPr/>
            <p:nvPr/>
          </p:nvSpPr>
          <p:spPr>
            <a:xfrm>
              <a:off x="3450946" y="970429"/>
              <a:ext cx="12906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each BN + SiLU</a:t>
              </a:r>
              <a:endParaRPr spc="0" sz="8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45"/>
            <p:cNvSpPr/>
            <p:nvPr/>
          </p:nvSpPr>
          <p:spPr>
            <a:xfrm>
              <a:off x="3536486" y="1143726"/>
              <a:ext cx="1119597" cy="244826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32 × 400 × 352</a:t>
              </a:r>
              <a:endParaRPr sz="1100"/>
            </a:p>
          </p:txBody>
        </p:sp>
      </p:grpSp>
      <p:sp>
        <p:nvSpPr>
          <p:cNvPr id="1288" name="Google Shape;1288;p45"/>
          <p:cNvSpPr/>
          <p:nvPr/>
        </p:nvSpPr>
        <p:spPr>
          <a:xfrm>
            <a:off x="2469107" y="1338140"/>
            <a:ext cx="1220700" cy="644100"/>
          </a:xfrm>
          <a:prstGeom prst="roundRect">
            <a:avLst>
              <a:gd fmla="val 16667" name="adj"/>
            </a:avLst>
          </a:prstGeom>
          <a:solidFill>
            <a:srgbClr val="DCE8F5"/>
          </a:solidFill>
          <a:ln cap="flat" cmpd="sng" w="99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9" name="Google Shape;1289;p45"/>
          <p:cNvGrpSpPr/>
          <p:nvPr/>
        </p:nvGrpSpPr>
        <p:grpSpPr>
          <a:xfrm>
            <a:off x="2530093" y="1378764"/>
            <a:ext cx="1098831" cy="555176"/>
            <a:chOff x="3363731" y="1906088"/>
            <a:chExt cx="1465108" cy="740235"/>
          </a:xfrm>
        </p:grpSpPr>
        <p:sp>
          <p:nvSpPr>
            <p:cNvPr id="1290" name="Google Shape;1290;p45"/>
            <p:cNvSpPr/>
            <p:nvPr/>
          </p:nvSpPr>
          <p:spPr>
            <a:xfrm>
              <a:off x="3649423" y="1906088"/>
              <a:ext cx="8937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Stage 2 /4</a:t>
              </a:r>
              <a:endParaRPr sz="1100"/>
            </a:p>
          </p:txBody>
        </p:sp>
        <p:sp>
          <p:nvSpPr>
            <p:cNvPr id="1291" name="Google Shape;1291;p45"/>
            <p:cNvSpPr/>
            <p:nvPr/>
          </p:nvSpPr>
          <p:spPr>
            <a:xfrm>
              <a:off x="3363731" y="2079385"/>
              <a:ext cx="1465108" cy="244826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DS 3×3 + BN + SiLU</a:t>
              </a:r>
              <a:endParaRPr sz="1100"/>
            </a:p>
          </p:txBody>
        </p:sp>
        <p:sp>
          <p:nvSpPr>
            <p:cNvPr id="1292" name="Google Shape;1292;p45"/>
            <p:cNvSpPr/>
            <p:nvPr/>
          </p:nvSpPr>
          <p:spPr>
            <a:xfrm>
              <a:off x="3700097" y="2228202"/>
              <a:ext cx="7923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NeXt × 2</a:t>
              </a:r>
              <a:endParaRPr sz="1100"/>
            </a:p>
          </p:txBody>
        </p:sp>
        <p:sp>
          <p:nvSpPr>
            <p:cNvPr id="1293" name="Google Shape;1293;p45"/>
            <p:cNvSpPr/>
            <p:nvPr/>
          </p:nvSpPr>
          <p:spPr>
            <a:xfrm>
              <a:off x="3536486" y="2401497"/>
              <a:ext cx="1119597" cy="244826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48 × 200 × 176</a:t>
              </a:r>
              <a:endParaRPr sz="1100"/>
            </a:p>
          </p:txBody>
        </p:sp>
      </p:grpSp>
      <p:sp>
        <p:nvSpPr>
          <p:cNvPr id="1294" name="Google Shape;1294;p45"/>
          <p:cNvSpPr/>
          <p:nvPr/>
        </p:nvSpPr>
        <p:spPr>
          <a:xfrm>
            <a:off x="2469107" y="2576519"/>
            <a:ext cx="1220700" cy="644100"/>
          </a:xfrm>
          <a:prstGeom prst="roundRect">
            <a:avLst>
              <a:gd fmla="val 16667" name="adj"/>
            </a:avLst>
          </a:prstGeom>
          <a:solidFill>
            <a:srgbClr val="DCE8F5"/>
          </a:solidFill>
          <a:ln cap="flat" cmpd="sng" w="99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95" name="Google Shape;1295;p45"/>
          <p:cNvGrpSpPr/>
          <p:nvPr/>
        </p:nvGrpSpPr>
        <p:grpSpPr>
          <a:xfrm>
            <a:off x="2530093" y="2617142"/>
            <a:ext cx="1098900" cy="564426"/>
            <a:chOff x="3363730" y="3332585"/>
            <a:chExt cx="1465200" cy="752568"/>
          </a:xfrm>
        </p:grpSpPr>
        <p:sp>
          <p:nvSpPr>
            <p:cNvPr id="1296" name="Google Shape;1296;p45"/>
            <p:cNvSpPr/>
            <p:nvPr/>
          </p:nvSpPr>
          <p:spPr>
            <a:xfrm>
              <a:off x="3649423" y="3332585"/>
              <a:ext cx="8937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Stage 3 /8</a:t>
              </a:r>
              <a:endParaRPr sz="1100"/>
            </a:p>
          </p:txBody>
        </p:sp>
        <p:sp>
          <p:nvSpPr>
            <p:cNvPr id="1297" name="Google Shape;1297;p45"/>
            <p:cNvSpPr/>
            <p:nvPr/>
          </p:nvSpPr>
          <p:spPr>
            <a:xfrm>
              <a:off x="3363730" y="3505886"/>
              <a:ext cx="1465200" cy="2448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DS 3×3 + BN + SiLU</a:t>
              </a:r>
              <a:endParaRPr sz="1100"/>
            </a:p>
          </p:txBody>
        </p:sp>
        <p:sp>
          <p:nvSpPr>
            <p:cNvPr id="1298" name="Google Shape;1298;p45"/>
            <p:cNvSpPr/>
            <p:nvPr/>
          </p:nvSpPr>
          <p:spPr>
            <a:xfrm>
              <a:off x="3700098" y="3654697"/>
              <a:ext cx="7923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NeXt × 4</a:t>
              </a:r>
              <a:endParaRPr sz="1100"/>
            </a:p>
          </p:txBody>
        </p:sp>
        <p:sp>
          <p:nvSpPr>
            <p:cNvPr id="1299" name="Google Shape;1299;p45"/>
            <p:cNvSpPr/>
            <p:nvPr/>
          </p:nvSpPr>
          <p:spPr>
            <a:xfrm>
              <a:off x="3522735" y="3815753"/>
              <a:ext cx="11472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96 × 100 × 88</a:t>
              </a:r>
              <a:endParaRPr sz="1100"/>
            </a:p>
          </p:txBody>
        </p:sp>
      </p:grpSp>
      <p:sp>
        <p:nvSpPr>
          <p:cNvPr id="1300" name="Google Shape;1300;p45"/>
          <p:cNvSpPr/>
          <p:nvPr/>
        </p:nvSpPr>
        <p:spPr>
          <a:xfrm>
            <a:off x="2469107" y="3608942"/>
            <a:ext cx="1220803" cy="644224"/>
          </a:xfrm>
          <a:prstGeom prst="roundRect">
            <a:avLst>
              <a:gd fmla="val 16667" name="adj"/>
            </a:avLst>
          </a:prstGeom>
          <a:solidFill>
            <a:srgbClr val="DCE8F5"/>
          </a:solidFill>
          <a:ln cap="flat" cmpd="sng" w="99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1" name="Google Shape;1301;p45"/>
          <p:cNvGrpSpPr/>
          <p:nvPr/>
        </p:nvGrpSpPr>
        <p:grpSpPr>
          <a:xfrm>
            <a:off x="2530093" y="3649565"/>
            <a:ext cx="1098831" cy="564426"/>
            <a:chOff x="3363731" y="4759082"/>
            <a:chExt cx="1465108" cy="752568"/>
          </a:xfrm>
        </p:grpSpPr>
        <p:sp>
          <p:nvSpPr>
            <p:cNvPr id="1302" name="Google Shape;1302;p45"/>
            <p:cNvSpPr/>
            <p:nvPr/>
          </p:nvSpPr>
          <p:spPr>
            <a:xfrm>
              <a:off x="3607194" y="4759082"/>
              <a:ext cx="9783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Stage 4 /16</a:t>
              </a:r>
              <a:endParaRPr sz="1100"/>
            </a:p>
          </p:txBody>
        </p:sp>
        <p:sp>
          <p:nvSpPr>
            <p:cNvPr id="1303" name="Google Shape;1303;p45"/>
            <p:cNvSpPr/>
            <p:nvPr/>
          </p:nvSpPr>
          <p:spPr>
            <a:xfrm>
              <a:off x="3363731" y="4932379"/>
              <a:ext cx="1465108" cy="244826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DS 3×3 + BN + SiLU</a:t>
              </a:r>
              <a:endParaRPr sz="1100"/>
            </a:p>
          </p:txBody>
        </p:sp>
        <p:sp>
          <p:nvSpPr>
            <p:cNvPr id="1304" name="Google Shape;1304;p45"/>
            <p:cNvSpPr/>
            <p:nvPr/>
          </p:nvSpPr>
          <p:spPr>
            <a:xfrm>
              <a:off x="3700098" y="5081194"/>
              <a:ext cx="7923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NeXt × 2</a:t>
              </a:r>
              <a:endParaRPr sz="1100"/>
            </a:p>
          </p:txBody>
        </p:sp>
        <p:sp>
          <p:nvSpPr>
            <p:cNvPr id="1305" name="Google Shape;1305;p45"/>
            <p:cNvSpPr/>
            <p:nvPr/>
          </p:nvSpPr>
          <p:spPr>
            <a:xfrm>
              <a:off x="3522735" y="5242250"/>
              <a:ext cx="11472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128 × 50 × 44</a:t>
              </a:r>
              <a:endParaRPr sz="1100"/>
            </a:p>
          </p:txBody>
        </p:sp>
      </p:grpSp>
      <p:sp>
        <p:nvSpPr>
          <p:cNvPr id="1306" name="Google Shape;1306;p45"/>
          <p:cNvSpPr/>
          <p:nvPr/>
        </p:nvSpPr>
        <p:spPr>
          <a:xfrm>
            <a:off x="4196660" y="3683718"/>
            <a:ext cx="852260" cy="494672"/>
          </a:xfrm>
          <a:prstGeom prst="roundRect">
            <a:avLst>
              <a:gd fmla="val 16667" name="adj"/>
            </a:avLst>
          </a:prstGeom>
          <a:solidFill>
            <a:srgbClr val="A8CF91"/>
          </a:solidFill>
          <a:ln cap="flat" cmpd="sng" w="99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7" name="Google Shape;1307;p45"/>
          <p:cNvGrpSpPr/>
          <p:nvPr/>
        </p:nvGrpSpPr>
        <p:grpSpPr>
          <a:xfrm>
            <a:off x="4224299" y="3709961"/>
            <a:ext cx="796950" cy="443634"/>
            <a:chOff x="5622672" y="4839609"/>
            <a:chExt cx="1062600" cy="591512"/>
          </a:xfrm>
        </p:grpSpPr>
        <p:sp>
          <p:nvSpPr>
            <p:cNvPr id="1308" name="Google Shape;1308;p45"/>
            <p:cNvSpPr/>
            <p:nvPr/>
          </p:nvSpPr>
          <p:spPr>
            <a:xfrm>
              <a:off x="5724020" y="4839609"/>
              <a:ext cx="8601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Conv 1×1</a:t>
              </a:r>
              <a:endParaRPr sz="1100"/>
            </a:p>
          </p:txBody>
        </p:sp>
        <p:sp>
          <p:nvSpPr>
            <p:cNvPr id="1309" name="Google Shape;1309;p45"/>
            <p:cNvSpPr/>
            <p:nvPr/>
          </p:nvSpPr>
          <p:spPr>
            <a:xfrm>
              <a:off x="5724022" y="5000666"/>
              <a:ext cx="8598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128 → 48</a:t>
              </a:r>
              <a:endParaRPr sz="1100"/>
            </a:p>
          </p:txBody>
        </p:sp>
        <p:sp>
          <p:nvSpPr>
            <p:cNvPr id="1310" name="Google Shape;1310;p45"/>
            <p:cNvSpPr/>
            <p:nvPr/>
          </p:nvSpPr>
          <p:spPr>
            <a:xfrm>
              <a:off x="5622672" y="5161722"/>
              <a:ext cx="10626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48 × 50 × 44</a:t>
              </a:r>
              <a:endParaRPr sz="1100"/>
            </a:p>
          </p:txBody>
        </p:sp>
      </p:grpSp>
      <p:sp>
        <p:nvSpPr>
          <p:cNvPr id="1311" name="Google Shape;1311;p45"/>
          <p:cNvSpPr/>
          <p:nvPr/>
        </p:nvSpPr>
        <p:spPr>
          <a:xfrm>
            <a:off x="4196660" y="2651295"/>
            <a:ext cx="852300" cy="494700"/>
          </a:xfrm>
          <a:prstGeom prst="roundRect">
            <a:avLst>
              <a:gd fmla="val 16667" name="adj"/>
            </a:avLst>
          </a:prstGeom>
          <a:solidFill>
            <a:srgbClr val="A8CF91"/>
          </a:solidFill>
          <a:ln cap="flat" cmpd="sng" w="99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2" name="Google Shape;1312;p45"/>
          <p:cNvGrpSpPr/>
          <p:nvPr/>
        </p:nvGrpSpPr>
        <p:grpSpPr>
          <a:xfrm>
            <a:off x="4192632" y="2672923"/>
            <a:ext cx="860400" cy="443638"/>
            <a:chOff x="5580449" y="3413113"/>
            <a:chExt cx="1147200" cy="591517"/>
          </a:xfrm>
        </p:grpSpPr>
        <p:sp>
          <p:nvSpPr>
            <p:cNvPr id="1313" name="Google Shape;1313;p45"/>
            <p:cNvSpPr/>
            <p:nvPr/>
          </p:nvSpPr>
          <p:spPr>
            <a:xfrm>
              <a:off x="5724022" y="3413113"/>
              <a:ext cx="8598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Conv 1×1</a:t>
              </a:r>
              <a:endParaRPr sz="1100"/>
            </a:p>
          </p:txBody>
        </p:sp>
        <p:sp>
          <p:nvSpPr>
            <p:cNvPr id="1314" name="Google Shape;1314;p45"/>
            <p:cNvSpPr/>
            <p:nvPr/>
          </p:nvSpPr>
          <p:spPr>
            <a:xfrm>
              <a:off x="5766251" y="3574169"/>
              <a:ext cx="7755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96 → 48</a:t>
              </a:r>
              <a:endParaRPr sz="1100"/>
            </a:p>
          </p:txBody>
        </p:sp>
        <p:sp>
          <p:nvSpPr>
            <p:cNvPr id="1315" name="Google Shape;1315;p45"/>
            <p:cNvSpPr/>
            <p:nvPr/>
          </p:nvSpPr>
          <p:spPr>
            <a:xfrm>
              <a:off x="5580449" y="3735230"/>
              <a:ext cx="11472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48 × 100 × 88</a:t>
              </a:r>
              <a:endParaRPr sz="1100"/>
            </a:p>
          </p:txBody>
        </p:sp>
      </p:grpSp>
      <p:sp>
        <p:nvSpPr>
          <p:cNvPr id="1316" name="Google Shape;1316;p45"/>
          <p:cNvSpPr/>
          <p:nvPr/>
        </p:nvSpPr>
        <p:spPr>
          <a:xfrm>
            <a:off x="4196660" y="1412916"/>
            <a:ext cx="852300" cy="494700"/>
          </a:xfrm>
          <a:prstGeom prst="roundRect">
            <a:avLst>
              <a:gd fmla="val 16667" name="adj"/>
            </a:avLst>
          </a:prstGeom>
          <a:solidFill>
            <a:srgbClr val="A8CF91"/>
          </a:solidFill>
          <a:ln cap="flat" cmpd="sng" w="99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7" name="Google Shape;1317;p45"/>
          <p:cNvGrpSpPr/>
          <p:nvPr/>
        </p:nvGrpSpPr>
        <p:grpSpPr>
          <a:xfrm>
            <a:off x="4202941" y="1439160"/>
            <a:ext cx="839698" cy="434384"/>
            <a:chOff x="5594194" y="1986616"/>
            <a:chExt cx="1119597" cy="579179"/>
          </a:xfrm>
        </p:grpSpPr>
        <p:sp>
          <p:nvSpPr>
            <p:cNvPr id="1318" name="Google Shape;1318;p45"/>
            <p:cNvSpPr/>
            <p:nvPr/>
          </p:nvSpPr>
          <p:spPr>
            <a:xfrm>
              <a:off x="5724022" y="1986616"/>
              <a:ext cx="8598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Conv 1×1</a:t>
              </a:r>
              <a:endParaRPr sz="1100"/>
            </a:p>
          </p:txBody>
        </p:sp>
        <p:sp>
          <p:nvSpPr>
            <p:cNvPr id="1319" name="Google Shape;1319;p45"/>
            <p:cNvSpPr/>
            <p:nvPr/>
          </p:nvSpPr>
          <p:spPr>
            <a:xfrm>
              <a:off x="5766251" y="2147672"/>
              <a:ext cx="7755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48 → 24</a:t>
              </a:r>
              <a:endParaRPr sz="1100"/>
            </a:p>
          </p:txBody>
        </p:sp>
        <p:sp>
          <p:nvSpPr>
            <p:cNvPr id="1320" name="Google Shape;1320;p45"/>
            <p:cNvSpPr/>
            <p:nvPr/>
          </p:nvSpPr>
          <p:spPr>
            <a:xfrm>
              <a:off x="5594194" y="2320969"/>
              <a:ext cx="1119597" cy="244826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24 × 200 × 176</a:t>
              </a:r>
              <a:endParaRPr sz="1100"/>
            </a:p>
          </p:txBody>
        </p:sp>
      </p:grpSp>
      <p:sp>
        <p:nvSpPr>
          <p:cNvPr id="1321" name="Google Shape;1321;p45"/>
          <p:cNvSpPr/>
          <p:nvPr/>
        </p:nvSpPr>
        <p:spPr>
          <a:xfrm>
            <a:off x="5572944" y="3265594"/>
            <a:ext cx="1117200" cy="563700"/>
          </a:xfrm>
          <a:prstGeom prst="roundRect">
            <a:avLst>
              <a:gd fmla="val 16667" name="adj"/>
            </a:avLst>
          </a:prstGeom>
          <a:solidFill>
            <a:srgbClr val="FFE5A1"/>
          </a:solidFill>
          <a:ln cap="flat" cmpd="sng" w="99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2" name="Google Shape;1322;p45"/>
          <p:cNvGrpSpPr/>
          <p:nvPr/>
        </p:nvGrpSpPr>
        <p:grpSpPr>
          <a:xfrm>
            <a:off x="5701358" y="3265953"/>
            <a:ext cx="860400" cy="564427"/>
            <a:chOff x="7615117" y="4045833"/>
            <a:chExt cx="1147200" cy="752569"/>
          </a:xfrm>
        </p:grpSpPr>
        <p:sp>
          <p:nvSpPr>
            <p:cNvPr id="1323" name="Google Shape;1323;p45"/>
            <p:cNvSpPr/>
            <p:nvPr/>
          </p:nvSpPr>
          <p:spPr>
            <a:xfrm>
              <a:off x="7733358" y="4045833"/>
              <a:ext cx="9105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Bilinear ↑2</a:t>
              </a:r>
              <a:endParaRPr sz="1100"/>
            </a:p>
          </p:txBody>
        </p:sp>
        <p:sp>
          <p:nvSpPr>
            <p:cNvPr id="1324" name="Google Shape;1324;p45"/>
            <p:cNvSpPr/>
            <p:nvPr/>
          </p:nvSpPr>
          <p:spPr>
            <a:xfrm>
              <a:off x="7809371" y="4206890"/>
              <a:ext cx="7587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DW 3×3</a:t>
              </a:r>
              <a:endParaRPr sz="1100"/>
            </a:p>
          </p:txBody>
        </p:sp>
        <p:sp>
          <p:nvSpPr>
            <p:cNvPr id="1325" name="Google Shape;1325;p45"/>
            <p:cNvSpPr/>
            <p:nvPr/>
          </p:nvSpPr>
          <p:spPr>
            <a:xfrm>
              <a:off x="7729135" y="4367946"/>
              <a:ext cx="9192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sz="1100"/>
            </a:p>
          </p:txBody>
        </p:sp>
        <p:sp>
          <p:nvSpPr>
            <p:cNvPr id="1326" name="Google Shape;1326;p45"/>
            <p:cNvSpPr/>
            <p:nvPr/>
          </p:nvSpPr>
          <p:spPr>
            <a:xfrm>
              <a:off x="7615117" y="4529002"/>
              <a:ext cx="11472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48 × 100 × 88</a:t>
              </a:r>
              <a:endParaRPr sz="1100"/>
            </a:p>
          </p:txBody>
        </p:sp>
      </p:grpSp>
      <p:sp>
        <p:nvSpPr>
          <p:cNvPr id="1327" name="Google Shape;1327;p45"/>
          <p:cNvSpPr/>
          <p:nvPr/>
        </p:nvSpPr>
        <p:spPr>
          <a:xfrm>
            <a:off x="6004808" y="2780550"/>
            <a:ext cx="253500" cy="25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72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45"/>
          <p:cNvSpPr/>
          <p:nvPr/>
        </p:nvSpPr>
        <p:spPr>
          <a:xfrm>
            <a:off x="6011088" y="2792275"/>
            <a:ext cx="240900" cy="2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0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100"/>
          </a:p>
        </p:txBody>
      </p:sp>
      <p:sp>
        <p:nvSpPr>
          <p:cNvPr id="1329" name="Google Shape;1329;p45"/>
          <p:cNvSpPr/>
          <p:nvPr/>
        </p:nvSpPr>
        <p:spPr>
          <a:xfrm>
            <a:off x="5062697" y="2568386"/>
            <a:ext cx="911100" cy="201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8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P4 · scale gate</a:t>
            </a:r>
            <a:endParaRPr sz="1100"/>
          </a:p>
        </p:txBody>
      </p:sp>
      <p:sp>
        <p:nvSpPr>
          <p:cNvPr id="1330" name="Google Shape;1330;p45"/>
          <p:cNvSpPr/>
          <p:nvPr/>
        </p:nvSpPr>
        <p:spPr>
          <a:xfrm>
            <a:off x="5116537" y="2705739"/>
            <a:ext cx="803400" cy="195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8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48 × 100 × 88</a:t>
            </a:r>
            <a:endParaRPr sz="1100"/>
          </a:p>
        </p:txBody>
      </p:sp>
      <p:sp>
        <p:nvSpPr>
          <p:cNvPr id="1331" name="Google Shape;1331;p45"/>
          <p:cNvSpPr/>
          <p:nvPr/>
        </p:nvSpPr>
        <p:spPr>
          <a:xfrm>
            <a:off x="5590220" y="2044396"/>
            <a:ext cx="1117151" cy="563696"/>
          </a:xfrm>
          <a:prstGeom prst="roundRect">
            <a:avLst>
              <a:gd fmla="val 16667" name="adj"/>
            </a:avLst>
          </a:prstGeom>
          <a:solidFill>
            <a:srgbClr val="FFE5A1"/>
          </a:solidFill>
          <a:ln cap="flat" cmpd="sng" w="99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2" name="Google Shape;1332;p45"/>
          <p:cNvGrpSpPr/>
          <p:nvPr/>
        </p:nvGrpSpPr>
        <p:grpSpPr>
          <a:xfrm>
            <a:off x="5728946" y="2044756"/>
            <a:ext cx="839698" cy="555177"/>
            <a:chOff x="7628868" y="2619336"/>
            <a:chExt cx="1119597" cy="740236"/>
          </a:xfrm>
        </p:grpSpPr>
        <p:sp>
          <p:nvSpPr>
            <p:cNvPr id="1333" name="Google Shape;1333;p45"/>
            <p:cNvSpPr/>
            <p:nvPr/>
          </p:nvSpPr>
          <p:spPr>
            <a:xfrm>
              <a:off x="7733358" y="2619336"/>
              <a:ext cx="9105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Bilinear ↑2</a:t>
              </a:r>
              <a:endParaRPr sz="1100"/>
            </a:p>
          </p:txBody>
        </p:sp>
        <p:sp>
          <p:nvSpPr>
            <p:cNvPr id="1334" name="Google Shape;1334;p45"/>
            <p:cNvSpPr/>
            <p:nvPr/>
          </p:nvSpPr>
          <p:spPr>
            <a:xfrm>
              <a:off x="7758696" y="2780393"/>
              <a:ext cx="8598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Conv 3×3</a:t>
              </a:r>
              <a:endParaRPr sz="1100"/>
            </a:p>
          </p:txBody>
        </p:sp>
        <p:sp>
          <p:nvSpPr>
            <p:cNvPr id="1335" name="Google Shape;1335;p45"/>
            <p:cNvSpPr/>
            <p:nvPr/>
          </p:nvSpPr>
          <p:spPr>
            <a:xfrm>
              <a:off x="7729135" y="2941449"/>
              <a:ext cx="9192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sz="1100"/>
            </a:p>
          </p:txBody>
        </p:sp>
        <p:sp>
          <p:nvSpPr>
            <p:cNvPr id="1336" name="Google Shape;1336;p45"/>
            <p:cNvSpPr/>
            <p:nvPr/>
          </p:nvSpPr>
          <p:spPr>
            <a:xfrm>
              <a:off x="7628868" y="3114746"/>
              <a:ext cx="1119597" cy="244826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24 × 200 × 176</a:t>
              </a:r>
              <a:endParaRPr sz="1100"/>
            </a:p>
          </p:txBody>
        </p:sp>
      </p:grpSp>
      <p:sp>
        <p:nvSpPr>
          <p:cNvPr id="1337" name="Google Shape;1337;p45"/>
          <p:cNvSpPr/>
          <p:nvPr/>
        </p:nvSpPr>
        <p:spPr>
          <a:xfrm>
            <a:off x="6021448" y="1542027"/>
            <a:ext cx="253500" cy="25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72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45"/>
          <p:cNvSpPr/>
          <p:nvPr/>
        </p:nvSpPr>
        <p:spPr>
          <a:xfrm>
            <a:off x="6027728" y="1553753"/>
            <a:ext cx="240900" cy="2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10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100"/>
          </a:p>
        </p:txBody>
      </p:sp>
      <p:sp>
        <p:nvSpPr>
          <p:cNvPr id="1339" name="Google Shape;1339;p45"/>
          <p:cNvSpPr/>
          <p:nvPr/>
        </p:nvSpPr>
        <p:spPr>
          <a:xfrm>
            <a:off x="5080014" y="1340329"/>
            <a:ext cx="911100" cy="201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8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P3 · scale gate</a:t>
            </a:r>
            <a:endParaRPr sz="1100"/>
          </a:p>
        </p:txBody>
      </p:sp>
      <p:sp>
        <p:nvSpPr>
          <p:cNvPr id="1340" name="Google Shape;1340;p45"/>
          <p:cNvSpPr/>
          <p:nvPr/>
        </p:nvSpPr>
        <p:spPr>
          <a:xfrm>
            <a:off x="5128386" y="1455657"/>
            <a:ext cx="860400" cy="195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8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24 × 200 × 176</a:t>
            </a:r>
            <a:endParaRPr sz="1100"/>
          </a:p>
        </p:txBody>
      </p:sp>
      <p:sp>
        <p:nvSpPr>
          <p:cNvPr id="1341" name="Google Shape;1341;p45"/>
          <p:cNvSpPr/>
          <p:nvPr/>
        </p:nvSpPr>
        <p:spPr>
          <a:xfrm>
            <a:off x="5636288" y="624758"/>
            <a:ext cx="1025100" cy="460200"/>
          </a:xfrm>
          <a:prstGeom prst="roundRect">
            <a:avLst>
              <a:gd fmla="val 16667" name="adj"/>
            </a:avLst>
          </a:prstGeom>
          <a:solidFill>
            <a:srgbClr val="A8CF91"/>
          </a:solidFill>
          <a:ln cap="flat" cmpd="sng" w="99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2" name="Google Shape;1342;p45"/>
          <p:cNvGrpSpPr/>
          <p:nvPr/>
        </p:nvGrpSpPr>
        <p:grpSpPr>
          <a:xfrm>
            <a:off x="5686961" y="633745"/>
            <a:ext cx="923625" cy="443634"/>
            <a:chOff x="7572888" y="897570"/>
            <a:chExt cx="1231500" cy="591512"/>
          </a:xfrm>
        </p:grpSpPr>
        <p:sp>
          <p:nvSpPr>
            <p:cNvPr id="1343" name="Google Shape;1343;p45"/>
            <p:cNvSpPr/>
            <p:nvPr/>
          </p:nvSpPr>
          <p:spPr>
            <a:xfrm>
              <a:off x="7758696" y="897570"/>
              <a:ext cx="8598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Conv 3×3</a:t>
              </a:r>
              <a:endParaRPr sz="1100"/>
            </a:p>
          </p:txBody>
        </p:sp>
        <p:sp>
          <p:nvSpPr>
            <p:cNvPr id="1344" name="Google Shape;1344;p45"/>
            <p:cNvSpPr/>
            <p:nvPr/>
          </p:nvSpPr>
          <p:spPr>
            <a:xfrm>
              <a:off x="7729135" y="1058626"/>
              <a:ext cx="9192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sz="1100"/>
            </a:p>
          </p:txBody>
        </p:sp>
        <p:sp>
          <p:nvSpPr>
            <p:cNvPr id="1345" name="Google Shape;1345;p45"/>
            <p:cNvSpPr/>
            <p:nvPr/>
          </p:nvSpPr>
          <p:spPr>
            <a:xfrm>
              <a:off x="7572888" y="1219682"/>
              <a:ext cx="12315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16 × 200 × 176</a:t>
              </a:r>
              <a:endParaRPr sz="1100"/>
            </a:p>
          </p:txBody>
        </p:sp>
      </p:grpSp>
      <p:sp>
        <p:nvSpPr>
          <p:cNvPr id="1346" name="Google Shape;1346;p45"/>
          <p:cNvSpPr/>
          <p:nvPr/>
        </p:nvSpPr>
        <p:spPr>
          <a:xfrm>
            <a:off x="5543491" y="225457"/>
            <a:ext cx="1209300" cy="25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975">
            <a:solidFill>
              <a:srgbClr val="30303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7" name="Google Shape;1347;p45"/>
          <p:cNvGrpSpPr/>
          <p:nvPr/>
        </p:nvGrpSpPr>
        <p:grpSpPr>
          <a:xfrm>
            <a:off x="5686313" y="191305"/>
            <a:ext cx="923625" cy="322844"/>
            <a:chOff x="9230955" y="979184"/>
            <a:chExt cx="1231500" cy="430458"/>
          </a:xfrm>
        </p:grpSpPr>
        <p:sp>
          <p:nvSpPr>
            <p:cNvPr id="1348" name="Google Shape;1348;p45"/>
            <p:cNvSpPr/>
            <p:nvPr/>
          </p:nvSpPr>
          <p:spPr>
            <a:xfrm>
              <a:off x="9433646" y="979184"/>
              <a:ext cx="8262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Output /4</a:t>
              </a:r>
              <a:endParaRPr sz="1100"/>
            </a:p>
          </p:txBody>
        </p:sp>
        <p:sp>
          <p:nvSpPr>
            <p:cNvPr id="1349" name="Google Shape;1349;p45"/>
            <p:cNvSpPr/>
            <p:nvPr/>
          </p:nvSpPr>
          <p:spPr>
            <a:xfrm>
              <a:off x="9230955" y="1140243"/>
              <a:ext cx="1231500" cy="269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16 × 200 × 176</a:t>
              </a:r>
              <a:endParaRPr sz="1100"/>
            </a:p>
          </p:txBody>
        </p:sp>
      </p:grpSp>
      <p:cxnSp>
        <p:nvCxnSpPr>
          <p:cNvPr id="1350" name="Google Shape;1350;p45"/>
          <p:cNvCxnSpPr>
            <a:endCxn id="1282" idx="1"/>
          </p:cNvCxnSpPr>
          <p:nvPr/>
        </p:nvCxnSpPr>
        <p:spPr>
          <a:xfrm>
            <a:off x="2135149" y="741147"/>
            <a:ext cx="32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51" name="Google Shape;1351;p45"/>
          <p:cNvCxnSpPr>
            <a:stCxn id="1279" idx="2"/>
            <a:endCxn id="1288" idx="0"/>
          </p:cNvCxnSpPr>
          <p:nvPr/>
        </p:nvCxnSpPr>
        <p:spPr>
          <a:xfrm>
            <a:off x="3079523" y="1074741"/>
            <a:ext cx="0" cy="26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52" name="Google Shape;1352;p45"/>
          <p:cNvCxnSpPr>
            <a:stCxn id="1288" idx="2"/>
            <a:endCxn id="1277" idx="0"/>
          </p:cNvCxnSpPr>
          <p:nvPr/>
        </p:nvCxnSpPr>
        <p:spPr>
          <a:xfrm>
            <a:off x="3079457" y="1982240"/>
            <a:ext cx="0" cy="57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53" name="Google Shape;1353;p45"/>
          <p:cNvCxnSpPr>
            <a:endCxn id="1300" idx="0"/>
          </p:cNvCxnSpPr>
          <p:nvPr/>
        </p:nvCxnSpPr>
        <p:spPr>
          <a:xfrm>
            <a:off x="3079509" y="3183242"/>
            <a:ext cx="0" cy="42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54" name="Google Shape;1354;p45"/>
          <p:cNvCxnSpPr>
            <a:stCxn id="1276" idx="3"/>
            <a:endCxn id="1306" idx="1"/>
          </p:cNvCxnSpPr>
          <p:nvPr/>
        </p:nvCxnSpPr>
        <p:spPr>
          <a:xfrm>
            <a:off x="3707186" y="3931053"/>
            <a:ext cx="48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55" name="Google Shape;1355;p45"/>
          <p:cNvCxnSpPr>
            <a:stCxn id="1294" idx="3"/>
            <a:endCxn id="1311" idx="1"/>
          </p:cNvCxnSpPr>
          <p:nvPr/>
        </p:nvCxnSpPr>
        <p:spPr>
          <a:xfrm>
            <a:off x="3689807" y="2898569"/>
            <a:ext cx="507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56" name="Google Shape;1356;p45"/>
          <p:cNvCxnSpPr>
            <a:stCxn id="1278" idx="3"/>
            <a:endCxn id="1316" idx="1"/>
          </p:cNvCxnSpPr>
          <p:nvPr/>
        </p:nvCxnSpPr>
        <p:spPr>
          <a:xfrm>
            <a:off x="3707332" y="1660184"/>
            <a:ext cx="48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57" name="Google Shape;1357;p45"/>
          <p:cNvCxnSpPr>
            <a:stCxn id="1274" idx="3"/>
            <a:endCxn id="1338" idx="1"/>
          </p:cNvCxnSpPr>
          <p:nvPr/>
        </p:nvCxnSpPr>
        <p:spPr>
          <a:xfrm>
            <a:off x="5066185" y="1660260"/>
            <a:ext cx="961500" cy="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58" name="Google Shape;1358;p45"/>
          <p:cNvCxnSpPr>
            <a:stCxn id="1311" idx="3"/>
            <a:endCxn id="1328" idx="1"/>
          </p:cNvCxnSpPr>
          <p:nvPr/>
        </p:nvCxnSpPr>
        <p:spPr>
          <a:xfrm>
            <a:off x="5048960" y="2898645"/>
            <a:ext cx="962100" cy="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59" name="Google Shape;1359;p45"/>
          <p:cNvCxnSpPr>
            <a:stCxn id="1306" idx="3"/>
            <a:endCxn id="1321" idx="1"/>
          </p:cNvCxnSpPr>
          <p:nvPr/>
        </p:nvCxnSpPr>
        <p:spPr>
          <a:xfrm flipH="1" rot="10800000">
            <a:off x="5048920" y="3547354"/>
            <a:ext cx="524100" cy="3837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60" name="Google Shape;1360;p45"/>
          <p:cNvCxnSpPr>
            <a:stCxn id="1321" idx="0"/>
            <a:endCxn id="1268" idx="2"/>
          </p:cNvCxnSpPr>
          <p:nvPr/>
        </p:nvCxnSpPr>
        <p:spPr>
          <a:xfrm rot="10800000">
            <a:off x="6131545" y="3051094"/>
            <a:ext cx="0" cy="21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61" name="Google Shape;1361;p45"/>
          <p:cNvCxnSpPr>
            <a:stCxn id="1328" idx="0"/>
            <a:endCxn id="1271" idx="2"/>
          </p:cNvCxnSpPr>
          <p:nvPr/>
        </p:nvCxnSpPr>
        <p:spPr>
          <a:xfrm rot="10800000">
            <a:off x="6131538" y="2592775"/>
            <a:ext cx="0" cy="19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62" name="Google Shape;1362;p45"/>
          <p:cNvCxnSpPr>
            <a:stCxn id="1331" idx="0"/>
            <a:endCxn id="1337" idx="2"/>
          </p:cNvCxnSpPr>
          <p:nvPr/>
        </p:nvCxnSpPr>
        <p:spPr>
          <a:xfrm rot="10800000">
            <a:off x="6148195" y="1795097"/>
            <a:ext cx="600" cy="24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63" name="Google Shape;1363;p45"/>
          <p:cNvCxnSpPr>
            <a:stCxn id="1267" idx="0"/>
            <a:endCxn id="1341" idx="2"/>
          </p:cNvCxnSpPr>
          <p:nvPr/>
        </p:nvCxnSpPr>
        <p:spPr>
          <a:xfrm rot="10800000">
            <a:off x="6148832" y="1084971"/>
            <a:ext cx="0" cy="439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64" name="Google Shape;1364;p45"/>
          <p:cNvCxnSpPr>
            <a:stCxn id="1341" idx="0"/>
            <a:endCxn id="1269" idx="2"/>
          </p:cNvCxnSpPr>
          <p:nvPr/>
        </p:nvCxnSpPr>
        <p:spPr>
          <a:xfrm rot="10800000">
            <a:off x="6148238" y="495758"/>
            <a:ext cx="600" cy="12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grpSp>
        <p:nvGrpSpPr>
          <p:cNvPr id="1365" name="Google Shape;1365;p45"/>
          <p:cNvGrpSpPr/>
          <p:nvPr/>
        </p:nvGrpSpPr>
        <p:grpSpPr>
          <a:xfrm>
            <a:off x="1514252" y="821428"/>
            <a:ext cx="886725" cy="334325"/>
            <a:chOff x="1755204" y="821597"/>
            <a:chExt cx="1182300" cy="445767"/>
          </a:xfrm>
        </p:grpSpPr>
        <p:sp>
          <p:nvSpPr>
            <p:cNvPr id="1366" name="Google Shape;1366;p45"/>
            <p:cNvSpPr/>
            <p:nvPr/>
          </p:nvSpPr>
          <p:spPr>
            <a:xfrm>
              <a:off x="1839634" y="821597"/>
              <a:ext cx="967500" cy="2448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BEV · rich8</a:t>
              </a:r>
              <a:endParaRPr sz="1100"/>
            </a:p>
          </p:txBody>
        </p:sp>
        <p:sp>
          <p:nvSpPr>
            <p:cNvPr id="1367" name="Google Shape;1367;p45"/>
            <p:cNvSpPr/>
            <p:nvPr/>
          </p:nvSpPr>
          <p:spPr>
            <a:xfrm>
              <a:off x="1755204" y="1022563"/>
              <a:ext cx="1182300" cy="2448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00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8 × 800 × 704</a:t>
              </a:r>
              <a:endParaRPr sz="1100"/>
            </a:p>
          </p:txBody>
        </p:sp>
      </p:grpSp>
      <p:sp>
        <p:nvSpPr>
          <p:cNvPr id="1368" name="Google Shape;1368;p45"/>
          <p:cNvSpPr/>
          <p:nvPr/>
        </p:nvSpPr>
        <p:spPr>
          <a:xfrm>
            <a:off x="1793568" y="418262"/>
            <a:ext cx="216642" cy="63031"/>
          </a:xfrm>
          <a:custGeom>
            <a:rect b="b" l="l" r="r" t="t"/>
            <a:pathLst>
              <a:path extrusionOk="0" h="69648" w="239383">
                <a:moveTo>
                  <a:pt x="0" y="69649"/>
                </a:moveTo>
                <a:lnTo>
                  <a:pt x="94303" y="0"/>
                </a:lnTo>
                <a:lnTo>
                  <a:pt x="239384" y="0"/>
                </a:lnTo>
                <a:lnTo>
                  <a:pt x="145081" y="69649"/>
                </a:lnTo>
                <a:close/>
              </a:path>
            </a:pathLst>
          </a:custGeom>
          <a:solidFill>
            <a:srgbClr val="BCCEE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45"/>
          <p:cNvSpPr/>
          <p:nvPr/>
        </p:nvSpPr>
        <p:spPr>
          <a:xfrm>
            <a:off x="1924819" y="418262"/>
            <a:ext cx="85343" cy="421163"/>
          </a:xfrm>
          <a:custGeom>
            <a:rect b="b" l="l" r="r" t="t"/>
            <a:pathLst>
              <a:path extrusionOk="0" h="465373" w="94302">
                <a:moveTo>
                  <a:pt x="0" y="465373"/>
                </a:moveTo>
                <a:lnTo>
                  <a:pt x="94303" y="395724"/>
                </a:lnTo>
                <a:lnTo>
                  <a:pt x="94303" y="0"/>
                </a:lnTo>
                <a:lnTo>
                  <a:pt x="0" y="69649"/>
                </a:lnTo>
                <a:close/>
              </a:path>
            </a:pathLst>
          </a:custGeom>
          <a:solidFill>
            <a:srgbClr val="889BB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45"/>
          <p:cNvSpPr/>
          <p:nvPr/>
        </p:nvSpPr>
        <p:spPr>
          <a:xfrm>
            <a:off x="1793568" y="481272"/>
            <a:ext cx="131297" cy="358130"/>
          </a:xfrm>
          <a:custGeom>
            <a:rect b="b" l="l" r="r" t="t"/>
            <a:pathLst>
              <a:path extrusionOk="0" h="395724" w="145080">
                <a:moveTo>
                  <a:pt x="0" y="395724"/>
                </a:moveTo>
                <a:lnTo>
                  <a:pt x="145081" y="395724"/>
                </a:lnTo>
                <a:lnTo>
                  <a:pt x="145081" y="0"/>
                </a:lnTo>
                <a:lnTo>
                  <a:pt x="0" y="0"/>
                </a:lnTo>
                <a:close/>
              </a:path>
            </a:pathLst>
          </a:custGeom>
          <a:solidFill>
            <a:srgbClr val="A6BDD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45"/>
          <p:cNvSpPr txBox="1"/>
          <p:nvPr/>
        </p:nvSpPr>
        <p:spPr>
          <a:xfrm>
            <a:off x="220783" y="4661558"/>
            <a:ext cx="3298729" cy="3424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MobilePixorNeXt Stage 2 + SG-FPN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46"/>
          <p:cNvSpPr/>
          <p:nvPr/>
        </p:nvSpPr>
        <p:spPr>
          <a:xfrm>
            <a:off x="6506900" y="868038"/>
            <a:ext cx="39600" cy="10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46"/>
          <p:cNvSpPr/>
          <p:nvPr/>
        </p:nvSpPr>
        <p:spPr>
          <a:xfrm>
            <a:off x="6506900" y="1185988"/>
            <a:ext cx="39600" cy="10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46"/>
          <p:cNvSpPr/>
          <p:nvPr/>
        </p:nvSpPr>
        <p:spPr>
          <a:xfrm>
            <a:off x="6506900" y="1496238"/>
            <a:ext cx="39600" cy="10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46"/>
          <p:cNvSpPr/>
          <p:nvPr/>
        </p:nvSpPr>
        <p:spPr>
          <a:xfrm>
            <a:off x="6506900" y="1810363"/>
            <a:ext cx="39600" cy="10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46"/>
          <p:cNvSpPr/>
          <p:nvPr/>
        </p:nvSpPr>
        <p:spPr>
          <a:xfrm>
            <a:off x="6506900" y="2122350"/>
            <a:ext cx="39600" cy="10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46"/>
          <p:cNvSpPr/>
          <p:nvPr/>
        </p:nvSpPr>
        <p:spPr>
          <a:xfrm>
            <a:off x="6506900" y="3185975"/>
            <a:ext cx="39600" cy="10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46"/>
          <p:cNvSpPr/>
          <p:nvPr/>
        </p:nvSpPr>
        <p:spPr>
          <a:xfrm>
            <a:off x="6506900" y="3499638"/>
            <a:ext cx="39600" cy="10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46"/>
          <p:cNvSpPr/>
          <p:nvPr/>
        </p:nvSpPr>
        <p:spPr>
          <a:xfrm>
            <a:off x="6506900" y="3809888"/>
            <a:ext cx="39600" cy="10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46"/>
          <p:cNvSpPr/>
          <p:nvPr/>
        </p:nvSpPr>
        <p:spPr>
          <a:xfrm>
            <a:off x="6506900" y="4124013"/>
            <a:ext cx="39600" cy="10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46"/>
          <p:cNvSpPr/>
          <p:nvPr/>
        </p:nvSpPr>
        <p:spPr>
          <a:xfrm>
            <a:off x="6506900" y="4436000"/>
            <a:ext cx="39600" cy="10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46"/>
          <p:cNvSpPr/>
          <p:nvPr/>
        </p:nvSpPr>
        <p:spPr>
          <a:xfrm>
            <a:off x="5656025" y="1133938"/>
            <a:ext cx="39600" cy="10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46"/>
          <p:cNvSpPr/>
          <p:nvPr/>
        </p:nvSpPr>
        <p:spPr>
          <a:xfrm>
            <a:off x="4537650" y="3953025"/>
            <a:ext cx="68700" cy="14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46"/>
          <p:cNvSpPr/>
          <p:nvPr/>
        </p:nvSpPr>
        <p:spPr>
          <a:xfrm>
            <a:off x="5157281" y="3418914"/>
            <a:ext cx="68700" cy="14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46"/>
          <p:cNvSpPr/>
          <p:nvPr/>
        </p:nvSpPr>
        <p:spPr>
          <a:xfrm>
            <a:off x="0" y="0"/>
            <a:ext cx="8380982" cy="5141992"/>
          </a:xfrm>
          <a:custGeom>
            <a:rect b="b" l="l" r="r" t="t"/>
            <a:pathLst>
              <a:path extrusionOk="0" h="6855989" w="11174643">
                <a:moveTo>
                  <a:pt x="0" y="6855989"/>
                </a:moveTo>
                <a:lnTo>
                  <a:pt x="11174644" y="6855989"/>
                </a:lnTo>
                <a:lnTo>
                  <a:pt x="1117464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46"/>
          <p:cNvSpPr/>
          <p:nvPr/>
        </p:nvSpPr>
        <p:spPr>
          <a:xfrm>
            <a:off x="104762" y="395537"/>
            <a:ext cx="5645523" cy="4583585"/>
          </a:xfrm>
          <a:custGeom>
            <a:rect b="b" l="l" r="r" t="t"/>
            <a:pathLst>
              <a:path extrusionOk="0" h="6111447" w="7527364">
                <a:moveTo>
                  <a:pt x="49665" y="6111448"/>
                </a:moveTo>
                <a:lnTo>
                  <a:pt x="7477714" y="6111448"/>
                </a:lnTo>
                <a:cubicBezTo>
                  <a:pt x="7510838" y="6111448"/>
                  <a:pt x="7527365" y="6094902"/>
                  <a:pt x="7527365" y="6061812"/>
                </a:cubicBezTo>
                <a:lnTo>
                  <a:pt x="7527365" y="49636"/>
                </a:lnTo>
                <a:cubicBezTo>
                  <a:pt x="7527365" y="16545"/>
                  <a:pt x="7510838" y="0"/>
                  <a:pt x="7477714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6061812"/>
                </a:lnTo>
                <a:cubicBezTo>
                  <a:pt x="0" y="6094902"/>
                  <a:pt x="16555" y="6111448"/>
                  <a:pt x="49665" y="6111448"/>
                </a:cubicBezTo>
                <a:close/>
              </a:path>
            </a:pathLst>
          </a:custGeom>
          <a:solidFill>
            <a:srgbClr val="F6F6F3"/>
          </a:solidFill>
          <a:ln cap="flat" cmpd="sng" w="9525">
            <a:solidFill>
              <a:srgbClr val="242629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46"/>
          <p:cNvSpPr/>
          <p:nvPr/>
        </p:nvSpPr>
        <p:spPr>
          <a:xfrm>
            <a:off x="5878328" y="395537"/>
            <a:ext cx="2409532" cy="2268526"/>
          </a:xfrm>
          <a:custGeom>
            <a:rect b="b" l="l" r="r" t="t"/>
            <a:pathLst>
              <a:path extrusionOk="0" h="3024701" w="3212710">
                <a:moveTo>
                  <a:pt x="49650" y="3024701"/>
                </a:moveTo>
                <a:lnTo>
                  <a:pt x="3163059" y="3024701"/>
                </a:lnTo>
                <a:cubicBezTo>
                  <a:pt x="3196184" y="3024701"/>
                  <a:pt x="3212710" y="3008156"/>
                  <a:pt x="3212710" y="2975065"/>
                </a:cubicBezTo>
                <a:lnTo>
                  <a:pt x="3212710" y="49636"/>
                </a:lnTo>
                <a:cubicBezTo>
                  <a:pt x="3212710" y="16545"/>
                  <a:pt x="3196184" y="0"/>
                  <a:pt x="3163059" y="0"/>
                </a:cubicBezTo>
                <a:lnTo>
                  <a:pt x="49650" y="0"/>
                </a:lnTo>
                <a:cubicBezTo>
                  <a:pt x="16526" y="0"/>
                  <a:pt x="0" y="16545"/>
                  <a:pt x="0" y="49636"/>
                </a:cubicBezTo>
                <a:lnTo>
                  <a:pt x="0" y="2975065"/>
                </a:lnTo>
                <a:cubicBezTo>
                  <a:pt x="0" y="3008156"/>
                  <a:pt x="16526" y="3024701"/>
                  <a:pt x="49650" y="3024701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242629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46"/>
          <p:cNvSpPr/>
          <p:nvPr/>
        </p:nvSpPr>
        <p:spPr>
          <a:xfrm>
            <a:off x="5878328" y="2792032"/>
            <a:ext cx="2409532" cy="2187091"/>
          </a:xfrm>
          <a:custGeom>
            <a:rect b="b" l="l" r="r" t="t"/>
            <a:pathLst>
              <a:path extrusionOk="0" h="2916121" w="3212710">
                <a:moveTo>
                  <a:pt x="49650" y="2916122"/>
                </a:moveTo>
                <a:lnTo>
                  <a:pt x="3163059" y="2916122"/>
                </a:lnTo>
                <a:cubicBezTo>
                  <a:pt x="3196184" y="2916122"/>
                  <a:pt x="3212710" y="2899577"/>
                  <a:pt x="3212710" y="2866486"/>
                </a:cubicBezTo>
                <a:lnTo>
                  <a:pt x="3212710" y="49636"/>
                </a:lnTo>
                <a:cubicBezTo>
                  <a:pt x="3212710" y="16545"/>
                  <a:pt x="3196184" y="0"/>
                  <a:pt x="3163059" y="0"/>
                </a:cubicBezTo>
                <a:lnTo>
                  <a:pt x="49650" y="0"/>
                </a:lnTo>
                <a:cubicBezTo>
                  <a:pt x="16526" y="0"/>
                  <a:pt x="0" y="16545"/>
                  <a:pt x="0" y="49636"/>
                </a:cubicBezTo>
                <a:lnTo>
                  <a:pt x="0" y="2866486"/>
                </a:lnTo>
                <a:cubicBezTo>
                  <a:pt x="0" y="2899577"/>
                  <a:pt x="16526" y="2916122"/>
                  <a:pt x="49650" y="2916122"/>
                </a:cubicBezTo>
                <a:close/>
              </a:path>
            </a:pathLst>
          </a:custGeom>
          <a:solidFill>
            <a:srgbClr val="FFE49B"/>
          </a:solidFill>
          <a:ln cap="flat" cmpd="sng" w="9525">
            <a:solidFill>
              <a:srgbClr val="242629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46"/>
          <p:cNvSpPr/>
          <p:nvPr/>
        </p:nvSpPr>
        <p:spPr>
          <a:xfrm>
            <a:off x="232804" y="3559841"/>
            <a:ext cx="2886783" cy="1314581"/>
          </a:xfrm>
          <a:custGeom>
            <a:rect b="b" l="l" r="r" t="t"/>
            <a:pathLst>
              <a:path extrusionOk="0" h="1752775" w="3849044">
                <a:moveTo>
                  <a:pt x="49665" y="1752775"/>
                </a:moveTo>
                <a:lnTo>
                  <a:pt x="3799379" y="1752775"/>
                </a:lnTo>
                <a:cubicBezTo>
                  <a:pt x="3832489" y="1752775"/>
                  <a:pt x="3849044" y="1736230"/>
                  <a:pt x="3849044" y="1703139"/>
                </a:cubicBezTo>
                <a:lnTo>
                  <a:pt x="3849044" y="49636"/>
                </a:lnTo>
                <a:cubicBezTo>
                  <a:pt x="3849044" y="16545"/>
                  <a:pt x="3832489" y="0"/>
                  <a:pt x="3799379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703139"/>
                </a:lnTo>
                <a:cubicBezTo>
                  <a:pt x="0" y="1736230"/>
                  <a:pt x="16555" y="1752775"/>
                  <a:pt x="49665" y="1752775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46"/>
          <p:cNvSpPr/>
          <p:nvPr/>
        </p:nvSpPr>
        <p:spPr>
          <a:xfrm>
            <a:off x="232805" y="1966055"/>
            <a:ext cx="1489952" cy="1489083"/>
          </a:xfrm>
          <a:custGeom>
            <a:rect b="b" l="l" r="r" t="t"/>
            <a:pathLst>
              <a:path extrusionOk="0" h="1985444" w="1986603">
                <a:moveTo>
                  <a:pt x="49665" y="1985445"/>
                </a:moveTo>
                <a:lnTo>
                  <a:pt x="1936938" y="1985445"/>
                </a:lnTo>
                <a:cubicBezTo>
                  <a:pt x="1970048" y="1985445"/>
                  <a:pt x="1986603" y="1968900"/>
                  <a:pt x="1986603" y="1935809"/>
                </a:cubicBezTo>
                <a:lnTo>
                  <a:pt x="1986603" y="49636"/>
                </a:lnTo>
                <a:cubicBezTo>
                  <a:pt x="1986603" y="16545"/>
                  <a:pt x="1970048" y="0"/>
                  <a:pt x="1936938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935809"/>
                </a:lnTo>
                <a:cubicBezTo>
                  <a:pt x="0" y="1968900"/>
                  <a:pt x="16555" y="1985445"/>
                  <a:pt x="49665" y="1985445"/>
                </a:cubicBezTo>
                <a:close/>
              </a:path>
            </a:pathLst>
          </a:custGeom>
          <a:solidFill>
            <a:srgbClr val="D5C5E8"/>
          </a:solidFill>
          <a:ln cap="flat" cmpd="sng" w="9525">
            <a:solidFill>
              <a:srgbClr val="242629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5" name="Google Shape;1395;p46"/>
          <p:cNvGrpSpPr/>
          <p:nvPr/>
        </p:nvGrpSpPr>
        <p:grpSpPr>
          <a:xfrm>
            <a:off x="500531" y="1175842"/>
            <a:ext cx="144393" cy="21543"/>
            <a:chOff x="667374" y="1567789"/>
            <a:chExt cx="192524" cy="28724"/>
          </a:xfrm>
        </p:grpSpPr>
        <p:sp>
          <p:nvSpPr>
            <p:cNvPr id="1396" name="Google Shape;1396;p46"/>
            <p:cNvSpPr/>
            <p:nvPr/>
          </p:nvSpPr>
          <p:spPr>
            <a:xfrm>
              <a:off x="667374" y="1582151"/>
              <a:ext cx="192524" cy="7181"/>
            </a:xfrm>
            <a:custGeom>
              <a:rect b="b" l="l" r="r" t="t"/>
              <a:pathLst>
                <a:path extrusionOk="0" h="7181" w="192524">
                  <a:moveTo>
                    <a:pt x="0" y="0"/>
                  </a:moveTo>
                  <a:cubicBezTo>
                    <a:pt x="67255" y="0"/>
                    <a:pt x="131427" y="0"/>
                    <a:pt x="192524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46"/>
            <p:cNvSpPr/>
            <p:nvPr/>
          </p:nvSpPr>
          <p:spPr>
            <a:xfrm>
              <a:off x="831157" y="1567789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8" name="Google Shape;1398;p46"/>
          <p:cNvGrpSpPr/>
          <p:nvPr/>
        </p:nvGrpSpPr>
        <p:grpSpPr>
          <a:xfrm>
            <a:off x="861379" y="1175842"/>
            <a:ext cx="39631" cy="21543"/>
            <a:chOff x="1148505" y="1567789"/>
            <a:chExt cx="52841" cy="28724"/>
          </a:xfrm>
        </p:grpSpPr>
        <p:sp>
          <p:nvSpPr>
            <p:cNvPr id="1399" name="Google Shape;1399;p46"/>
            <p:cNvSpPr/>
            <p:nvPr/>
          </p:nvSpPr>
          <p:spPr>
            <a:xfrm>
              <a:off x="1148505" y="1582151"/>
              <a:ext cx="52841" cy="7181"/>
            </a:xfrm>
            <a:custGeom>
              <a:rect b="b" l="l" r="r" t="t"/>
              <a:pathLst>
                <a:path extrusionOk="0" h="7181" w="52841">
                  <a:moveTo>
                    <a:pt x="0" y="0"/>
                  </a:moveTo>
                  <a:cubicBezTo>
                    <a:pt x="20694" y="0"/>
                    <a:pt x="38305" y="0"/>
                    <a:pt x="5284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46"/>
            <p:cNvSpPr/>
            <p:nvPr/>
          </p:nvSpPr>
          <p:spPr>
            <a:xfrm>
              <a:off x="1172604" y="1567789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1" name="Google Shape;1401;p46"/>
          <p:cNvGrpSpPr/>
          <p:nvPr/>
        </p:nvGrpSpPr>
        <p:grpSpPr>
          <a:xfrm>
            <a:off x="1117464" y="1175842"/>
            <a:ext cx="150213" cy="21543"/>
            <a:chOff x="1489952" y="1567789"/>
            <a:chExt cx="200284" cy="28724"/>
          </a:xfrm>
        </p:grpSpPr>
        <p:sp>
          <p:nvSpPr>
            <p:cNvPr id="1402" name="Google Shape;1402;p46"/>
            <p:cNvSpPr/>
            <p:nvPr/>
          </p:nvSpPr>
          <p:spPr>
            <a:xfrm>
              <a:off x="1489952" y="1582151"/>
              <a:ext cx="200284" cy="7181"/>
            </a:xfrm>
            <a:custGeom>
              <a:rect b="b" l="l" r="r" t="t"/>
              <a:pathLst>
                <a:path extrusionOk="0" h="7181" w="200284">
                  <a:moveTo>
                    <a:pt x="0" y="0"/>
                  </a:moveTo>
                  <a:cubicBezTo>
                    <a:pt x="69842" y="0"/>
                    <a:pt x="136601" y="0"/>
                    <a:pt x="200284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46"/>
            <p:cNvSpPr/>
            <p:nvPr/>
          </p:nvSpPr>
          <p:spPr>
            <a:xfrm>
              <a:off x="1661495" y="1567789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4" name="Google Shape;1404;p46"/>
          <p:cNvGrpSpPr/>
          <p:nvPr/>
        </p:nvGrpSpPr>
        <p:grpSpPr>
          <a:xfrm>
            <a:off x="1519053" y="1175842"/>
            <a:ext cx="27990" cy="21543"/>
            <a:chOff x="2025404" y="1567789"/>
            <a:chExt cx="37320" cy="28724"/>
          </a:xfrm>
        </p:grpSpPr>
        <p:sp>
          <p:nvSpPr>
            <p:cNvPr id="1405" name="Google Shape;1405;p46"/>
            <p:cNvSpPr/>
            <p:nvPr/>
          </p:nvSpPr>
          <p:spPr>
            <a:xfrm>
              <a:off x="2025404" y="1582151"/>
              <a:ext cx="37320" cy="7181"/>
            </a:xfrm>
            <a:custGeom>
              <a:rect b="b" l="l" r="r" t="t"/>
              <a:pathLst>
                <a:path extrusionOk="0" h="7181" w="37320">
                  <a:moveTo>
                    <a:pt x="0" y="0"/>
                  </a:moveTo>
                  <a:cubicBezTo>
                    <a:pt x="15520" y="0"/>
                    <a:pt x="27958" y="0"/>
                    <a:pt x="3732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46"/>
            <p:cNvSpPr/>
            <p:nvPr/>
          </p:nvSpPr>
          <p:spPr>
            <a:xfrm>
              <a:off x="2033983" y="1567789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7" name="Google Shape;1407;p46"/>
          <p:cNvGrpSpPr/>
          <p:nvPr/>
        </p:nvGrpSpPr>
        <p:grpSpPr>
          <a:xfrm>
            <a:off x="1798419" y="1175842"/>
            <a:ext cx="27990" cy="21543"/>
            <a:chOff x="2397892" y="1567789"/>
            <a:chExt cx="37320" cy="28724"/>
          </a:xfrm>
        </p:grpSpPr>
        <p:sp>
          <p:nvSpPr>
            <p:cNvPr id="1408" name="Google Shape;1408;p46"/>
            <p:cNvSpPr/>
            <p:nvPr/>
          </p:nvSpPr>
          <p:spPr>
            <a:xfrm>
              <a:off x="2397892" y="1582151"/>
              <a:ext cx="37320" cy="7181"/>
            </a:xfrm>
            <a:custGeom>
              <a:rect b="b" l="l" r="r" t="t"/>
              <a:pathLst>
                <a:path extrusionOk="0" h="7181" w="37320">
                  <a:moveTo>
                    <a:pt x="0" y="0"/>
                  </a:moveTo>
                  <a:cubicBezTo>
                    <a:pt x="15520" y="0"/>
                    <a:pt x="27958" y="0"/>
                    <a:pt x="3732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46"/>
            <p:cNvSpPr/>
            <p:nvPr/>
          </p:nvSpPr>
          <p:spPr>
            <a:xfrm>
              <a:off x="2406471" y="1567789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0" name="Google Shape;1410;p46"/>
          <p:cNvGrpSpPr/>
          <p:nvPr/>
        </p:nvGrpSpPr>
        <p:grpSpPr>
          <a:xfrm>
            <a:off x="2077785" y="1175842"/>
            <a:ext cx="27990" cy="21543"/>
            <a:chOff x="2770380" y="1567789"/>
            <a:chExt cx="37320" cy="28724"/>
          </a:xfrm>
        </p:grpSpPr>
        <p:sp>
          <p:nvSpPr>
            <p:cNvPr id="1411" name="Google Shape;1411;p46"/>
            <p:cNvSpPr/>
            <p:nvPr/>
          </p:nvSpPr>
          <p:spPr>
            <a:xfrm>
              <a:off x="2770380" y="1582151"/>
              <a:ext cx="37320" cy="7181"/>
            </a:xfrm>
            <a:custGeom>
              <a:rect b="b" l="l" r="r" t="t"/>
              <a:pathLst>
                <a:path extrusionOk="0" h="7181" w="37320">
                  <a:moveTo>
                    <a:pt x="0" y="0"/>
                  </a:moveTo>
                  <a:cubicBezTo>
                    <a:pt x="15520" y="0"/>
                    <a:pt x="27958" y="0"/>
                    <a:pt x="3732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46"/>
            <p:cNvSpPr/>
            <p:nvPr/>
          </p:nvSpPr>
          <p:spPr>
            <a:xfrm>
              <a:off x="2778959" y="1567789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3" name="Google Shape;1413;p46"/>
          <p:cNvGrpSpPr/>
          <p:nvPr/>
        </p:nvGrpSpPr>
        <p:grpSpPr>
          <a:xfrm>
            <a:off x="2357151" y="1175842"/>
            <a:ext cx="57091" cy="21543"/>
            <a:chOff x="3142868" y="1567789"/>
            <a:chExt cx="76121" cy="28724"/>
          </a:xfrm>
        </p:grpSpPr>
        <p:sp>
          <p:nvSpPr>
            <p:cNvPr id="1414" name="Google Shape;1414;p46"/>
            <p:cNvSpPr/>
            <p:nvPr/>
          </p:nvSpPr>
          <p:spPr>
            <a:xfrm>
              <a:off x="3142868" y="1582151"/>
              <a:ext cx="76121" cy="7181"/>
            </a:xfrm>
            <a:custGeom>
              <a:rect b="b" l="l" r="r" t="t"/>
              <a:pathLst>
                <a:path extrusionOk="0" h="7181" w="76121">
                  <a:moveTo>
                    <a:pt x="0" y="0"/>
                  </a:moveTo>
                  <a:cubicBezTo>
                    <a:pt x="28454" y="0"/>
                    <a:pt x="53825" y="0"/>
                    <a:pt x="7612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46"/>
            <p:cNvSpPr/>
            <p:nvPr/>
          </p:nvSpPr>
          <p:spPr>
            <a:xfrm>
              <a:off x="3190248" y="1567789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6" name="Google Shape;1416;p46"/>
          <p:cNvSpPr/>
          <p:nvPr/>
        </p:nvSpPr>
        <p:spPr>
          <a:xfrm>
            <a:off x="1920641" y="1186613"/>
            <a:ext cx="838098" cy="849242"/>
          </a:xfrm>
          <a:custGeom>
            <a:rect b="b" l="l" r="r" t="t"/>
            <a:pathLst>
              <a:path extrusionOk="0" h="1132323" w="1117464">
                <a:moveTo>
                  <a:pt x="1117465" y="0"/>
                </a:moveTo>
                <a:lnTo>
                  <a:pt x="1117465" y="1132324"/>
                </a:lnTo>
                <a:lnTo>
                  <a:pt x="0" y="1132324"/>
                </a:lnTo>
              </a:path>
            </a:pathLst>
          </a:custGeom>
          <a:noFill/>
          <a:ln cap="sq" cmpd="sng" w="9525">
            <a:solidFill>
              <a:srgbClr val="242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7" name="Google Shape;1417;p46"/>
          <p:cNvGrpSpPr/>
          <p:nvPr/>
        </p:nvGrpSpPr>
        <p:grpSpPr>
          <a:xfrm>
            <a:off x="1909864" y="2035856"/>
            <a:ext cx="21556" cy="144308"/>
            <a:chOff x="2546485" y="2714475"/>
            <a:chExt cx="28741" cy="192411"/>
          </a:xfrm>
        </p:grpSpPr>
        <p:sp>
          <p:nvSpPr>
            <p:cNvPr id="1418" name="Google Shape;1418;p46"/>
            <p:cNvSpPr/>
            <p:nvPr/>
          </p:nvSpPr>
          <p:spPr>
            <a:xfrm>
              <a:off x="2560855" y="2714475"/>
              <a:ext cx="7185" cy="192411"/>
            </a:xfrm>
            <a:custGeom>
              <a:rect b="b" l="l" r="r" t="t"/>
              <a:pathLst>
                <a:path extrusionOk="0" h="192411" w="7185">
                  <a:moveTo>
                    <a:pt x="0" y="0"/>
                  </a:moveTo>
                  <a:cubicBezTo>
                    <a:pt x="0" y="67215"/>
                    <a:pt x="0" y="131350"/>
                    <a:pt x="0" y="192412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46"/>
            <p:cNvSpPr/>
            <p:nvPr/>
          </p:nvSpPr>
          <p:spPr>
            <a:xfrm>
              <a:off x="2546485" y="2878162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28741" y="0"/>
                  </a:moveTo>
                  <a:lnTo>
                    <a:pt x="14371" y="28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0" name="Google Shape;1420;p46"/>
          <p:cNvGrpSpPr/>
          <p:nvPr/>
        </p:nvGrpSpPr>
        <p:grpSpPr>
          <a:xfrm>
            <a:off x="2048684" y="2641658"/>
            <a:ext cx="22170" cy="21543"/>
            <a:chOff x="2731579" y="3522211"/>
            <a:chExt cx="29560" cy="28724"/>
          </a:xfrm>
        </p:grpSpPr>
        <p:sp>
          <p:nvSpPr>
            <p:cNvPr id="1421" name="Google Shape;1421;p46"/>
            <p:cNvSpPr/>
            <p:nvPr/>
          </p:nvSpPr>
          <p:spPr>
            <a:xfrm>
              <a:off x="2731579" y="3536573"/>
              <a:ext cx="29560" cy="7181"/>
            </a:xfrm>
            <a:custGeom>
              <a:rect b="b" l="l" r="r" t="t"/>
              <a:pathLst>
                <a:path extrusionOk="0" h="7181" w="29560">
                  <a:moveTo>
                    <a:pt x="0" y="0"/>
                  </a:moveTo>
                  <a:cubicBezTo>
                    <a:pt x="12934" y="0"/>
                    <a:pt x="22785" y="0"/>
                    <a:pt x="2956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46"/>
            <p:cNvSpPr/>
            <p:nvPr/>
          </p:nvSpPr>
          <p:spPr>
            <a:xfrm>
              <a:off x="2732398" y="352221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3" name="Google Shape;1423;p46"/>
          <p:cNvGrpSpPr/>
          <p:nvPr/>
        </p:nvGrpSpPr>
        <p:grpSpPr>
          <a:xfrm>
            <a:off x="2322230" y="2641658"/>
            <a:ext cx="27991" cy="21543"/>
            <a:chOff x="3096307" y="3522211"/>
            <a:chExt cx="37321" cy="28724"/>
          </a:xfrm>
        </p:grpSpPr>
        <p:sp>
          <p:nvSpPr>
            <p:cNvPr id="1424" name="Google Shape;1424;p46"/>
            <p:cNvSpPr/>
            <p:nvPr/>
          </p:nvSpPr>
          <p:spPr>
            <a:xfrm>
              <a:off x="3096307" y="3536573"/>
              <a:ext cx="37320" cy="7181"/>
            </a:xfrm>
            <a:custGeom>
              <a:rect b="b" l="l" r="r" t="t"/>
              <a:pathLst>
                <a:path extrusionOk="0" h="7181" w="37320">
                  <a:moveTo>
                    <a:pt x="0" y="0"/>
                  </a:moveTo>
                  <a:cubicBezTo>
                    <a:pt x="15520" y="0"/>
                    <a:pt x="27958" y="0"/>
                    <a:pt x="3732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46"/>
            <p:cNvSpPr/>
            <p:nvPr/>
          </p:nvSpPr>
          <p:spPr>
            <a:xfrm>
              <a:off x="3104887" y="352221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6" name="Google Shape;1426;p46"/>
          <p:cNvGrpSpPr/>
          <p:nvPr/>
        </p:nvGrpSpPr>
        <p:grpSpPr>
          <a:xfrm>
            <a:off x="2601596" y="2641658"/>
            <a:ext cx="27991" cy="21543"/>
            <a:chOff x="3468795" y="3522211"/>
            <a:chExt cx="37321" cy="28724"/>
          </a:xfrm>
        </p:grpSpPr>
        <p:sp>
          <p:nvSpPr>
            <p:cNvPr id="1427" name="Google Shape;1427;p46"/>
            <p:cNvSpPr/>
            <p:nvPr/>
          </p:nvSpPr>
          <p:spPr>
            <a:xfrm>
              <a:off x="3468795" y="3536573"/>
              <a:ext cx="37320" cy="7181"/>
            </a:xfrm>
            <a:custGeom>
              <a:rect b="b" l="l" r="r" t="t"/>
              <a:pathLst>
                <a:path extrusionOk="0" h="7181" w="37320">
                  <a:moveTo>
                    <a:pt x="0" y="0"/>
                  </a:moveTo>
                  <a:cubicBezTo>
                    <a:pt x="15520" y="0"/>
                    <a:pt x="27958" y="0"/>
                    <a:pt x="3732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46"/>
            <p:cNvSpPr/>
            <p:nvPr/>
          </p:nvSpPr>
          <p:spPr>
            <a:xfrm>
              <a:off x="3477375" y="352221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9" name="Google Shape;1429;p46"/>
          <p:cNvGrpSpPr/>
          <p:nvPr/>
        </p:nvGrpSpPr>
        <p:grpSpPr>
          <a:xfrm>
            <a:off x="2880962" y="2641658"/>
            <a:ext cx="27991" cy="21543"/>
            <a:chOff x="3841283" y="3522211"/>
            <a:chExt cx="37321" cy="28724"/>
          </a:xfrm>
        </p:grpSpPr>
        <p:sp>
          <p:nvSpPr>
            <p:cNvPr id="1430" name="Google Shape;1430;p46"/>
            <p:cNvSpPr/>
            <p:nvPr/>
          </p:nvSpPr>
          <p:spPr>
            <a:xfrm>
              <a:off x="3841283" y="3536573"/>
              <a:ext cx="37320" cy="7181"/>
            </a:xfrm>
            <a:custGeom>
              <a:rect b="b" l="l" r="r" t="t"/>
              <a:pathLst>
                <a:path extrusionOk="0" h="7181" w="37320">
                  <a:moveTo>
                    <a:pt x="0" y="0"/>
                  </a:moveTo>
                  <a:cubicBezTo>
                    <a:pt x="15521" y="0"/>
                    <a:pt x="27959" y="0"/>
                    <a:pt x="3732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46"/>
            <p:cNvSpPr/>
            <p:nvPr/>
          </p:nvSpPr>
          <p:spPr>
            <a:xfrm>
              <a:off x="3849863" y="352221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2" name="Google Shape;1432;p46"/>
          <p:cNvGrpSpPr/>
          <p:nvPr/>
        </p:nvGrpSpPr>
        <p:grpSpPr>
          <a:xfrm>
            <a:off x="3160329" y="2641658"/>
            <a:ext cx="57091" cy="21543"/>
            <a:chOff x="4213772" y="3522211"/>
            <a:chExt cx="76121" cy="28724"/>
          </a:xfrm>
        </p:grpSpPr>
        <p:sp>
          <p:nvSpPr>
            <p:cNvPr id="1433" name="Google Shape;1433;p46"/>
            <p:cNvSpPr/>
            <p:nvPr/>
          </p:nvSpPr>
          <p:spPr>
            <a:xfrm>
              <a:off x="4213772" y="3536573"/>
              <a:ext cx="76121" cy="7181"/>
            </a:xfrm>
            <a:custGeom>
              <a:rect b="b" l="l" r="r" t="t"/>
              <a:pathLst>
                <a:path extrusionOk="0" h="7181" w="76121">
                  <a:moveTo>
                    <a:pt x="0" y="0"/>
                  </a:moveTo>
                  <a:cubicBezTo>
                    <a:pt x="28454" y="0"/>
                    <a:pt x="53826" y="0"/>
                    <a:pt x="7612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46"/>
            <p:cNvSpPr/>
            <p:nvPr/>
          </p:nvSpPr>
          <p:spPr>
            <a:xfrm>
              <a:off x="4261152" y="352221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5" name="Google Shape;1435;p46"/>
          <p:cNvSpPr/>
          <p:nvPr/>
        </p:nvSpPr>
        <p:spPr>
          <a:xfrm>
            <a:off x="3375674" y="2652430"/>
            <a:ext cx="267725" cy="744542"/>
          </a:xfrm>
          <a:custGeom>
            <a:rect b="b" l="l" r="r" t="t"/>
            <a:pathLst>
              <a:path extrusionOk="0" h="992722" w="356967">
                <a:moveTo>
                  <a:pt x="356968" y="0"/>
                </a:moveTo>
                <a:lnTo>
                  <a:pt x="356968" y="992722"/>
                </a:lnTo>
                <a:lnTo>
                  <a:pt x="0" y="992722"/>
                </a:lnTo>
              </a:path>
            </a:pathLst>
          </a:custGeom>
          <a:noFill/>
          <a:ln cap="sq" cmpd="sng" w="9525">
            <a:solidFill>
              <a:srgbClr val="242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6" name="Google Shape;1436;p46"/>
          <p:cNvGrpSpPr/>
          <p:nvPr/>
        </p:nvGrpSpPr>
        <p:grpSpPr>
          <a:xfrm>
            <a:off x="3364895" y="3396971"/>
            <a:ext cx="21556" cy="155942"/>
            <a:chOff x="4486527" y="4529295"/>
            <a:chExt cx="28741" cy="207923"/>
          </a:xfrm>
        </p:grpSpPr>
        <p:sp>
          <p:nvSpPr>
            <p:cNvPr id="1437" name="Google Shape;1437;p46"/>
            <p:cNvSpPr/>
            <p:nvPr/>
          </p:nvSpPr>
          <p:spPr>
            <a:xfrm>
              <a:off x="4500898" y="4529295"/>
              <a:ext cx="7185" cy="207923"/>
            </a:xfrm>
            <a:custGeom>
              <a:rect b="b" l="l" r="r" t="t"/>
              <a:pathLst>
                <a:path extrusionOk="0" h="207923" w="7185">
                  <a:moveTo>
                    <a:pt x="0" y="0"/>
                  </a:moveTo>
                  <a:cubicBezTo>
                    <a:pt x="0" y="72386"/>
                    <a:pt x="0" y="141691"/>
                    <a:pt x="0" y="207923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46"/>
            <p:cNvSpPr/>
            <p:nvPr/>
          </p:nvSpPr>
          <p:spPr>
            <a:xfrm>
              <a:off x="4486527" y="4708494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28741" y="0"/>
                  </a:moveTo>
                  <a:lnTo>
                    <a:pt x="14371" y="28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9" name="Google Shape;1439;p46"/>
          <p:cNvGrpSpPr/>
          <p:nvPr/>
        </p:nvGrpSpPr>
        <p:grpSpPr>
          <a:xfrm>
            <a:off x="3503716" y="4014407"/>
            <a:ext cx="33811" cy="21543"/>
            <a:chOff x="4671621" y="5352543"/>
            <a:chExt cx="45081" cy="28724"/>
          </a:xfrm>
        </p:grpSpPr>
        <p:sp>
          <p:nvSpPr>
            <p:cNvPr id="1440" name="Google Shape;1440;p46"/>
            <p:cNvSpPr/>
            <p:nvPr/>
          </p:nvSpPr>
          <p:spPr>
            <a:xfrm>
              <a:off x="4671621" y="5366905"/>
              <a:ext cx="45081" cy="7181"/>
            </a:xfrm>
            <a:custGeom>
              <a:rect b="b" l="l" r="r" t="t"/>
              <a:pathLst>
                <a:path extrusionOk="0" h="7181" w="45081">
                  <a:moveTo>
                    <a:pt x="0" y="0"/>
                  </a:moveTo>
                  <a:cubicBezTo>
                    <a:pt x="18107" y="0"/>
                    <a:pt x="33132" y="0"/>
                    <a:pt x="4508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46"/>
            <p:cNvSpPr/>
            <p:nvPr/>
          </p:nvSpPr>
          <p:spPr>
            <a:xfrm>
              <a:off x="4687961" y="5352543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2" name="Google Shape;1442;p46"/>
          <p:cNvGrpSpPr/>
          <p:nvPr/>
        </p:nvGrpSpPr>
        <p:grpSpPr>
          <a:xfrm>
            <a:off x="3788902" y="4014407"/>
            <a:ext cx="39631" cy="21543"/>
            <a:chOff x="5051870" y="5352543"/>
            <a:chExt cx="52841" cy="28724"/>
          </a:xfrm>
        </p:grpSpPr>
        <p:sp>
          <p:nvSpPr>
            <p:cNvPr id="1443" name="Google Shape;1443;p46"/>
            <p:cNvSpPr/>
            <p:nvPr/>
          </p:nvSpPr>
          <p:spPr>
            <a:xfrm>
              <a:off x="5051870" y="5366905"/>
              <a:ext cx="52841" cy="7181"/>
            </a:xfrm>
            <a:custGeom>
              <a:rect b="b" l="l" r="r" t="t"/>
              <a:pathLst>
                <a:path extrusionOk="0" h="7181" w="52841">
                  <a:moveTo>
                    <a:pt x="0" y="0"/>
                  </a:moveTo>
                  <a:cubicBezTo>
                    <a:pt x="20694" y="0"/>
                    <a:pt x="38305" y="0"/>
                    <a:pt x="5284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46"/>
            <p:cNvSpPr/>
            <p:nvPr/>
          </p:nvSpPr>
          <p:spPr>
            <a:xfrm>
              <a:off x="5075970" y="5352543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5" name="Google Shape;1445;p46"/>
          <p:cNvGrpSpPr/>
          <p:nvPr/>
        </p:nvGrpSpPr>
        <p:grpSpPr>
          <a:xfrm>
            <a:off x="2723819" y="1175842"/>
            <a:ext cx="1634345" cy="21543"/>
            <a:chOff x="3631759" y="1567789"/>
            <a:chExt cx="2179127" cy="28724"/>
          </a:xfrm>
        </p:grpSpPr>
        <p:sp>
          <p:nvSpPr>
            <p:cNvPr id="1446" name="Google Shape;1446;p46"/>
            <p:cNvSpPr/>
            <p:nvPr/>
          </p:nvSpPr>
          <p:spPr>
            <a:xfrm>
              <a:off x="3631759" y="1582151"/>
              <a:ext cx="2179127" cy="7181"/>
            </a:xfrm>
            <a:custGeom>
              <a:rect b="b" l="l" r="r" t="t"/>
              <a:pathLst>
                <a:path extrusionOk="0" h="7181" w="2179127">
                  <a:moveTo>
                    <a:pt x="0" y="0"/>
                  </a:moveTo>
                  <a:cubicBezTo>
                    <a:pt x="729456" y="0"/>
                    <a:pt x="1455830" y="0"/>
                    <a:pt x="2179127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46"/>
            <p:cNvSpPr/>
            <p:nvPr/>
          </p:nvSpPr>
          <p:spPr>
            <a:xfrm>
              <a:off x="5782145" y="1567789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8" name="Google Shape;1448;p46"/>
          <p:cNvGrpSpPr/>
          <p:nvPr/>
        </p:nvGrpSpPr>
        <p:grpSpPr>
          <a:xfrm>
            <a:off x="4597900" y="1175842"/>
            <a:ext cx="516881" cy="21543"/>
            <a:chOff x="6130533" y="1567789"/>
            <a:chExt cx="689175" cy="28724"/>
          </a:xfrm>
        </p:grpSpPr>
        <p:sp>
          <p:nvSpPr>
            <p:cNvPr id="1449" name="Google Shape;1449;p46"/>
            <p:cNvSpPr/>
            <p:nvPr/>
          </p:nvSpPr>
          <p:spPr>
            <a:xfrm>
              <a:off x="6130533" y="1582151"/>
              <a:ext cx="689174" cy="7181"/>
            </a:xfrm>
            <a:custGeom>
              <a:rect b="b" l="l" r="r" t="t"/>
              <a:pathLst>
                <a:path extrusionOk="0" h="7181" w="689174">
                  <a:moveTo>
                    <a:pt x="0" y="0"/>
                  </a:moveTo>
                  <a:cubicBezTo>
                    <a:pt x="232805" y="0"/>
                    <a:pt x="462527" y="0"/>
                    <a:pt x="689175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46"/>
            <p:cNvSpPr/>
            <p:nvPr/>
          </p:nvSpPr>
          <p:spPr>
            <a:xfrm>
              <a:off x="6790967" y="1567789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1" name="Google Shape;1451;p46"/>
          <p:cNvGrpSpPr/>
          <p:nvPr/>
        </p:nvGrpSpPr>
        <p:grpSpPr>
          <a:xfrm>
            <a:off x="3526997" y="2641658"/>
            <a:ext cx="831168" cy="21543"/>
            <a:chOff x="4702662" y="3522211"/>
            <a:chExt cx="1108224" cy="28724"/>
          </a:xfrm>
        </p:grpSpPr>
        <p:sp>
          <p:nvSpPr>
            <p:cNvPr id="1452" name="Google Shape;1452;p46"/>
            <p:cNvSpPr/>
            <p:nvPr/>
          </p:nvSpPr>
          <p:spPr>
            <a:xfrm>
              <a:off x="4702662" y="3536573"/>
              <a:ext cx="1108224" cy="7181"/>
            </a:xfrm>
            <a:custGeom>
              <a:rect b="b" l="l" r="r" t="t"/>
              <a:pathLst>
                <a:path extrusionOk="0" h="7181" w="1108224">
                  <a:moveTo>
                    <a:pt x="0" y="0"/>
                  </a:moveTo>
                  <a:cubicBezTo>
                    <a:pt x="372488" y="0"/>
                    <a:pt x="741894" y="0"/>
                    <a:pt x="1108224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46"/>
            <p:cNvSpPr/>
            <p:nvPr/>
          </p:nvSpPr>
          <p:spPr>
            <a:xfrm>
              <a:off x="5782145" y="352221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4" name="Google Shape;1454;p46"/>
          <p:cNvGrpSpPr/>
          <p:nvPr/>
        </p:nvGrpSpPr>
        <p:grpSpPr>
          <a:xfrm>
            <a:off x="4597900" y="2641658"/>
            <a:ext cx="516881" cy="21543"/>
            <a:chOff x="6130533" y="3522211"/>
            <a:chExt cx="689175" cy="28724"/>
          </a:xfrm>
        </p:grpSpPr>
        <p:sp>
          <p:nvSpPr>
            <p:cNvPr id="1455" name="Google Shape;1455;p46"/>
            <p:cNvSpPr/>
            <p:nvPr/>
          </p:nvSpPr>
          <p:spPr>
            <a:xfrm>
              <a:off x="6130533" y="3536573"/>
              <a:ext cx="689174" cy="7181"/>
            </a:xfrm>
            <a:custGeom>
              <a:rect b="b" l="l" r="r" t="t"/>
              <a:pathLst>
                <a:path extrusionOk="0" h="7181" w="689174">
                  <a:moveTo>
                    <a:pt x="0" y="0"/>
                  </a:moveTo>
                  <a:cubicBezTo>
                    <a:pt x="232805" y="0"/>
                    <a:pt x="462527" y="0"/>
                    <a:pt x="689175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46"/>
            <p:cNvSpPr/>
            <p:nvPr/>
          </p:nvSpPr>
          <p:spPr>
            <a:xfrm>
              <a:off x="6790967" y="352221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7" name="Google Shape;1457;p46"/>
          <p:cNvGrpSpPr/>
          <p:nvPr/>
        </p:nvGrpSpPr>
        <p:grpSpPr>
          <a:xfrm>
            <a:off x="4079908" y="4014407"/>
            <a:ext cx="278256" cy="21543"/>
            <a:chOff x="5439878" y="5352543"/>
            <a:chExt cx="371008" cy="28724"/>
          </a:xfrm>
        </p:grpSpPr>
        <p:sp>
          <p:nvSpPr>
            <p:cNvPr id="1458" name="Google Shape;1458;p46"/>
            <p:cNvSpPr/>
            <p:nvPr/>
          </p:nvSpPr>
          <p:spPr>
            <a:xfrm>
              <a:off x="5439878" y="5366905"/>
              <a:ext cx="371007" cy="7181"/>
            </a:xfrm>
            <a:custGeom>
              <a:rect b="b" l="l" r="r" t="t"/>
              <a:pathLst>
                <a:path extrusionOk="0" h="7181" w="371007">
                  <a:moveTo>
                    <a:pt x="0" y="0"/>
                  </a:moveTo>
                  <a:cubicBezTo>
                    <a:pt x="126749" y="0"/>
                    <a:pt x="250416" y="0"/>
                    <a:pt x="371008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46"/>
            <p:cNvSpPr/>
            <p:nvPr/>
          </p:nvSpPr>
          <p:spPr>
            <a:xfrm>
              <a:off x="5782145" y="5352543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0" name="Google Shape;1460;p46"/>
          <p:cNvGrpSpPr/>
          <p:nvPr/>
        </p:nvGrpSpPr>
        <p:grpSpPr>
          <a:xfrm>
            <a:off x="5180775" y="2729157"/>
            <a:ext cx="21556" cy="435145"/>
            <a:chOff x="6907700" y="3638876"/>
            <a:chExt cx="28741" cy="580194"/>
          </a:xfrm>
        </p:grpSpPr>
        <p:sp>
          <p:nvSpPr>
            <p:cNvPr id="1461" name="Google Shape;1461;p46"/>
            <p:cNvSpPr/>
            <p:nvPr/>
          </p:nvSpPr>
          <p:spPr>
            <a:xfrm>
              <a:off x="6922071" y="3638876"/>
              <a:ext cx="7185" cy="580194"/>
            </a:xfrm>
            <a:custGeom>
              <a:rect b="b" l="l" r="r" t="t"/>
              <a:pathLst>
                <a:path extrusionOk="0" h="580194" w="7185">
                  <a:moveTo>
                    <a:pt x="0" y="580194"/>
                  </a:moveTo>
                  <a:cubicBezTo>
                    <a:pt x="0" y="383717"/>
                    <a:pt x="0" y="190322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46"/>
            <p:cNvSpPr/>
            <p:nvPr/>
          </p:nvSpPr>
          <p:spPr>
            <a:xfrm>
              <a:off x="6907700" y="3638876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28725"/>
                  </a:moveTo>
                  <a:lnTo>
                    <a:pt x="14371" y="0"/>
                  </a:lnTo>
                  <a:lnTo>
                    <a:pt x="28741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3" name="Google Shape;1463;p46"/>
          <p:cNvGrpSpPr/>
          <p:nvPr/>
        </p:nvGrpSpPr>
        <p:grpSpPr>
          <a:xfrm>
            <a:off x="5180775" y="2135850"/>
            <a:ext cx="21556" cy="446779"/>
            <a:chOff x="6907700" y="2847800"/>
            <a:chExt cx="28741" cy="595705"/>
          </a:xfrm>
        </p:grpSpPr>
        <p:sp>
          <p:nvSpPr>
            <p:cNvPr id="1464" name="Google Shape;1464;p46"/>
            <p:cNvSpPr/>
            <p:nvPr/>
          </p:nvSpPr>
          <p:spPr>
            <a:xfrm>
              <a:off x="6922071" y="2847800"/>
              <a:ext cx="7185" cy="595705"/>
            </a:xfrm>
            <a:custGeom>
              <a:rect b="b" l="l" r="r" t="t"/>
              <a:pathLst>
                <a:path extrusionOk="0" h="595705" w="7185">
                  <a:moveTo>
                    <a:pt x="0" y="595705"/>
                  </a:moveTo>
                  <a:cubicBezTo>
                    <a:pt x="0" y="394058"/>
                    <a:pt x="0" y="195492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46"/>
            <p:cNvSpPr/>
            <p:nvPr/>
          </p:nvSpPr>
          <p:spPr>
            <a:xfrm>
              <a:off x="6907700" y="2847800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28725"/>
                  </a:moveTo>
                  <a:lnTo>
                    <a:pt x="14371" y="0"/>
                  </a:lnTo>
                  <a:lnTo>
                    <a:pt x="28741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6" name="Google Shape;1466;p46"/>
          <p:cNvGrpSpPr/>
          <p:nvPr/>
        </p:nvGrpSpPr>
        <p:grpSpPr>
          <a:xfrm>
            <a:off x="5180775" y="1263341"/>
            <a:ext cx="21556" cy="470045"/>
            <a:chOff x="6907700" y="1684454"/>
            <a:chExt cx="28741" cy="626727"/>
          </a:xfrm>
        </p:grpSpPr>
        <p:sp>
          <p:nvSpPr>
            <p:cNvPr id="1467" name="Google Shape;1467;p46"/>
            <p:cNvSpPr/>
            <p:nvPr/>
          </p:nvSpPr>
          <p:spPr>
            <a:xfrm>
              <a:off x="6922071" y="1684454"/>
              <a:ext cx="7185" cy="626727"/>
            </a:xfrm>
            <a:custGeom>
              <a:rect b="b" l="l" r="r" t="t"/>
              <a:pathLst>
                <a:path extrusionOk="0" h="626727" w="7185">
                  <a:moveTo>
                    <a:pt x="0" y="626728"/>
                  </a:moveTo>
                  <a:cubicBezTo>
                    <a:pt x="0" y="414740"/>
                    <a:pt x="0" y="205833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46"/>
            <p:cNvSpPr/>
            <p:nvPr/>
          </p:nvSpPr>
          <p:spPr>
            <a:xfrm>
              <a:off x="6907700" y="1684454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28725"/>
                  </a:moveTo>
                  <a:lnTo>
                    <a:pt x="14371" y="0"/>
                  </a:lnTo>
                  <a:lnTo>
                    <a:pt x="28741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9" name="Google Shape;1469;p46"/>
          <p:cNvGrpSpPr/>
          <p:nvPr/>
        </p:nvGrpSpPr>
        <p:grpSpPr>
          <a:xfrm>
            <a:off x="5261395" y="1175842"/>
            <a:ext cx="185112" cy="21543"/>
            <a:chOff x="7015193" y="1567789"/>
            <a:chExt cx="246816" cy="28724"/>
          </a:xfrm>
        </p:grpSpPr>
        <p:sp>
          <p:nvSpPr>
            <p:cNvPr id="1470" name="Google Shape;1470;p46"/>
            <p:cNvSpPr/>
            <p:nvPr/>
          </p:nvSpPr>
          <p:spPr>
            <a:xfrm>
              <a:off x="7015193" y="1582151"/>
              <a:ext cx="246816" cy="7181"/>
            </a:xfrm>
            <a:custGeom>
              <a:rect b="b" l="l" r="r" t="t"/>
              <a:pathLst>
                <a:path extrusionOk="0" h="7181" w="246816">
                  <a:moveTo>
                    <a:pt x="0" y="0"/>
                  </a:moveTo>
                  <a:cubicBezTo>
                    <a:pt x="85362" y="0"/>
                    <a:pt x="167641" y="0"/>
                    <a:pt x="246816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46"/>
            <p:cNvSpPr/>
            <p:nvPr/>
          </p:nvSpPr>
          <p:spPr>
            <a:xfrm>
              <a:off x="7233268" y="1567789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2" name="Google Shape;1472;p46"/>
          <p:cNvGrpSpPr/>
          <p:nvPr/>
        </p:nvGrpSpPr>
        <p:grpSpPr>
          <a:xfrm>
            <a:off x="6842852" y="908272"/>
            <a:ext cx="143671" cy="21543"/>
            <a:chOff x="9123803" y="1211029"/>
            <a:chExt cx="191561" cy="28724"/>
          </a:xfrm>
        </p:grpSpPr>
        <p:sp>
          <p:nvSpPr>
            <p:cNvPr id="1473" name="Google Shape;1473;p46"/>
            <p:cNvSpPr/>
            <p:nvPr/>
          </p:nvSpPr>
          <p:spPr>
            <a:xfrm>
              <a:off x="9123803" y="1225391"/>
              <a:ext cx="191560" cy="7181"/>
            </a:xfrm>
            <a:custGeom>
              <a:rect b="b" l="l" r="r" t="t"/>
              <a:pathLst>
                <a:path extrusionOk="0" h="7181" w="191560">
                  <a:moveTo>
                    <a:pt x="0" y="0"/>
                  </a:moveTo>
                  <a:cubicBezTo>
                    <a:pt x="66895" y="0"/>
                    <a:pt x="130773" y="0"/>
                    <a:pt x="19156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46"/>
            <p:cNvSpPr/>
            <p:nvPr/>
          </p:nvSpPr>
          <p:spPr>
            <a:xfrm>
              <a:off x="9286623" y="1211029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5" name="Google Shape;1475;p46"/>
          <p:cNvGrpSpPr/>
          <p:nvPr/>
        </p:nvGrpSpPr>
        <p:grpSpPr>
          <a:xfrm>
            <a:off x="6842852" y="1222376"/>
            <a:ext cx="143671" cy="21543"/>
            <a:chOff x="9123803" y="1629834"/>
            <a:chExt cx="191561" cy="28724"/>
          </a:xfrm>
        </p:grpSpPr>
        <p:sp>
          <p:nvSpPr>
            <p:cNvPr id="1476" name="Google Shape;1476;p46"/>
            <p:cNvSpPr/>
            <p:nvPr/>
          </p:nvSpPr>
          <p:spPr>
            <a:xfrm>
              <a:off x="9123803" y="1644196"/>
              <a:ext cx="191560" cy="7181"/>
            </a:xfrm>
            <a:custGeom>
              <a:rect b="b" l="l" r="r" t="t"/>
              <a:pathLst>
                <a:path extrusionOk="0" h="7181" w="191560">
                  <a:moveTo>
                    <a:pt x="0" y="0"/>
                  </a:moveTo>
                  <a:cubicBezTo>
                    <a:pt x="66895" y="0"/>
                    <a:pt x="130773" y="0"/>
                    <a:pt x="19156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46"/>
            <p:cNvSpPr/>
            <p:nvPr/>
          </p:nvSpPr>
          <p:spPr>
            <a:xfrm>
              <a:off x="9286623" y="1629834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8" name="Google Shape;1478;p46"/>
          <p:cNvGrpSpPr/>
          <p:nvPr/>
        </p:nvGrpSpPr>
        <p:grpSpPr>
          <a:xfrm>
            <a:off x="6842852" y="1536479"/>
            <a:ext cx="143671" cy="21543"/>
            <a:chOff x="9123803" y="2048638"/>
            <a:chExt cx="191561" cy="28724"/>
          </a:xfrm>
        </p:grpSpPr>
        <p:sp>
          <p:nvSpPr>
            <p:cNvPr id="1479" name="Google Shape;1479;p46"/>
            <p:cNvSpPr/>
            <p:nvPr/>
          </p:nvSpPr>
          <p:spPr>
            <a:xfrm>
              <a:off x="9123803" y="2063001"/>
              <a:ext cx="191560" cy="7181"/>
            </a:xfrm>
            <a:custGeom>
              <a:rect b="b" l="l" r="r" t="t"/>
              <a:pathLst>
                <a:path extrusionOk="0" h="7181" w="191560">
                  <a:moveTo>
                    <a:pt x="0" y="0"/>
                  </a:moveTo>
                  <a:cubicBezTo>
                    <a:pt x="66895" y="0"/>
                    <a:pt x="130773" y="0"/>
                    <a:pt x="19156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46"/>
            <p:cNvSpPr/>
            <p:nvPr/>
          </p:nvSpPr>
          <p:spPr>
            <a:xfrm>
              <a:off x="9286623" y="2048638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1" name="Google Shape;1481;p46"/>
          <p:cNvGrpSpPr/>
          <p:nvPr/>
        </p:nvGrpSpPr>
        <p:grpSpPr>
          <a:xfrm>
            <a:off x="6842852" y="1850582"/>
            <a:ext cx="143671" cy="21543"/>
            <a:chOff x="9123803" y="2467443"/>
            <a:chExt cx="191561" cy="28724"/>
          </a:xfrm>
        </p:grpSpPr>
        <p:sp>
          <p:nvSpPr>
            <p:cNvPr id="1482" name="Google Shape;1482;p46"/>
            <p:cNvSpPr/>
            <p:nvPr/>
          </p:nvSpPr>
          <p:spPr>
            <a:xfrm>
              <a:off x="9123803" y="2481806"/>
              <a:ext cx="191560" cy="7181"/>
            </a:xfrm>
            <a:custGeom>
              <a:rect b="b" l="l" r="r" t="t"/>
              <a:pathLst>
                <a:path extrusionOk="0" h="7181" w="191560">
                  <a:moveTo>
                    <a:pt x="0" y="0"/>
                  </a:moveTo>
                  <a:cubicBezTo>
                    <a:pt x="66895" y="0"/>
                    <a:pt x="130773" y="0"/>
                    <a:pt x="19156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46"/>
            <p:cNvSpPr/>
            <p:nvPr/>
          </p:nvSpPr>
          <p:spPr>
            <a:xfrm>
              <a:off x="9286623" y="2467443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4" name="Google Shape;1484;p46"/>
          <p:cNvGrpSpPr/>
          <p:nvPr/>
        </p:nvGrpSpPr>
        <p:grpSpPr>
          <a:xfrm>
            <a:off x="6842852" y="2164686"/>
            <a:ext cx="143671" cy="21543"/>
            <a:chOff x="9123803" y="2886248"/>
            <a:chExt cx="191561" cy="28724"/>
          </a:xfrm>
        </p:grpSpPr>
        <p:sp>
          <p:nvSpPr>
            <p:cNvPr id="1485" name="Google Shape;1485;p46"/>
            <p:cNvSpPr/>
            <p:nvPr/>
          </p:nvSpPr>
          <p:spPr>
            <a:xfrm>
              <a:off x="9123803" y="2900610"/>
              <a:ext cx="191560" cy="7181"/>
            </a:xfrm>
            <a:custGeom>
              <a:rect b="b" l="l" r="r" t="t"/>
              <a:pathLst>
                <a:path extrusionOk="0" h="7181" w="191560">
                  <a:moveTo>
                    <a:pt x="0" y="0"/>
                  </a:moveTo>
                  <a:cubicBezTo>
                    <a:pt x="66895" y="0"/>
                    <a:pt x="130773" y="0"/>
                    <a:pt x="19156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46"/>
            <p:cNvSpPr/>
            <p:nvPr/>
          </p:nvSpPr>
          <p:spPr>
            <a:xfrm>
              <a:off x="9286623" y="2886248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7" name="Google Shape;1487;p46"/>
          <p:cNvGrpSpPr/>
          <p:nvPr/>
        </p:nvGrpSpPr>
        <p:grpSpPr>
          <a:xfrm>
            <a:off x="6842852" y="3223331"/>
            <a:ext cx="143671" cy="21543"/>
            <a:chOff x="9123803" y="4297775"/>
            <a:chExt cx="191561" cy="28724"/>
          </a:xfrm>
        </p:grpSpPr>
        <p:sp>
          <p:nvSpPr>
            <p:cNvPr id="1488" name="Google Shape;1488;p46"/>
            <p:cNvSpPr/>
            <p:nvPr/>
          </p:nvSpPr>
          <p:spPr>
            <a:xfrm>
              <a:off x="9123803" y="4312137"/>
              <a:ext cx="191560" cy="7181"/>
            </a:xfrm>
            <a:custGeom>
              <a:rect b="b" l="l" r="r" t="t"/>
              <a:pathLst>
                <a:path extrusionOk="0" h="7181" w="191560">
                  <a:moveTo>
                    <a:pt x="0" y="0"/>
                  </a:moveTo>
                  <a:cubicBezTo>
                    <a:pt x="66895" y="0"/>
                    <a:pt x="130773" y="0"/>
                    <a:pt x="19156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46"/>
            <p:cNvSpPr/>
            <p:nvPr/>
          </p:nvSpPr>
          <p:spPr>
            <a:xfrm>
              <a:off x="9286623" y="4297775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0" name="Google Shape;1490;p46"/>
          <p:cNvGrpSpPr/>
          <p:nvPr/>
        </p:nvGrpSpPr>
        <p:grpSpPr>
          <a:xfrm>
            <a:off x="6842852" y="3537435"/>
            <a:ext cx="143671" cy="21543"/>
            <a:chOff x="9123803" y="4716580"/>
            <a:chExt cx="191561" cy="28724"/>
          </a:xfrm>
        </p:grpSpPr>
        <p:sp>
          <p:nvSpPr>
            <p:cNvPr id="1491" name="Google Shape;1491;p46"/>
            <p:cNvSpPr/>
            <p:nvPr/>
          </p:nvSpPr>
          <p:spPr>
            <a:xfrm>
              <a:off x="9123803" y="4730942"/>
              <a:ext cx="191560" cy="7181"/>
            </a:xfrm>
            <a:custGeom>
              <a:rect b="b" l="l" r="r" t="t"/>
              <a:pathLst>
                <a:path extrusionOk="0" h="7181" w="191560">
                  <a:moveTo>
                    <a:pt x="0" y="0"/>
                  </a:moveTo>
                  <a:cubicBezTo>
                    <a:pt x="66895" y="0"/>
                    <a:pt x="130773" y="0"/>
                    <a:pt x="19156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46"/>
            <p:cNvSpPr/>
            <p:nvPr/>
          </p:nvSpPr>
          <p:spPr>
            <a:xfrm>
              <a:off x="9286623" y="4716580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3" name="Google Shape;1493;p46"/>
          <p:cNvGrpSpPr/>
          <p:nvPr/>
        </p:nvGrpSpPr>
        <p:grpSpPr>
          <a:xfrm>
            <a:off x="6842852" y="3851539"/>
            <a:ext cx="143671" cy="21543"/>
            <a:chOff x="9123803" y="5135385"/>
            <a:chExt cx="191561" cy="28724"/>
          </a:xfrm>
        </p:grpSpPr>
        <p:sp>
          <p:nvSpPr>
            <p:cNvPr id="1494" name="Google Shape;1494;p46"/>
            <p:cNvSpPr/>
            <p:nvPr/>
          </p:nvSpPr>
          <p:spPr>
            <a:xfrm>
              <a:off x="9123803" y="5149747"/>
              <a:ext cx="191560" cy="7181"/>
            </a:xfrm>
            <a:custGeom>
              <a:rect b="b" l="l" r="r" t="t"/>
              <a:pathLst>
                <a:path extrusionOk="0" h="7181" w="191560">
                  <a:moveTo>
                    <a:pt x="0" y="0"/>
                  </a:moveTo>
                  <a:cubicBezTo>
                    <a:pt x="66895" y="0"/>
                    <a:pt x="130773" y="0"/>
                    <a:pt x="19156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46"/>
            <p:cNvSpPr/>
            <p:nvPr/>
          </p:nvSpPr>
          <p:spPr>
            <a:xfrm>
              <a:off x="9286623" y="5135385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6" name="Google Shape;1496;p46"/>
          <p:cNvGrpSpPr/>
          <p:nvPr/>
        </p:nvGrpSpPr>
        <p:grpSpPr>
          <a:xfrm>
            <a:off x="6842852" y="4165643"/>
            <a:ext cx="143671" cy="21543"/>
            <a:chOff x="9123803" y="5554190"/>
            <a:chExt cx="191561" cy="28724"/>
          </a:xfrm>
        </p:grpSpPr>
        <p:sp>
          <p:nvSpPr>
            <p:cNvPr id="1497" name="Google Shape;1497;p46"/>
            <p:cNvSpPr/>
            <p:nvPr/>
          </p:nvSpPr>
          <p:spPr>
            <a:xfrm>
              <a:off x="9123803" y="5568552"/>
              <a:ext cx="191560" cy="7181"/>
            </a:xfrm>
            <a:custGeom>
              <a:rect b="b" l="l" r="r" t="t"/>
              <a:pathLst>
                <a:path extrusionOk="0" h="7181" w="191560">
                  <a:moveTo>
                    <a:pt x="0" y="0"/>
                  </a:moveTo>
                  <a:cubicBezTo>
                    <a:pt x="66895" y="0"/>
                    <a:pt x="130773" y="0"/>
                    <a:pt x="19156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46"/>
            <p:cNvSpPr/>
            <p:nvPr/>
          </p:nvSpPr>
          <p:spPr>
            <a:xfrm>
              <a:off x="9286623" y="5554190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9" name="Google Shape;1499;p46"/>
          <p:cNvGrpSpPr/>
          <p:nvPr/>
        </p:nvGrpSpPr>
        <p:grpSpPr>
          <a:xfrm>
            <a:off x="6842852" y="4479746"/>
            <a:ext cx="143671" cy="21543"/>
            <a:chOff x="9123803" y="5972994"/>
            <a:chExt cx="191561" cy="28724"/>
          </a:xfrm>
        </p:grpSpPr>
        <p:sp>
          <p:nvSpPr>
            <p:cNvPr id="1500" name="Google Shape;1500;p46"/>
            <p:cNvSpPr/>
            <p:nvPr/>
          </p:nvSpPr>
          <p:spPr>
            <a:xfrm>
              <a:off x="9123803" y="5987357"/>
              <a:ext cx="191560" cy="7181"/>
            </a:xfrm>
            <a:custGeom>
              <a:rect b="b" l="l" r="r" t="t"/>
              <a:pathLst>
                <a:path extrusionOk="0" h="7181" w="191560">
                  <a:moveTo>
                    <a:pt x="0" y="0"/>
                  </a:moveTo>
                  <a:cubicBezTo>
                    <a:pt x="66895" y="0"/>
                    <a:pt x="130773" y="0"/>
                    <a:pt x="191561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46"/>
            <p:cNvSpPr/>
            <p:nvPr/>
          </p:nvSpPr>
          <p:spPr>
            <a:xfrm>
              <a:off x="9286623" y="5972994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2" name="Google Shape;1502;p46"/>
          <p:cNvGrpSpPr/>
          <p:nvPr/>
        </p:nvGrpSpPr>
        <p:grpSpPr>
          <a:xfrm>
            <a:off x="372487" y="4177276"/>
            <a:ext cx="45452" cy="21543"/>
            <a:chOff x="496650" y="5569701"/>
            <a:chExt cx="60603" cy="28724"/>
          </a:xfrm>
        </p:grpSpPr>
        <p:sp>
          <p:nvSpPr>
            <p:cNvPr id="1503" name="Google Shape;1503;p46"/>
            <p:cNvSpPr/>
            <p:nvPr/>
          </p:nvSpPr>
          <p:spPr>
            <a:xfrm>
              <a:off x="496650" y="5584063"/>
              <a:ext cx="60603" cy="7181"/>
            </a:xfrm>
            <a:custGeom>
              <a:rect b="b" l="l" r="r" t="t"/>
              <a:pathLst>
                <a:path extrusionOk="0" h="7181" w="60603">
                  <a:moveTo>
                    <a:pt x="0" y="0"/>
                  </a:moveTo>
                  <a:cubicBezTo>
                    <a:pt x="23280" y="0"/>
                    <a:pt x="43481" y="0"/>
                    <a:pt x="60603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46"/>
            <p:cNvSpPr/>
            <p:nvPr/>
          </p:nvSpPr>
          <p:spPr>
            <a:xfrm>
              <a:off x="528512" y="556970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5" name="Google Shape;1505;p46"/>
          <p:cNvGrpSpPr/>
          <p:nvPr/>
        </p:nvGrpSpPr>
        <p:grpSpPr>
          <a:xfrm>
            <a:off x="774076" y="4177276"/>
            <a:ext cx="61747" cy="21543"/>
            <a:chOff x="1032102" y="5569701"/>
            <a:chExt cx="82329" cy="28724"/>
          </a:xfrm>
        </p:grpSpPr>
        <p:sp>
          <p:nvSpPr>
            <p:cNvPr id="1506" name="Google Shape;1506;p46"/>
            <p:cNvSpPr/>
            <p:nvPr/>
          </p:nvSpPr>
          <p:spPr>
            <a:xfrm>
              <a:off x="1032102" y="5584063"/>
              <a:ext cx="82329" cy="7181"/>
            </a:xfrm>
            <a:custGeom>
              <a:rect b="b" l="l" r="r" t="t"/>
              <a:pathLst>
                <a:path extrusionOk="0" h="7181" w="82329">
                  <a:moveTo>
                    <a:pt x="0" y="0"/>
                  </a:moveTo>
                  <a:cubicBezTo>
                    <a:pt x="30523" y="0"/>
                    <a:pt x="57964" y="0"/>
                    <a:pt x="8233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46"/>
            <p:cNvSpPr/>
            <p:nvPr/>
          </p:nvSpPr>
          <p:spPr>
            <a:xfrm>
              <a:off x="1085690" y="556970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8" name="Google Shape;1508;p46"/>
          <p:cNvGrpSpPr/>
          <p:nvPr/>
        </p:nvGrpSpPr>
        <p:grpSpPr>
          <a:xfrm>
            <a:off x="1028998" y="4177276"/>
            <a:ext cx="66404" cy="21543"/>
            <a:chOff x="1371997" y="5569701"/>
            <a:chExt cx="88538" cy="28724"/>
          </a:xfrm>
        </p:grpSpPr>
        <p:sp>
          <p:nvSpPr>
            <p:cNvPr id="1509" name="Google Shape;1509;p46"/>
            <p:cNvSpPr/>
            <p:nvPr/>
          </p:nvSpPr>
          <p:spPr>
            <a:xfrm>
              <a:off x="1371997" y="5584063"/>
              <a:ext cx="88537" cy="7181"/>
            </a:xfrm>
            <a:custGeom>
              <a:rect b="b" l="l" r="r" t="t"/>
              <a:pathLst>
                <a:path extrusionOk="0" h="7181" w="88537">
                  <a:moveTo>
                    <a:pt x="0" y="0"/>
                  </a:moveTo>
                  <a:cubicBezTo>
                    <a:pt x="32593" y="0"/>
                    <a:pt x="62103" y="0"/>
                    <a:pt x="88538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46"/>
            <p:cNvSpPr/>
            <p:nvPr/>
          </p:nvSpPr>
          <p:spPr>
            <a:xfrm>
              <a:off x="1431794" y="556970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1" name="Google Shape;1511;p46"/>
          <p:cNvGrpSpPr/>
          <p:nvPr/>
        </p:nvGrpSpPr>
        <p:grpSpPr>
          <a:xfrm>
            <a:off x="1521381" y="4177276"/>
            <a:ext cx="22170" cy="21543"/>
            <a:chOff x="2028508" y="5569701"/>
            <a:chExt cx="29560" cy="28724"/>
          </a:xfrm>
        </p:grpSpPr>
        <p:sp>
          <p:nvSpPr>
            <p:cNvPr id="1512" name="Google Shape;1512;p46"/>
            <p:cNvSpPr/>
            <p:nvPr/>
          </p:nvSpPr>
          <p:spPr>
            <a:xfrm>
              <a:off x="2028508" y="5584063"/>
              <a:ext cx="29560" cy="7181"/>
            </a:xfrm>
            <a:custGeom>
              <a:rect b="b" l="l" r="r" t="t"/>
              <a:pathLst>
                <a:path extrusionOk="0" h="7181" w="29560">
                  <a:moveTo>
                    <a:pt x="0" y="0"/>
                  </a:moveTo>
                  <a:cubicBezTo>
                    <a:pt x="12934" y="0"/>
                    <a:pt x="22785" y="0"/>
                    <a:pt x="2956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46"/>
            <p:cNvSpPr/>
            <p:nvPr/>
          </p:nvSpPr>
          <p:spPr>
            <a:xfrm>
              <a:off x="2029327" y="556970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4" name="Google Shape;1514;p46"/>
          <p:cNvGrpSpPr/>
          <p:nvPr/>
        </p:nvGrpSpPr>
        <p:grpSpPr>
          <a:xfrm>
            <a:off x="1783286" y="4177276"/>
            <a:ext cx="85027" cy="21543"/>
            <a:chOff x="2377715" y="5569701"/>
            <a:chExt cx="113370" cy="28724"/>
          </a:xfrm>
        </p:grpSpPr>
        <p:sp>
          <p:nvSpPr>
            <p:cNvPr id="1515" name="Google Shape;1515;p46"/>
            <p:cNvSpPr/>
            <p:nvPr/>
          </p:nvSpPr>
          <p:spPr>
            <a:xfrm>
              <a:off x="2377715" y="5584063"/>
              <a:ext cx="113370" cy="7181"/>
            </a:xfrm>
            <a:custGeom>
              <a:rect b="b" l="l" r="r" t="t"/>
              <a:pathLst>
                <a:path extrusionOk="0" h="7181" w="113370">
                  <a:moveTo>
                    <a:pt x="0" y="0"/>
                  </a:moveTo>
                  <a:cubicBezTo>
                    <a:pt x="40870" y="0"/>
                    <a:pt x="78658" y="0"/>
                    <a:pt x="11337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46"/>
            <p:cNvSpPr/>
            <p:nvPr/>
          </p:nvSpPr>
          <p:spPr>
            <a:xfrm>
              <a:off x="2462344" y="556970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7" name="Google Shape;1517;p46"/>
          <p:cNvGrpSpPr/>
          <p:nvPr/>
        </p:nvGrpSpPr>
        <p:grpSpPr>
          <a:xfrm>
            <a:off x="2294294" y="4177276"/>
            <a:ext cx="26827" cy="21543"/>
            <a:chOff x="3059058" y="5569701"/>
            <a:chExt cx="35769" cy="28724"/>
          </a:xfrm>
        </p:grpSpPr>
        <p:sp>
          <p:nvSpPr>
            <p:cNvPr id="1518" name="Google Shape;1518;p46"/>
            <p:cNvSpPr/>
            <p:nvPr/>
          </p:nvSpPr>
          <p:spPr>
            <a:xfrm>
              <a:off x="3059058" y="5584063"/>
              <a:ext cx="35768" cy="7181"/>
            </a:xfrm>
            <a:custGeom>
              <a:rect b="b" l="l" r="r" t="t"/>
              <a:pathLst>
                <a:path extrusionOk="0" h="7181" w="35768">
                  <a:moveTo>
                    <a:pt x="0" y="0"/>
                  </a:moveTo>
                  <a:cubicBezTo>
                    <a:pt x="15003" y="0"/>
                    <a:pt x="26924" y="0"/>
                    <a:pt x="35769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46"/>
            <p:cNvSpPr/>
            <p:nvPr/>
          </p:nvSpPr>
          <p:spPr>
            <a:xfrm>
              <a:off x="3066086" y="556970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0" name="Google Shape;1520;p46"/>
          <p:cNvGrpSpPr/>
          <p:nvPr/>
        </p:nvGrpSpPr>
        <p:grpSpPr>
          <a:xfrm>
            <a:off x="2514295" y="4177276"/>
            <a:ext cx="103651" cy="21543"/>
            <a:chOff x="3352393" y="5569701"/>
            <a:chExt cx="138202" cy="28724"/>
          </a:xfrm>
        </p:grpSpPr>
        <p:sp>
          <p:nvSpPr>
            <p:cNvPr id="1521" name="Google Shape;1521;p46"/>
            <p:cNvSpPr/>
            <p:nvPr/>
          </p:nvSpPr>
          <p:spPr>
            <a:xfrm>
              <a:off x="3352393" y="5584063"/>
              <a:ext cx="138202" cy="7181"/>
            </a:xfrm>
            <a:custGeom>
              <a:rect b="b" l="l" r="r" t="t"/>
              <a:pathLst>
                <a:path extrusionOk="0" h="7181" w="138202">
                  <a:moveTo>
                    <a:pt x="0" y="0"/>
                  </a:moveTo>
                  <a:cubicBezTo>
                    <a:pt x="49148" y="0"/>
                    <a:pt x="95213" y="0"/>
                    <a:pt x="138203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46"/>
            <p:cNvSpPr/>
            <p:nvPr/>
          </p:nvSpPr>
          <p:spPr>
            <a:xfrm>
              <a:off x="3461854" y="556970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3" name="Google Shape;1523;p46"/>
          <p:cNvGrpSpPr/>
          <p:nvPr/>
        </p:nvGrpSpPr>
        <p:grpSpPr>
          <a:xfrm>
            <a:off x="2776200" y="4177276"/>
            <a:ext cx="68732" cy="21543"/>
            <a:chOff x="3701600" y="5569701"/>
            <a:chExt cx="91642" cy="28724"/>
          </a:xfrm>
        </p:grpSpPr>
        <p:sp>
          <p:nvSpPr>
            <p:cNvPr id="1524" name="Google Shape;1524;p46"/>
            <p:cNvSpPr/>
            <p:nvPr/>
          </p:nvSpPr>
          <p:spPr>
            <a:xfrm>
              <a:off x="3701600" y="5584063"/>
              <a:ext cx="91642" cy="7181"/>
            </a:xfrm>
            <a:custGeom>
              <a:rect b="b" l="l" r="r" t="t"/>
              <a:pathLst>
                <a:path extrusionOk="0" h="7181" w="91642">
                  <a:moveTo>
                    <a:pt x="0" y="0"/>
                  </a:moveTo>
                  <a:cubicBezTo>
                    <a:pt x="33628" y="0"/>
                    <a:pt x="64173" y="0"/>
                    <a:pt x="91642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46"/>
            <p:cNvSpPr/>
            <p:nvPr/>
          </p:nvSpPr>
          <p:spPr>
            <a:xfrm>
              <a:off x="3764501" y="556970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6" name="Google Shape;1526;p46"/>
          <p:cNvGrpSpPr/>
          <p:nvPr/>
        </p:nvGrpSpPr>
        <p:grpSpPr>
          <a:xfrm>
            <a:off x="2991545" y="4177276"/>
            <a:ext cx="62911" cy="21543"/>
            <a:chOff x="3988727" y="5569701"/>
            <a:chExt cx="83881" cy="28724"/>
          </a:xfrm>
        </p:grpSpPr>
        <p:sp>
          <p:nvSpPr>
            <p:cNvPr id="1527" name="Google Shape;1527;p46"/>
            <p:cNvSpPr/>
            <p:nvPr/>
          </p:nvSpPr>
          <p:spPr>
            <a:xfrm>
              <a:off x="3988727" y="5584063"/>
              <a:ext cx="83881" cy="7181"/>
            </a:xfrm>
            <a:custGeom>
              <a:rect b="b" l="l" r="r" t="t"/>
              <a:pathLst>
                <a:path extrusionOk="0" h="7181" w="83881">
                  <a:moveTo>
                    <a:pt x="0" y="0"/>
                  </a:moveTo>
                  <a:cubicBezTo>
                    <a:pt x="31041" y="0"/>
                    <a:pt x="58999" y="0"/>
                    <a:pt x="83882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46"/>
            <p:cNvSpPr/>
            <p:nvPr/>
          </p:nvSpPr>
          <p:spPr>
            <a:xfrm>
              <a:off x="4043867" y="5569701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0"/>
                  </a:moveTo>
                  <a:lnTo>
                    <a:pt x="28741" y="14362"/>
                  </a:lnTo>
                  <a:lnTo>
                    <a:pt x="0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9" name="Google Shape;1529;p46"/>
          <p:cNvSpPr/>
          <p:nvPr/>
        </p:nvSpPr>
        <p:spPr>
          <a:xfrm>
            <a:off x="372488" y="4188047"/>
            <a:ext cx="2549216" cy="344350"/>
          </a:xfrm>
          <a:custGeom>
            <a:rect b="b" l="l" r="r" t="t"/>
            <a:pathLst>
              <a:path extrusionOk="0" h="459134" w="3398954">
                <a:moveTo>
                  <a:pt x="0" y="0"/>
                </a:moveTo>
                <a:lnTo>
                  <a:pt x="0" y="459134"/>
                </a:lnTo>
                <a:lnTo>
                  <a:pt x="3398954" y="459134"/>
                </a:lnTo>
              </a:path>
            </a:pathLst>
          </a:custGeom>
          <a:noFill/>
          <a:ln cap="sq" cmpd="sng" w="9525">
            <a:solidFill>
              <a:srgbClr val="242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0" name="Google Shape;1530;p46"/>
          <p:cNvGrpSpPr/>
          <p:nvPr/>
        </p:nvGrpSpPr>
        <p:grpSpPr>
          <a:xfrm>
            <a:off x="2910925" y="4264775"/>
            <a:ext cx="21556" cy="267623"/>
            <a:chOff x="3881234" y="5686366"/>
            <a:chExt cx="28741" cy="356831"/>
          </a:xfrm>
        </p:grpSpPr>
        <p:sp>
          <p:nvSpPr>
            <p:cNvPr id="1531" name="Google Shape;1531;p46"/>
            <p:cNvSpPr/>
            <p:nvPr/>
          </p:nvSpPr>
          <p:spPr>
            <a:xfrm>
              <a:off x="3895604" y="5686366"/>
              <a:ext cx="7185" cy="356831"/>
            </a:xfrm>
            <a:custGeom>
              <a:rect b="b" l="l" r="r" t="t"/>
              <a:pathLst>
                <a:path extrusionOk="0" h="356831" w="7185">
                  <a:moveTo>
                    <a:pt x="0" y="356831"/>
                  </a:moveTo>
                  <a:cubicBezTo>
                    <a:pt x="0" y="234809"/>
                    <a:pt x="0" y="115868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46"/>
            <p:cNvSpPr/>
            <p:nvPr/>
          </p:nvSpPr>
          <p:spPr>
            <a:xfrm>
              <a:off x="3881234" y="5686366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0" y="28725"/>
                  </a:moveTo>
                  <a:lnTo>
                    <a:pt x="14371" y="0"/>
                  </a:lnTo>
                  <a:lnTo>
                    <a:pt x="28741" y="28725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3" name="Google Shape;1533;p46"/>
          <p:cNvGrpSpPr/>
          <p:nvPr/>
        </p:nvGrpSpPr>
        <p:grpSpPr>
          <a:xfrm>
            <a:off x="967003" y="2565178"/>
            <a:ext cx="21556" cy="86141"/>
            <a:chOff x="1289337" y="3420238"/>
            <a:chExt cx="28741" cy="114855"/>
          </a:xfrm>
        </p:grpSpPr>
        <p:sp>
          <p:nvSpPr>
            <p:cNvPr id="1534" name="Google Shape;1534;p46"/>
            <p:cNvSpPr/>
            <p:nvPr/>
          </p:nvSpPr>
          <p:spPr>
            <a:xfrm>
              <a:off x="1303708" y="3420238"/>
              <a:ext cx="7185" cy="114855"/>
            </a:xfrm>
            <a:custGeom>
              <a:rect b="b" l="l" r="r" t="t"/>
              <a:pathLst>
                <a:path extrusionOk="0" h="114855" w="7185">
                  <a:moveTo>
                    <a:pt x="0" y="0"/>
                  </a:moveTo>
                  <a:cubicBezTo>
                    <a:pt x="0" y="41364"/>
                    <a:pt x="0" y="79646"/>
                    <a:pt x="0" y="114855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46"/>
            <p:cNvSpPr/>
            <p:nvPr/>
          </p:nvSpPr>
          <p:spPr>
            <a:xfrm>
              <a:off x="1289337" y="3506369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28741" y="0"/>
                  </a:moveTo>
                  <a:lnTo>
                    <a:pt x="14371" y="28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6" name="Google Shape;1536;p46"/>
          <p:cNvGrpSpPr/>
          <p:nvPr/>
        </p:nvGrpSpPr>
        <p:grpSpPr>
          <a:xfrm>
            <a:off x="967003" y="2879282"/>
            <a:ext cx="21556" cy="86141"/>
            <a:chOff x="1289337" y="3839043"/>
            <a:chExt cx="28741" cy="114855"/>
          </a:xfrm>
        </p:grpSpPr>
        <p:sp>
          <p:nvSpPr>
            <p:cNvPr id="1537" name="Google Shape;1537;p46"/>
            <p:cNvSpPr/>
            <p:nvPr/>
          </p:nvSpPr>
          <p:spPr>
            <a:xfrm>
              <a:off x="1303708" y="3839043"/>
              <a:ext cx="7185" cy="114855"/>
            </a:xfrm>
            <a:custGeom>
              <a:rect b="b" l="l" r="r" t="t"/>
              <a:pathLst>
                <a:path extrusionOk="0" h="114855" w="7185">
                  <a:moveTo>
                    <a:pt x="0" y="0"/>
                  </a:moveTo>
                  <a:cubicBezTo>
                    <a:pt x="0" y="41364"/>
                    <a:pt x="0" y="79646"/>
                    <a:pt x="0" y="114855"/>
                  </a:cubicBezTo>
                </a:path>
              </a:pathLst>
            </a:custGeom>
            <a:noFill/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46"/>
            <p:cNvSpPr/>
            <p:nvPr/>
          </p:nvSpPr>
          <p:spPr>
            <a:xfrm>
              <a:off x="1289337" y="3925174"/>
              <a:ext cx="28741" cy="28724"/>
            </a:xfrm>
            <a:custGeom>
              <a:rect b="b" l="l" r="r" t="t"/>
              <a:pathLst>
                <a:path extrusionOk="0" h="28724" w="28741">
                  <a:moveTo>
                    <a:pt x="28741" y="0"/>
                  </a:moveTo>
                  <a:lnTo>
                    <a:pt x="14371" y="28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2629"/>
            </a:solidFill>
            <a:ln cap="rnd" cmpd="sng" w="9525">
              <a:solidFill>
                <a:srgbClr val="242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9" name="Google Shape;1539;p46"/>
          <p:cNvSpPr/>
          <p:nvPr/>
        </p:nvSpPr>
        <p:spPr>
          <a:xfrm>
            <a:off x="285186" y="772370"/>
            <a:ext cx="223958" cy="53605"/>
          </a:xfrm>
          <a:custGeom>
            <a:rect b="b" l="l" r="r" t="t"/>
            <a:pathLst>
              <a:path extrusionOk="0" h="71474" w="298611">
                <a:moveTo>
                  <a:pt x="0" y="71474"/>
                </a:moveTo>
                <a:lnTo>
                  <a:pt x="96847" y="0"/>
                </a:lnTo>
                <a:lnTo>
                  <a:pt x="298611" y="0"/>
                </a:lnTo>
                <a:lnTo>
                  <a:pt x="201764" y="71474"/>
                </a:lnTo>
                <a:close/>
              </a:path>
            </a:pathLst>
          </a:custGeom>
          <a:solidFill>
            <a:srgbClr val="BCCEE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46"/>
          <p:cNvSpPr/>
          <p:nvPr/>
        </p:nvSpPr>
        <p:spPr>
          <a:xfrm>
            <a:off x="436509" y="772370"/>
            <a:ext cx="72635" cy="774880"/>
          </a:xfrm>
          <a:custGeom>
            <a:rect b="b" l="l" r="r" t="t"/>
            <a:pathLst>
              <a:path extrusionOk="0" h="1033173" w="96846">
                <a:moveTo>
                  <a:pt x="0" y="1033174"/>
                </a:moveTo>
                <a:lnTo>
                  <a:pt x="96847" y="961700"/>
                </a:lnTo>
                <a:lnTo>
                  <a:pt x="96847" y="0"/>
                </a:lnTo>
                <a:lnTo>
                  <a:pt x="0" y="71474"/>
                </a:lnTo>
                <a:close/>
              </a:path>
            </a:pathLst>
          </a:custGeom>
          <a:solidFill>
            <a:srgbClr val="889BB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46"/>
          <p:cNvSpPr/>
          <p:nvPr/>
        </p:nvSpPr>
        <p:spPr>
          <a:xfrm>
            <a:off x="285186" y="825976"/>
            <a:ext cx="151323" cy="721274"/>
          </a:xfrm>
          <a:custGeom>
            <a:rect b="b" l="l" r="r" t="t"/>
            <a:pathLst>
              <a:path extrusionOk="0" h="961699" w="201764">
                <a:moveTo>
                  <a:pt x="0" y="961700"/>
                </a:moveTo>
                <a:lnTo>
                  <a:pt x="201764" y="961700"/>
                </a:lnTo>
                <a:lnTo>
                  <a:pt x="201764" y="0"/>
                </a:lnTo>
                <a:lnTo>
                  <a:pt x="0" y="0"/>
                </a:lnTo>
                <a:close/>
              </a:path>
            </a:pathLst>
          </a:custGeom>
          <a:solidFill>
            <a:srgbClr val="A6BDD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46"/>
          <p:cNvSpPr/>
          <p:nvPr/>
        </p:nvSpPr>
        <p:spPr>
          <a:xfrm>
            <a:off x="651854" y="721274"/>
            <a:ext cx="209524" cy="930677"/>
          </a:xfrm>
          <a:custGeom>
            <a:rect b="b" l="l" r="r" t="t"/>
            <a:pathLst>
              <a:path extrusionOk="0" h="1240903" w="279366">
                <a:moveTo>
                  <a:pt x="49665" y="1240903"/>
                </a:moveTo>
                <a:lnTo>
                  <a:pt x="229701" y="1240903"/>
                </a:lnTo>
                <a:cubicBezTo>
                  <a:pt x="262811" y="1240903"/>
                  <a:pt x="279366" y="1224358"/>
                  <a:pt x="279366" y="1191267"/>
                </a:cubicBezTo>
                <a:lnTo>
                  <a:pt x="279366" y="49636"/>
                </a:lnTo>
                <a:cubicBezTo>
                  <a:pt x="279366" y="16545"/>
                  <a:pt x="262811" y="0"/>
                  <a:pt x="229701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46"/>
          <p:cNvSpPr/>
          <p:nvPr/>
        </p:nvSpPr>
        <p:spPr>
          <a:xfrm>
            <a:off x="907940" y="721274"/>
            <a:ext cx="209524" cy="930677"/>
          </a:xfrm>
          <a:custGeom>
            <a:rect b="b" l="l" r="r" t="t"/>
            <a:pathLst>
              <a:path extrusionOk="0" h="1240903" w="279366">
                <a:moveTo>
                  <a:pt x="49665" y="1240903"/>
                </a:moveTo>
                <a:lnTo>
                  <a:pt x="229701" y="1240903"/>
                </a:lnTo>
                <a:cubicBezTo>
                  <a:pt x="262811" y="1240903"/>
                  <a:pt x="279366" y="1224358"/>
                  <a:pt x="279366" y="1191267"/>
                </a:cubicBezTo>
                <a:lnTo>
                  <a:pt x="279366" y="49636"/>
                </a:lnTo>
                <a:cubicBezTo>
                  <a:pt x="279366" y="16545"/>
                  <a:pt x="262811" y="0"/>
                  <a:pt x="229701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46"/>
          <p:cNvSpPr/>
          <p:nvPr/>
        </p:nvSpPr>
        <p:spPr>
          <a:xfrm>
            <a:off x="1274608" y="721274"/>
            <a:ext cx="244445" cy="930677"/>
          </a:xfrm>
          <a:custGeom>
            <a:rect b="b" l="l" r="r" t="t"/>
            <a:pathLst>
              <a:path extrusionOk="0" h="1240903" w="325927">
                <a:moveTo>
                  <a:pt x="49665" y="1240903"/>
                </a:moveTo>
                <a:lnTo>
                  <a:pt x="276262" y="1240903"/>
                </a:lnTo>
                <a:cubicBezTo>
                  <a:pt x="309372" y="1240903"/>
                  <a:pt x="325927" y="1224358"/>
                  <a:pt x="325927" y="1191267"/>
                </a:cubicBezTo>
                <a:lnTo>
                  <a:pt x="325927" y="49636"/>
                </a:lnTo>
                <a:cubicBezTo>
                  <a:pt x="325927" y="16545"/>
                  <a:pt x="309372" y="0"/>
                  <a:pt x="27626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46"/>
          <p:cNvSpPr/>
          <p:nvPr/>
        </p:nvSpPr>
        <p:spPr>
          <a:xfrm>
            <a:off x="1553974" y="721274"/>
            <a:ext cx="244445" cy="930677"/>
          </a:xfrm>
          <a:custGeom>
            <a:rect b="b" l="l" r="r" t="t"/>
            <a:pathLst>
              <a:path extrusionOk="0" h="1240903" w="325927">
                <a:moveTo>
                  <a:pt x="49665" y="1240903"/>
                </a:moveTo>
                <a:lnTo>
                  <a:pt x="276262" y="1240903"/>
                </a:lnTo>
                <a:cubicBezTo>
                  <a:pt x="309372" y="1240903"/>
                  <a:pt x="325927" y="1224358"/>
                  <a:pt x="325927" y="1191267"/>
                </a:cubicBezTo>
                <a:lnTo>
                  <a:pt x="325927" y="49636"/>
                </a:lnTo>
                <a:cubicBezTo>
                  <a:pt x="325927" y="16545"/>
                  <a:pt x="309372" y="0"/>
                  <a:pt x="27626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46"/>
          <p:cNvSpPr/>
          <p:nvPr/>
        </p:nvSpPr>
        <p:spPr>
          <a:xfrm>
            <a:off x="1833340" y="721274"/>
            <a:ext cx="244445" cy="930677"/>
          </a:xfrm>
          <a:custGeom>
            <a:rect b="b" l="l" r="r" t="t"/>
            <a:pathLst>
              <a:path extrusionOk="0" h="1240903" w="325927">
                <a:moveTo>
                  <a:pt x="49665" y="1240903"/>
                </a:moveTo>
                <a:lnTo>
                  <a:pt x="276262" y="1240903"/>
                </a:lnTo>
                <a:cubicBezTo>
                  <a:pt x="309372" y="1240903"/>
                  <a:pt x="325927" y="1224358"/>
                  <a:pt x="325927" y="1191267"/>
                </a:cubicBezTo>
                <a:lnTo>
                  <a:pt x="325927" y="49636"/>
                </a:lnTo>
                <a:cubicBezTo>
                  <a:pt x="325927" y="16545"/>
                  <a:pt x="309372" y="0"/>
                  <a:pt x="27626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46"/>
          <p:cNvSpPr/>
          <p:nvPr/>
        </p:nvSpPr>
        <p:spPr>
          <a:xfrm>
            <a:off x="2112706" y="721274"/>
            <a:ext cx="244445" cy="930677"/>
          </a:xfrm>
          <a:custGeom>
            <a:rect b="b" l="l" r="r" t="t"/>
            <a:pathLst>
              <a:path extrusionOk="0" h="1240903" w="325927">
                <a:moveTo>
                  <a:pt x="49665" y="1240903"/>
                </a:moveTo>
                <a:lnTo>
                  <a:pt x="276262" y="1240903"/>
                </a:lnTo>
                <a:cubicBezTo>
                  <a:pt x="309372" y="1240903"/>
                  <a:pt x="325927" y="1224358"/>
                  <a:pt x="325927" y="1191267"/>
                </a:cubicBezTo>
                <a:lnTo>
                  <a:pt x="325927" y="49636"/>
                </a:lnTo>
                <a:cubicBezTo>
                  <a:pt x="325927" y="16545"/>
                  <a:pt x="309372" y="0"/>
                  <a:pt x="27626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46"/>
          <p:cNvSpPr/>
          <p:nvPr/>
        </p:nvSpPr>
        <p:spPr>
          <a:xfrm>
            <a:off x="2421173" y="721274"/>
            <a:ext cx="302646" cy="930677"/>
          </a:xfrm>
          <a:custGeom>
            <a:rect b="b" l="l" r="r" t="t"/>
            <a:pathLst>
              <a:path extrusionOk="0" h="1240903" w="403528">
                <a:moveTo>
                  <a:pt x="49665" y="1240903"/>
                </a:moveTo>
                <a:lnTo>
                  <a:pt x="353864" y="1240903"/>
                </a:lnTo>
                <a:cubicBezTo>
                  <a:pt x="386974" y="1240903"/>
                  <a:pt x="403529" y="1224358"/>
                  <a:pt x="403529" y="1191267"/>
                </a:cubicBezTo>
                <a:lnTo>
                  <a:pt x="403529" y="49636"/>
                </a:lnTo>
                <a:cubicBezTo>
                  <a:pt x="403529" y="16545"/>
                  <a:pt x="386974" y="0"/>
                  <a:pt x="353864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5C5E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46"/>
          <p:cNvSpPr/>
          <p:nvPr/>
        </p:nvSpPr>
        <p:spPr>
          <a:xfrm>
            <a:off x="1792599" y="2187092"/>
            <a:ext cx="256085" cy="930677"/>
          </a:xfrm>
          <a:custGeom>
            <a:rect b="b" l="l" r="r" t="t"/>
            <a:pathLst>
              <a:path extrusionOk="0" h="1240903" w="341447">
                <a:moveTo>
                  <a:pt x="49665" y="1240903"/>
                </a:moveTo>
                <a:lnTo>
                  <a:pt x="291782" y="1240903"/>
                </a:lnTo>
                <a:cubicBezTo>
                  <a:pt x="324892" y="1240903"/>
                  <a:pt x="341447" y="1224358"/>
                  <a:pt x="341447" y="1191267"/>
                </a:cubicBezTo>
                <a:lnTo>
                  <a:pt x="341447" y="49636"/>
                </a:lnTo>
                <a:cubicBezTo>
                  <a:pt x="341447" y="16545"/>
                  <a:pt x="324892" y="0"/>
                  <a:pt x="29178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46"/>
          <p:cNvSpPr/>
          <p:nvPr/>
        </p:nvSpPr>
        <p:spPr>
          <a:xfrm>
            <a:off x="2077785" y="2187092"/>
            <a:ext cx="244445" cy="930677"/>
          </a:xfrm>
          <a:custGeom>
            <a:rect b="b" l="l" r="r" t="t"/>
            <a:pathLst>
              <a:path extrusionOk="0" h="1240903" w="325927">
                <a:moveTo>
                  <a:pt x="49665" y="1240903"/>
                </a:moveTo>
                <a:lnTo>
                  <a:pt x="276262" y="1240903"/>
                </a:lnTo>
                <a:cubicBezTo>
                  <a:pt x="309372" y="1240903"/>
                  <a:pt x="325927" y="1224358"/>
                  <a:pt x="325927" y="1191267"/>
                </a:cubicBezTo>
                <a:lnTo>
                  <a:pt x="325927" y="49636"/>
                </a:lnTo>
                <a:cubicBezTo>
                  <a:pt x="325927" y="16545"/>
                  <a:pt x="309372" y="0"/>
                  <a:pt x="27626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46"/>
          <p:cNvSpPr/>
          <p:nvPr/>
        </p:nvSpPr>
        <p:spPr>
          <a:xfrm>
            <a:off x="2357151" y="2187092"/>
            <a:ext cx="244445" cy="930677"/>
          </a:xfrm>
          <a:custGeom>
            <a:rect b="b" l="l" r="r" t="t"/>
            <a:pathLst>
              <a:path extrusionOk="0" h="1240903" w="325927">
                <a:moveTo>
                  <a:pt x="49665" y="1240903"/>
                </a:moveTo>
                <a:lnTo>
                  <a:pt x="276262" y="1240903"/>
                </a:lnTo>
                <a:cubicBezTo>
                  <a:pt x="309372" y="1240903"/>
                  <a:pt x="325927" y="1224358"/>
                  <a:pt x="325927" y="1191267"/>
                </a:cubicBezTo>
                <a:lnTo>
                  <a:pt x="325927" y="49636"/>
                </a:lnTo>
                <a:cubicBezTo>
                  <a:pt x="325927" y="16545"/>
                  <a:pt x="309372" y="0"/>
                  <a:pt x="27626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46"/>
          <p:cNvSpPr/>
          <p:nvPr/>
        </p:nvSpPr>
        <p:spPr>
          <a:xfrm>
            <a:off x="2636517" y="2187092"/>
            <a:ext cx="244445" cy="930677"/>
          </a:xfrm>
          <a:custGeom>
            <a:rect b="b" l="l" r="r" t="t"/>
            <a:pathLst>
              <a:path extrusionOk="0" h="1240903" w="325927">
                <a:moveTo>
                  <a:pt x="49665" y="1240903"/>
                </a:moveTo>
                <a:lnTo>
                  <a:pt x="276262" y="1240903"/>
                </a:lnTo>
                <a:cubicBezTo>
                  <a:pt x="309372" y="1240903"/>
                  <a:pt x="325927" y="1224358"/>
                  <a:pt x="325927" y="1191267"/>
                </a:cubicBezTo>
                <a:lnTo>
                  <a:pt x="325927" y="49636"/>
                </a:lnTo>
                <a:cubicBezTo>
                  <a:pt x="325927" y="16545"/>
                  <a:pt x="309372" y="0"/>
                  <a:pt x="27626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46"/>
          <p:cNvSpPr/>
          <p:nvPr/>
        </p:nvSpPr>
        <p:spPr>
          <a:xfrm>
            <a:off x="2915884" y="2187092"/>
            <a:ext cx="244445" cy="930677"/>
          </a:xfrm>
          <a:custGeom>
            <a:rect b="b" l="l" r="r" t="t"/>
            <a:pathLst>
              <a:path extrusionOk="0" h="1240903" w="325927">
                <a:moveTo>
                  <a:pt x="49665" y="1240903"/>
                </a:moveTo>
                <a:lnTo>
                  <a:pt x="276262" y="1240903"/>
                </a:lnTo>
                <a:cubicBezTo>
                  <a:pt x="309372" y="1240903"/>
                  <a:pt x="325927" y="1224358"/>
                  <a:pt x="325927" y="1191267"/>
                </a:cubicBezTo>
                <a:lnTo>
                  <a:pt x="325927" y="49636"/>
                </a:lnTo>
                <a:cubicBezTo>
                  <a:pt x="325927" y="16545"/>
                  <a:pt x="309372" y="0"/>
                  <a:pt x="27626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46"/>
          <p:cNvSpPr/>
          <p:nvPr/>
        </p:nvSpPr>
        <p:spPr>
          <a:xfrm>
            <a:off x="3224350" y="2187092"/>
            <a:ext cx="302646" cy="930677"/>
          </a:xfrm>
          <a:custGeom>
            <a:rect b="b" l="l" r="r" t="t"/>
            <a:pathLst>
              <a:path extrusionOk="0" h="1240903" w="403528">
                <a:moveTo>
                  <a:pt x="49665" y="1240903"/>
                </a:moveTo>
                <a:lnTo>
                  <a:pt x="353864" y="1240903"/>
                </a:lnTo>
                <a:cubicBezTo>
                  <a:pt x="386974" y="1240903"/>
                  <a:pt x="403529" y="1224358"/>
                  <a:pt x="403529" y="1191267"/>
                </a:cubicBezTo>
                <a:lnTo>
                  <a:pt x="403529" y="49636"/>
                </a:lnTo>
                <a:cubicBezTo>
                  <a:pt x="403529" y="16545"/>
                  <a:pt x="386974" y="0"/>
                  <a:pt x="353864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5C5E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46"/>
          <p:cNvSpPr/>
          <p:nvPr/>
        </p:nvSpPr>
        <p:spPr>
          <a:xfrm>
            <a:off x="3247630" y="3559841"/>
            <a:ext cx="256085" cy="930676"/>
          </a:xfrm>
          <a:custGeom>
            <a:rect b="b" l="l" r="r" t="t"/>
            <a:pathLst>
              <a:path extrusionOk="0" h="1240902" w="341447">
                <a:moveTo>
                  <a:pt x="49665" y="1240903"/>
                </a:moveTo>
                <a:lnTo>
                  <a:pt x="291782" y="1240903"/>
                </a:lnTo>
                <a:cubicBezTo>
                  <a:pt x="324892" y="1240903"/>
                  <a:pt x="341447" y="1224358"/>
                  <a:pt x="341447" y="1191267"/>
                </a:cubicBezTo>
                <a:lnTo>
                  <a:pt x="341447" y="49636"/>
                </a:lnTo>
                <a:cubicBezTo>
                  <a:pt x="341447" y="16545"/>
                  <a:pt x="324892" y="0"/>
                  <a:pt x="29178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46"/>
          <p:cNvSpPr/>
          <p:nvPr/>
        </p:nvSpPr>
        <p:spPr>
          <a:xfrm>
            <a:off x="3544457" y="3559841"/>
            <a:ext cx="244445" cy="930676"/>
          </a:xfrm>
          <a:custGeom>
            <a:rect b="b" l="l" r="r" t="t"/>
            <a:pathLst>
              <a:path extrusionOk="0" h="1240902" w="325927">
                <a:moveTo>
                  <a:pt x="49665" y="1240903"/>
                </a:moveTo>
                <a:lnTo>
                  <a:pt x="276262" y="1240903"/>
                </a:lnTo>
                <a:cubicBezTo>
                  <a:pt x="309372" y="1240903"/>
                  <a:pt x="325927" y="1224358"/>
                  <a:pt x="325927" y="1191267"/>
                </a:cubicBezTo>
                <a:lnTo>
                  <a:pt x="325927" y="49636"/>
                </a:lnTo>
                <a:cubicBezTo>
                  <a:pt x="325927" y="16545"/>
                  <a:pt x="309372" y="0"/>
                  <a:pt x="27626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46"/>
          <p:cNvSpPr/>
          <p:nvPr/>
        </p:nvSpPr>
        <p:spPr>
          <a:xfrm>
            <a:off x="3835463" y="3559841"/>
            <a:ext cx="244445" cy="930676"/>
          </a:xfrm>
          <a:custGeom>
            <a:rect b="b" l="l" r="r" t="t"/>
            <a:pathLst>
              <a:path extrusionOk="0" h="1240902" w="325927">
                <a:moveTo>
                  <a:pt x="49665" y="1240903"/>
                </a:moveTo>
                <a:lnTo>
                  <a:pt x="276262" y="1240903"/>
                </a:lnTo>
                <a:cubicBezTo>
                  <a:pt x="309372" y="1240903"/>
                  <a:pt x="325927" y="1224358"/>
                  <a:pt x="325927" y="1191267"/>
                </a:cubicBezTo>
                <a:lnTo>
                  <a:pt x="325927" y="49636"/>
                </a:lnTo>
                <a:cubicBezTo>
                  <a:pt x="325927" y="16545"/>
                  <a:pt x="309372" y="0"/>
                  <a:pt x="27626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1191267"/>
                </a:lnTo>
                <a:cubicBezTo>
                  <a:pt x="0" y="1224358"/>
                  <a:pt x="16555" y="1240903"/>
                  <a:pt x="49665" y="1240903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46"/>
          <p:cNvSpPr/>
          <p:nvPr/>
        </p:nvSpPr>
        <p:spPr>
          <a:xfrm>
            <a:off x="4365095" y="849242"/>
            <a:ext cx="232804" cy="674740"/>
          </a:xfrm>
          <a:custGeom>
            <a:rect b="b" l="l" r="r" t="t"/>
            <a:pathLst>
              <a:path extrusionOk="0" h="899654" w="310406">
                <a:moveTo>
                  <a:pt x="49665" y="899655"/>
                </a:moveTo>
                <a:lnTo>
                  <a:pt x="260742" y="899655"/>
                </a:lnTo>
                <a:cubicBezTo>
                  <a:pt x="293852" y="899655"/>
                  <a:pt x="310407" y="883109"/>
                  <a:pt x="310407" y="850019"/>
                </a:cubicBezTo>
                <a:lnTo>
                  <a:pt x="310407" y="49636"/>
                </a:lnTo>
                <a:cubicBezTo>
                  <a:pt x="310407" y="16545"/>
                  <a:pt x="293852" y="0"/>
                  <a:pt x="26074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850019"/>
                </a:lnTo>
                <a:cubicBezTo>
                  <a:pt x="0" y="883109"/>
                  <a:pt x="16555" y="899655"/>
                  <a:pt x="49665" y="899655"/>
                </a:cubicBezTo>
                <a:close/>
              </a:path>
            </a:pathLst>
          </a:custGeom>
          <a:solidFill>
            <a:srgbClr val="A9CE9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46"/>
          <p:cNvSpPr/>
          <p:nvPr/>
        </p:nvSpPr>
        <p:spPr>
          <a:xfrm>
            <a:off x="4365095" y="2315060"/>
            <a:ext cx="232804" cy="674740"/>
          </a:xfrm>
          <a:custGeom>
            <a:rect b="b" l="l" r="r" t="t"/>
            <a:pathLst>
              <a:path extrusionOk="0" h="899654" w="310406">
                <a:moveTo>
                  <a:pt x="49665" y="899655"/>
                </a:moveTo>
                <a:lnTo>
                  <a:pt x="260742" y="899655"/>
                </a:lnTo>
                <a:cubicBezTo>
                  <a:pt x="293852" y="899655"/>
                  <a:pt x="310407" y="883109"/>
                  <a:pt x="310407" y="850019"/>
                </a:cubicBezTo>
                <a:lnTo>
                  <a:pt x="310407" y="49636"/>
                </a:lnTo>
                <a:cubicBezTo>
                  <a:pt x="310407" y="16545"/>
                  <a:pt x="293852" y="0"/>
                  <a:pt x="26074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850019"/>
                </a:lnTo>
                <a:cubicBezTo>
                  <a:pt x="0" y="883109"/>
                  <a:pt x="16555" y="899655"/>
                  <a:pt x="49665" y="899655"/>
                </a:cubicBezTo>
                <a:close/>
              </a:path>
            </a:pathLst>
          </a:custGeom>
          <a:solidFill>
            <a:srgbClr val="A9CE9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46"/>
          <p:cNvSpPr/>
          <p:nvPr/>
        </p:nvSpPr>
        <p:spPr>
          <a:xfrm>
            <a:off x="4365095" y="3687809"/>
            <a:ext cx="232804" cy="674740"/>
          </a:xfrm>
          <a:custGeom>
            <a:rect b="b" l="l" r="r" t="t"/>
            <a:pathLst>
              <a:path extrusionOk="0" h="899654" w="310406">
                <a:moveTo>
                  <a:pt x="49665" y="899655"/>
                </a:moveTo>
                <a:lnTo>
                  <a:pt x="260742" y="899655"/>
                </a:lnTo>
                <a:cubicBezTo>
                  <a:pt x="293852" y="899655"/>
                  <a:pt x="310407" y="883109"/>
                  <a:pt x="310407" y="850019"/>
                </a:cubicBezTo>
                <a:lnTo>
                  <a:pt x="310407" y="49636"/>
                </a:lnTo>
                <a:cubicBezTo>
                  <a:pt x="310407" y="16545"/>
                  <a:pt x="293852" y="0"/>
                  <a:pt x="26074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850019"/>
                </a:lnTo>
                <a:cubicBezTo>
                  <a:pt x="0" y="883109"/>
                  <a:pt x="16555" y="899655"/>
                  <a:pt x="49665" y="899655"/>
                </a:cubicBezTo>
                <a:close/>
              </a:path>
            </a:pathLst>
          </a:custGeom>
          <a:solidFill>
            <a:srgbClr val="A9CE9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46"/>
          <p:cNvSpPr/>
          <p:nvPr/>
        </p:nvSpPr>
        <p:spPr>
          <a:xfrm>
            <a:off x="4784144" y="3164303"/>
            <a:ext cx="814817" cy="395537"/>
          </a:xfrm>
          <a:custGeom>
            <a:rect b="b" l="l" r="r" t="t"/>
            <a:pathLst>
              <a:path extrusionOk="0" h="527383" w="1086423">
                <a:moveTo>
                  <a:pt x="49665" y="527384"/>
                </a:moveTo>
                <a:lnTo>
                  <a:pt x="1036773" y="527384"/>
                </a:lnTo>
                <a:cubicBezTo>
                  <a:pt x="1069898" y="527384"/>
                  <a:pt x="1086423" y="510838"/>
                  <a:pt x="1086423" y="477747"/>
                </a:cubicBezTo>
                <a:lnTo>
                  <a:pt x="1086423" y="49636"/>
                </a:lnTo>
                <a:cubicBezTo>
                  <a:pt x="1086423" y="16545"/>
                  <a:pt x="1069898" y="0"/>
                  <a:pt x="1036773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477747"/>
                </a:lnTo>
                <a:cubicBezTo>
                  <a:pt x="0" y="510838"/>
                  <a:pt x="16555" y="527384"/>
                  <a:pt x="49665" y="527384"/>
                </a:cubicBezTo>
                <a:close/>
              </a:path>
            </a:pathLst>
          </a:custGeom>
          <a:solidFill>
            <a:srgbClr val="FFE49B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46"/>
          <p:cNvSpPr/>
          <p:nvPr/>
        </p:nvSpPr>
        <p:spPr>
          <a:xfrm>
            <a:off x="4784144" y="1733386"/>
            <a:ext cx="814817" cy="395537"/>
          </a:xfrm>
          <a:custGeom>
            <a:rect b="b" l="l" r="r" t="t"/>
            <a:pathLst>
              <a:path extrusionOk="0" h="527383" w="1086423">
                <a:moveTo>
                  <a:pt x="49665" y="527384"/>
                </a:moveTo>
                <a:lnTo>
                  <a:pt x="1036773" y="527384"/>
                </a:lnTo>
                <a:cubicBezTo>
                  <a:pt x="1069898" y="527384"/>
                  <a:pt x="1086423" y="510839"/>
                  <a:pt x="1086423" y="477748"/>
                </a:cubicBezTo>
                <a:lnTo>
                  <a:pt x="1086423" y="49636"/>
                </a:lnTo>
                <a:cubicBezTo>
                  <a:pt x="1086423" y="16545"/>
                  <a:pt x="1069898" y="0"/>
                  <a:pt x="1036773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477748"/>
                </a:lnTo>
                <a:cubicBezTo>
                  <a:pt x="0" y="510839"/>
                  <a:pt x="16555" y="527384"/>
                  <a:pt x="49665" y="527384"/>
                </a:cubicBezTo>
                <a:close/>
              </a:path>
            </a:pathLst>
          </a:custGeom>
          <a:solidFill>
            <a:srgbClr val="FFE49B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46"/>
          <p:cNvSpPr/>
          <p:nvPr/>
        </p:nvSpPr>
        <p:spPr>
          <a:xfrm>
            <a:off x="5453458" y="756175"/>
            <a:ext cx="244444" cy="860876"/>
          </a:xfrm>
          <a:custGeom>
            <a:rect b="b" l="l" r="r" t="t"/>
            <a:pathLst>
              <a:path extrusionOk="0" h="1147835" w="325926">
                <a:moveTo>
                  <a:pt x="49651" y="1147835"/>
                </a:moveTo>
                <a:lnTo>
                  <a:pt x="276277" y="1147835"/>
                </a:lnTo>
                <a:cubicBezTo>
                  <a:pt x="309401" y="1147835"/>
                  <a:pt x="325927" y="1131290"/>
                  <a:pt x="325927" y="1098199"/>
                </a:cubicBezTo>
                <a:lnTo>
                  <a:pt x="325927" y="49636"/>
                </a:lnTo>
                <a:cubicBezTo>
                  <a:pt x="325927" y="16545"/>
                  <a:pt x="309401" y="0"/>
                  <a:pt x="276277" y="0"/>
                </a:cubicBezTo>
                <a:lnTo>
                  <a:pt x="49651" y="0"/>
                </a:lnTo>
                <a:cubicBezTo>
                  <a:pt x="16526" y="0"/>
                  <a:pt x="0" y="16545"/>
                  <a:pt x="0" y="49636"/>
                </a:cubicBezTo>
                <a:lnTo>
                  <a:pt x="0" y="1098199"/>
                </a:lnTo>
                <a:cubicBezTo>
                  <a:pt x="0" y="1131290"/>
                  <a:pt x="16526" y="1147835"/>
                  <a:pt x="49651" y="1147835"/>
                </a:cubicBezTo>
                <a:close/>
              </a:path>
            </a:pathLst>
          </a:custGeom>
          <a:solidFill>
            <a:srgbClr val="A9CE9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46"/>
          <p:cNvSpPr/>
          <p:nvPr/>
        </p:nvSpPr>
        <p:spPr>
          <a:xfrm>
            <a:off x="6506902" y="818855"/>
            <a:ext cx="335951" cy="24570"/>
          </a:xfrm>
          <a:custGeom>
            <a:rect b="b" l="l" r="r" t="t"/>
            <a:pathLst>
              <a:path extrusionOk="0" h="32760" w="447934">
                <a:moveTo>
                  <a:pt x="0" y="32760"/>
                </a:moveTo>
                <a:lnTo>
                  <a:pt x="44406" y="0"/>
                </a:lnTo>
                <a:lnTo>
                  <a:pt x="447935" y="0"/>
                </a:lnTo>
                <a:lnTo>
                  <a:pt x="403529" y="32760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46"/>
          <p:cNvSpPr/>
          <p:nvPr/>
        </p:nvSpPr>
        <p:spPr>
          <a:xfrm>
            <a:off x="6809549" y="818855"/>
            <a:ext cx="33304" cy="175805"/>
          </a:xfrm>
          <a:custGeom>
            <a:rect b="b" l="l" r="r" t="t"/>
            <a:pathLst>
              <a:path extrusionOk="0" h="234407" w="44405">
                <a:moveTo>
                  <a:pt x="0" y="234407"/>
                </a:moveTo>
                <a:lnTo>
                  <a:pt x="44406" y="201647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46"/>
          <p:cNvSpPr/>
          <p:nvPr/>
        </p:nvSpPr>
        <p:spPr>
          <a:xfrm>
            <a:off x="6506902" y="843426"/>
            <a:ext cx="302647" cy="151234"/>
          </a:xfrm>
          <a:custGeom>
            <a:rect b="b" l="l" r="r" t="t"/>
            <a:pathLst>
              <a:path extrusionOk="0" h="201646" w="403529">
                <a:moveTo>
                  <a:pt x="0" y="201647"/>
                </a:moveTo>
                <a:lnTo>
                  <a:pt x="403529" y="201647"/>
                </a:lnTo>
                <a:lnTo>
                  <a:pt x="4035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46"/>
          <p:cNvSpPr/>
          <p:nvPr/>
        </p:nvSpPr>
        <p:spPr>
          <a:xfrm>
            <a:off x="6993475" y="789772"/>
            <a:ext cx="84499" cy="24570"/>
          </a:xfrm>
          <a:custGeom>
            <a:rect b="b" l="l" r="r" t="t"/>
            <a:pathLst>
              <a:path extrusionOk="0" h="32760" w="112666">
                <a:moveTo>
                  <a:pt x="0" y="32760"/>
                </a:moveTo>
                <a:lnTo>
                  <a:pt x="44406" y="0"/>
                </a:lnTo>
                <a:lnTo>
                  <a:pt x="112667" y="0"/>
                </a:lnTo>
                <a:lnTo>
                  <a:pt x="68261" y="32760"/>
                </a:lnTo>
                <a:close/>
              </a:path>
            </a:pathLst>
          </a:custGeom>
          <a:solidFill>
            <a:srgbClr val="EEB37C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46"/>
          <p:cNvSpPr/>
          <p:nvPr/>
        </p:nvSpPr>
        <p:spPr>
          <a:xfrm>
            <a:off x="7044671" y="789772"/>
            <a:ext cx="33304" cy="233972"/>
          </a:xfrm>
          <a:custGeom>
            <a:rect b="b" l="l" r="r" t="t"/>
            <a:pathLst>
              <a:path extrusionOk="0" h="311963" w="44405">
                <a:moveTo>
                  <a:pt x="0" y="311964"/>
                </a:moveTo>
                <a:lnTo>
                  <a:pt x="44406" y="279203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BE7E4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46"/>
          <p:cNvSpPr/>
          <p:nvPr/>
        </p:nvSpPr>
        <p:spPr>
          <a:xfrm>
            <a:off x="6993475" y="814342"/>
            <a:ext cx="51195" cy="209402"/>
          </a:xfrm>
          <a:custGeom>
            <a:rect b="b" l="l" r="r" t="t"/>
            <a:pathLst>
              <a:path extrusionOk="0" h="279203" w="68260">
                <a:moveTo>
                  <a:pt x="0" y="279203"/>
                </a:moveTo>
                <a:lnTo>
                  <a:pt x="68261" y="279203"/>
                </a:lnTo>
                <a:lnTo>
                  <a:pt x="68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E89A50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46"/>
          <p:cNvSpPr/>
          <p:nvPr/>
        </p:nvSpPr>
        <p:spPr>
          <a:xfrm>
            <a:off x="6506902" y="1132959"/>
            <a:ext cx="335951" cy="24570"/>
          </a:xfrm>
          <a:custGeom>
            <a:rect b="b" l="l" r="r" t="t"/>
            <a:pathLst>
              <a:path extrusionOk="0" h="32760" w="447934">
                <a:moveTo>
                  <a:pt x="0" y="32760"/>
                </a:moveTo>
                <a:lnTo>
                  <a:pt x="44406" y="0"/>
                </a:lnTo>
                <a:lnTo>
                  <a:pt x="447935" y="0"/>
                </a:lnTo>
                <a:lnTo>
                  <a:pt x="403529" y="32760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46"/>
          <p:cNvSpPr/>
          <p:nvPr/>
        </p:nvSpPr>
        <p:spPr>
          <a:xfrm>
            <a:off x="6809549" y="1132959"/>
            <a:ext cx="33304" cy="175805"/>
          </a:xfrm>
          <a:custGeom>
            <a:rect b="b" l="l" r="r" t="t"/>
            <a:pathLst>
              <a:path extrusionOk="0" h="234407" w="44405">
                <a:moveTo>
                  <a:pt x="0" y="234407"/>
                </a:moveTo>
                <a:lnTo>
                  <a:pt x="44406" y="201647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46"/>
          <p:cNvSpPr/>
          <p:nvPr/>
        </p:nvSpPr>
        <p:spPr>
          <a:xfrm>
            <a:off x="6506902" y="1157530"/>
            <a:ext cx="302647" cy="151234"/>
          </a:xfrm>
          <a:custGeom>
            <a:rect b="b" l="l" r="r" t="t"/>
            <a:pathLst>
              <a:path extrusionOk="0" h="201646" w="403529">
                <a:moveTo>
                  <a:pt x="0" y="201647"/>
                </a:moveTo>
                <a:lnTo>
                  <a:pt x="403529" y="201647"/>
                </a:lnTo>
                <a:lnTo>
                  <a:pt x="4035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46"/>
          <p:cNvSpPr/>
          <p:nvPr/>
        </p:nvSpPr>
        <p:spPr>
          <a:xfrm>
            <a:off x="6993475" y="1103876"/>
            <a:ext cx="84499" cy="24570"/>
          </a:xfrm>
          <a:custGeom>
            <a:rect b="b" l="l" r="r" t="t"/>
            <a:pathLst>
              <a:path extrusionOk="0" h="32760" w="112666">
                <a:moveTo>
                  <a:pt x="0" y="32760"/>
                </a:moveTo>
                <a:lnTo>
                  <a:pt x="44406" y="0"/>
                </a:lnTo>
                <a:lnTo>
                  <a:pt x="112667" y="0"/>
                </a:lnTo>
                <a:lnTo>
                  <a:pt x="68261" y="32760"/>
                </a:lnTo>
                <a:close/>
              </a:path>
            </a:pathLst>
          </a:custGeom>
          <a:solidFill>
            <a:srgbClr val="BCCEE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46"/>
          <p:cNvSpPr/>
          <p:nvPr/>
        </p:nvSpPr>
        <p:spPr>
          <a:xfrm>
            <a:off x="7044671" y="1103876"/>
            <a:ext cx="33304" cy="233972"/>
          </a:xfrm>
          <a:custGeom>
            <a:rect b="b" l="l" r="r" t="t"/>
            <a:pathLst>
              <a:path extrusionOk="0" h="311963" w="44405">
                <a:moveTo>
                  <a:pt x="0" y="311964"/>
                </a:moveTo>
                <a:lnTo>
                  <a:pt x="44406" y="279203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889BB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46"/>
          <p:cNvSpPr/>
          <p:nvPr/>
        </p:nvSpPr>
        <p:spPr>
          <a:xfrm>
            <a:off x="6993475" y="1128445"/>
            <a:ext cx="51195" cy="209402"/>
          </a:xfrm>
          <a:custGeom>
            <a:rect b="b" l="l" r="r" t="t"/>
            <a:pathLst>
              <a:path extrusionOk="0" h="279203" w="68260">
                <a:moveTo>
                  <a:pt x="0" y="279203"/>
                </a:moveTo>
                <a:lnTo>
                  <a:pt x="68261" y="279203"/>
                </a:lnTo>
                <a:lnTo>
                  <a:pt x="68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A6BDD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46"/>
          <p:cNvSpPr/>
          <p:nvPr/>
        </p:nvSpPr>
        <p:spPr>
          <a:xfrm>
            <a:off x="6506902" y="1447063"/>
            <a:ext cx="335951" cy="24570"/>
          </a:xfrm>
          <a:custGeom>
            <a:rect b="b" l="l" r="r" t="t"/>
            <a:pathLst>
              <a:path extrusionOk="0" h="32760" w="447934">
                <a:moveTo>
                  <a:pt x="0" y="32760"/>
                </a:moveTo>
                <a:lnTo>
                  <a:pt x="44406" y="0"/>
                </a:lnTo>
                <a:lnTo>
                  <a:pt x="447935" y="0"/>
                </a:lnTo>
                <a:lnTo>
                  <a:pt x="403529" y="32760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46"/>
          <p:cNvSpPr/>
          <p:nvPr/>
        </p:nvSpPr>
        <p:spPr>
          <a:xfrm>
            <a:off x="6809549" y="1447063"/>
            <a:ext cx="33304" cy="175805"/>
          </a:xfrm>
          <a:custGeom>
            <a:rect b="b" l="l" r="r" t="t"/>
            <a:pathLst>
              <a:path extrusionOk="0" h="234407" w="44405">
                <a:moveTo>
                  <a:pt x="0" y="234407"/>
                </a:moveTo>
                <a:lnTo>
                  <a:pt x="44406" y="201647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46"/>
          <p:cNvSpPr/>
          <p:nvPr/>
        </p:nvSpPr>
        <p:spPr>
          <a:xfrm>
            <a:off x="6506902" y="1471633"/>
            <a:ext cx="302647" cy="151234"/>
          </a:xfrm>
          <a:custGeom>
            <a:rect b="b" l="l" r="r" t="t"/>
            <a:pathLst>
              <a:path extrusionOk="0" h="201646" w="403529">
                <a:moveTo>
                  <a:pt x="0" y="201647"/>
                </a:moveTo>
                <a:lnTo>
                  <a:pt x="403529" y="201647"/>
                </a:lnTo>
                <a:lnTo>
                  <a:pt x="4035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46"/>
          <p:cNvSpPr/>
          <p:nvPr/>
        </p:nvSpPr>
        <p:spPr>
          <a:xfrm>
            <a:off x="6993475" y="1417979"/>
            <a:ext cx="84499" cy="24570"/>
          </a:xfrm>
          <a:custGeom>
            <a:rect b="b" l="l" r="r" t="t"/>
            <a:pathLst>
              <a:path extrusionOk="0" h="32760" w="112666">
                <a:moveTo>
                  <a:pt x="0" y="32760"/>
                </a:moveTo>
                <a:lnTo>
                  <a:pt x="44406" y="0"/>
                </a:lnTo>
                <a:lnTo>
                  <a:pt x="112667" y="0"/>
                </a:lnTo>
                <a:lnTo>
                  <a:pt x="68261" y="32760"/>
                </a:lnTo>
                <a:close/>
              </a:path>
            </a:pathLst>
          </a:custGeom>
          <a:solidFill>
            <a:srgbClr val="E6D49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46"/>
          <p:cNvSpPr/>
          <p:nvPr/>
        </p:nvSpPr>
        <p:spPr>
          <a:xfrm>
            <a:off x="7044671" y="1417979"/>
            <a:ext cx="33304" cy="233972"/>
          </a:xfrm>
          <a:custGeom>
            <a:rect b="b" l="l" r="r" t="t"/>
            <a:pathLst>
              <a:path extrusionOk="0" h="311963" w="44405">
                <a:moveTo>
                  <a:pt x="0" y="311964"/>
                </a:moveTo>
                <a:lnTo>
                  <a:pt x="44406" y="279203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B5A25A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46"/>
          <p:cNvSpPr/>
          <p:nvPr/>
        </p:nvSpPr>
        <p:spPr>
          <a:xfrm>
            <a:off x="6993475" y="1442549"/>
            <a:ext cx="51195" cy="209402"/>
          </a:xfrm>
          <a:custGeom>
            <a:rect b="b" l="l" r="r" t="t"/>
            <a:pathLst>
              <a:path extrusionOk="0" h="279203" w="68260">
                <a:moveTo>
                  <a:pt x="0" y="279203"/>
                </a:moveTo>
                <a:lnTo>
                  <a:pt x="68261" y="279203"/>
                </a:lnTo>
                <a:lnTo>
                  <a:pt x="68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DDC66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46"/>
          <p:cNvSpPr/>
          <p:nvPr/>
        </p:nvSpPr>
        <p:spPr>
          <a:xfrm>
            <a:off x="6506902" y="1761167"/>
            <a:ext cx="335951" cy="24570"/>
          </a:xfrm>
          <a:custGeom>
            <a:rect b="b" l="l" r="r" t="t"/>
            <a:pathLst>
              <a:path extrusionOk="0" h="32760" w="447934">
                <a:moveTo>
                  <a:pt x="0" y="32760"/>
                </a:moveTo>
                <a:lnTo>
                  <a:pt x="44406" y="0"/>
                </a:lnTo>
                <a:lnTo>
                  <a:pt x="447935" y="0"/>
                </a:lnTo>
                <a:lnTo>
                  <a:pt x="403529" y="32760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46"/>
          <p:cNvSpPr/>
          <p:nvPr/>
        </p:nvSpPr>
        <p:spPr>
          <a:xfrm>
            <a:off x="6809549" y="1761167"/>
            <a:ext cx="33304" cy="175805"/>
          </a:xfrm>
          <a:custGeom>
            <a:rect b="b" l="l" r="r" t="t"/>
            <a:pathLst>
              <a:path extrusionOk="0" h="234407" w="44405">
                <a:moveTo>
                  <a:pt x="0" y="234407"/>
                </a:moveTo>
                <a:lnTo>
                  <a:pt x="44406" y="201647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46"/>
          <p:cNvSpPr/>
          <p:nvPr/>
        </p:nvSpPr>
        <p:spPr>
          <a:xfrm>
            <a:off x="6506902" y="1785736"/>
            <a:ext cx="302647" cy="151235"/>
          </a:xfrm>
          <a:custGeom>
            <a:rect b="b" l="l" r="r" t="t"/>
            <a:pathLst>
              <a:path extrusionOk="0" h="201646" w="403529">
                <a:moveTo>
                  <a:pt x="0" y="201647"/>
                </a:moveTo>
                <a:lnTo>
                  <a:pt x="403529" y="201647"/>
                </a:lnTo>
                <a:lnTo>
                  <a:pt x="4035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46"/>
          <p:cNvSpPr/>
          <p:nvPr/>
        </p:nvSpPr>
        <p:spPr>
          <a:xfrm>
            <a:off x="6993475" y="1732083"/>
            <a:ext cx="84499" cy="24570"/>
          </a:xfrm>
          <a:custGeom>
            <a:rect b="b" l="l" r="r" t="t"/>
            <a:pathLst>
              <a:path extrusionOk="0" h="32760" w="112666">
                <a:moveTo>
                  <a:pt x="0" y="32760"/>
                </a:moveTo>
                <a:lnTo>
                  <a:pt x="44406" y="0"/>
                </a:lnTo>
                <a:lnTo>
                  <a:pt x="112667" y="0"/>
                </a:lnTo>
                <a:lnTo>
                  <a:pt x="68261" y="32760"/>
                </a:lnTo>
                <a:close/>
              </a:path>
            </a:pathLst>
          </a:custGeom>
          <a:solidFill>
            <a:srgbClr val="BED6A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46"/>
          <p:cNvSpPr/>
          <p:nvPr/>
        </p:nvSpPr>
        <p:spPr>
          <a:xfrm>
            <a:off x="7044671" y="1732083"/>
            <a:ext cx="33304" cy="233972"/>
          </a:xfrm>
          <a:custGeom>
            <a:rect b="b" l="l" r="r" t="t"/>
            <a:pathLst>
              <a:path extrusionOk="0" h="311963" w="44405">
                <a:moveTo>
                  <a:pt x="0" y="311964"/>
                </a:moveTo>
                <a:lnTo>
                  <a:pt x="44406" y="279203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8AA56B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46"/>
          <p:cNvSpPr/>
          <p:nvPr/>
        </p:nvSpPr>
        <p:spPr>
          <a:xfrm>
            <a:off x="6993475" y="1756653"/>
            <a:ext cx="51195" cy="209402"/>
          </a:xfrm>
          <a:custGeom>
            <a:rect b="b" l="l" r="r" t="t"/>
            <a:pathLst>
              <a:path extrusionOk="0" h="279203" w="68260">
                <a:moveTo>
                  <a:pt x="0" y="279203"/>
                </a:moveTo>
                <a:lnTo>
                  <a:pt x="68261" y="279203"/>
                </a:lnTo>
                <a:lnTo>
                  <a:pt x="68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A8C983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46"/>
          <p:cNvSpPr/>
          <p:nvPr/>
        </p:nvSpPr>
        <p:spPr>
          <a:xfrm>
            <a:off x="6506902" y="2075270"/>
            <a:ext cx="335951" cy="24570"/>
          </a:xfrm>
          <a:custGeom>
            <a:rect b="b" l="l" r="r" t="t"/>
            <a:pathLst>
              <a:path extrusionOk="0" h="32760" w="447934">
                <a:moveTo>
                  <a:pt x="0" y="32760"/>
                </a:moveTo>
                <a:lnTo>
                  <a:pt x="44406" y="0"/>
                </a:lnTo>
                <a:lnTo>
                  <a:pt x="447935" y="0"/>
                </a:lnTo>
                <a:lnTo>
                  <a:pt x="403529" y="32760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46"/>
          <p:cNvSpPr/>
          <p:nvPr/>
        </p:nvSpPr>
        <p:spPr>
          <a:xfrm>
            <a:off x="6809549" y="2075270"/>
            <a:ext cx="33304" cy="175805"/>
          </a:xfrm>
          <a:custGeom>
            <a:rect b="b" l="l" r="r" t="t"/>
            <a:pathLst>
              <a:path extrusionOk="0" h="234407" w="44405">
                <a:moveTo>
                  <a:pt x="0" y="234407"/>
                </a:moveTo>
                <a:lnTo>
                  <a:pt x="44406" y="201647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46"/>
          <p:cNvSpPr/>
          <p:nvPr/>
        </p:nvSpPr>
        <p:spPr>
          <a:xfrm>
            <a:off x="6506902" y="2099840"/>
            <a:ext cx="302647" cy="151235"/>
          </a:xfrm>
          <a:custGeom>
            <a:rect b="b" l="l" r="r" t="t"/>
            <a:pathLst>
              <a:path extrusionOk="0" h="201646" w="403529">
                <a:moveTo>
                  <a:pt x="0" y="201647"/>
                </a:moveTo>
                <a:lnTo>
                  <a:pt x="403529" y="201647"/>
                </a:lnTo>
                <a:lnTo>
                  <a:pt x="4035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46"/>
          <p:cNvSpPr/>
          <p:nvPr/>
        </p:nvSpPr>
        <p:spPr>
          <a:xfrm>
            <a:off x="6993475" y="2046186"/>
            <a:ext cx="84499" cy="24570"/>
          </a:xfrm>
          <a:custGeom>
            <a:rect b="b" l="l" r="r" t="t"/>
            <a:pathLst>
              <a:path extrusionOk="0" h="32760" w="112666">
                <a:moveTo>
                  <a:pt x="0" y="32760"/>
                </a:moveTo>
                <a:lnTo>
                  <a:pt x="44406" y="0"/>
                </a:lnTo>
                <a:lnTo>
                  <a:pt x="112667" y="0"/>
                </a:lnTo>
                <a:lnTo>
                  <a:pt x="68261" y="32760"/>
                </a:lnTo>
                <a:close/>
              </a:path>
            </a:pathLst>
          </a:custGeom>
          <a:solidFill>
            <a:srgbClr val="C8B8DA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46"/>
          <p:cNvSpPr/>
          <p:nvPr/>
        </p:nvSpPr>
        <p:spPr>
          <a:xfrm>
            <a:off x="7044671" y="2046186"/>
            <a:ext cx="33304" cy="233972"/>
          </a:xfrm>
          <a:custGeom>
            <a:rect b="b" l="l" r="r" t="t"/>
            <a:pathLst>
              <a:path extrusionOk="0" h="311963" w="44405">
                <a:moveTo>
                  <a:pt x="0" y="311964"/>
                </a:moveTo>
                <a:lnTo>
                  <a:pt x="44406" y="279203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9584A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46"/>
          <p:cNvSpPr/>
          <p:nvPr/>
        </p:nvSpPr>
        <p:spPr>
          <a:xfrm>
            <a:off x="6993475" y="2070757"/>
            <a:ext cx="51195" cy="209401"/>
          </a:xfrm>
          <a:custGeom>
            <a:rect b="b" l="l" r="r" t="t"/>
            <a:pathLst>
              <a:path extrusionOk="0" h="279202" w="68260">
                <a:moveTo>
                  <a:pt x="0" y="279203"/>
                </a:moveTo>
                <a:lnTo>
                  <a:pt x="68261" y="279203"/>
                </a:lnTo>
                <a:lnTo>
                  <a:pt x="68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B6A1CD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46"/>
          <p:cNvSpPr/>
          <p:nvPr/>
        </p:nvSpPr>
        <p:spPr>
          <a:xfrm>
            <a:off x="6506902" y="3133916"/>
            <a:ext cx="335951" cy="24570"/>
          </a:xfrm>
          <a:custGeom>
            <a:rect b="b" l="l" r="r" t="t"/>
            <a:pathLst>
              <a:path extrusionOk="0" h="32760" w="447934">
                <a:moveTo>
                  <a:pt x="0" y="32760"/>
                </a:moveTo>
                <a:lnTo>
                  <a:pt x="44406" y="0"/>
                </a:lnTo>
                <a:lnTo>
                  <a:pt x="447935" y="0"/>
                </a:lnTo>
                <a:lnTo>
                  <a:pt x="403529" y="32760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46"/>
          <p:cNvSpPr/>
          <p:nvPr/>
        </p:nvSpPr>
        <p:spPr>
          <a:xfrm>
            <a:off x="6809549" y="3133916"/>
            <a:ext cx="33304" cy="175805"/>
          </a:xfrm>
          <a:custGeom>
            <a:rect b="b" l="l" r="r" t="t"/>
            <a:pathLst>
              <a:path extrusionOk="0" h="234407" w="44405">
                <a:moveTo>
                  <a:pt x="0" y="234407"/>
                </a:moveTo>
                <a:lnTo>
                  <a:pt x="44406" y="201647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46"/>
          <p:cNvSpPr/>
          <p:nvPr/>
        </p:nvSpPr>
        <p:spPr>
          <a:xfrm>
            <a:off x="6506902" y="3158486"/>
            <a:ext cx="302647" cy="151234"/>
          </a:xfrm>
          <a:custGeom>
            <a:rect b="b" l="l" r="r" t="t"/>
            <a:pathLst>
              <a:path extrusionOk="0" h="201646" w="403529">
                <a:moveTo>
                  <a:pt x="0" y="201647"/>
                </a:moveTo>
                <a:lnTo>
                  <a:pt x="403529" y="201647"/>
                </a:lnTo>
                <a:lnTo>
                  <a:pt x="4035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46"/>
          <p:cNvSpPr/>
          <p:nvPr/>
        </p:nvSpPr>
        <p:spPr>
          <a:xfrm>
            <a:off x="6993475" y="3104832"/>
            <a:ext cx="84499" cy="24570"/>
          </a:xfrm>
          <a:custGeom>
            <a:rect b="b" l="l" r="r" t="t"/>
            <a:pathLst>
              <a:path extrusionOk="0" h="32760" w="112666">
                <a:moveTo>
                  <a:pt x="0" y="32760"/>
                </a:moveTo>
                <a:lnTo>
                  <a:pt x="44406" y="0"/>
                </a:lnTo>
                <a:lnTo>
                  <a:pt x="112667" y="0"/>
                </a:lnTo>
                <a:lnTo>
                  <a:pt x="68261" y="32760"/>
                </a:lnTo>
                <a:close/>
              </a:path>
            </a:pathLst>
          </a:custGeom>
          <a:solidFill>
            <a:srgbClr val="EEB37C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46"/>
          <p:cNvSpPr/>
          <p:nvPr/>
        </p:nvSpPr>
        <p:spPr>
          <a:xfrm>
            <a:off x="7044671" y="3104832"/>
            <a:ext cx="33304" cy="233972"/>
          </a:xfrm>
          <a:custGeom>
            <a:rect b="b" l="l" r="r" t="t"/>
            <a:pathLst>
              <a:path extrusionOk="0" h="311963" w="44405">
                <a:moveTo>
                  <a:pt x="0" y="311963"/>
                </a:moveTo>
                <a:lnTo>
                  <a:pt x="44406" y="279203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BE7E4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46"/>
          <p:cNvSpPr/>
          <p:nvPr/>
        </p:nvSpPr>
        <p:spPr>
          <a:xfrm>
            <a:off x="6993475" y="3129402"/>
            <a:ext cx="51195" cy="209402"/>
          </a:xfrm>
          <a:custGeom>
            <a:rect b="b" l="l" r="r" t="t"/>
            <a:pathLst>
              <a:path extrusionOk="0" h="279203" w="68260">
                <a:moveTo>
                  <a:pt x="0" y="279203"/>
                </a:moveTo>
                <a:lnTo>
                  <a:pt x="68261" y="279203"/>
                </a:lnTo>
                <a:lnTo>
                  <a:pt x="68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E89A50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46"/>
          <p:cNvSpPr/>
          <p:nvPr/>
        </p:nvSpPr>
        <p:spPr>
          <a:xfrm>
            <a:off x="6506902" y="3448019"/>
            <a:ext cx="335951" cy="24570"/>
          </a:xfrm>
          <a:custGeom>
            <a:rect b="b" l="l" r="r" t="t"/>
            <a:pathLst>
              <a:path extrusionOk="0" h="32760" w="447934">
                <a:moveTo>
                  <a:pt x="0" y="32760"/>
                </a:moveTo>
                <a:lnTo>
                  <a:pt x="44406" y="0"/>
                </a:lnTo>
                <a:lnTo>
                  <a:pt x="447935" y="0"/>
                </a:lnTo>
                <a:lnTo>
                  <a:pt x="403529" y="32760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46"/>
          <p:cNvSpPr/>
          <p:nvPr/>
        </p:nvSpPr>
        <p:spPr>
          <a:xfrm>
            <a:off x="6809549" y="3448019"/>
            <a:ext cx="33304" cy="175805"/>
          </a:xfrm>
          <a:custGeom>
            <a:rect b="b" l="l" r="r" t="t"/>
            <a:pathLst>
              <a:path extrusionOk="0" h="234407" w="44405">
                <a:moveTo>
                  <a:pt x="0" y="234407"/>
                </a:moveTo>
                <a:lnTo>
                  <a:pt x="44406" y="201647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46"/>
          <p:cNvSpPr/>
          <p:nvPr/>
        </p:nvSpPr>
        <p:spPr>
          <a:xfrm>
            <a:off x="6506902" y="3472589"/>
            <a:ext cx="302647" cy="151235"/>
          </a:xfrm>
          <a:custGeom>
            <a:rect b="b" l="l" r="r" t="t"/>
            <a:pathLst>
              <a:path extrusionOk="0" h="201646" w="403529">
                <a:moveTo>
                  <a:pt x="0" y="201647"/>
                </a:moveTo>
                <a:lnTo>
                  <a:pt x="403529" y="201647"/>
                </a:lnTo>
                <a:lnTo>
                  <a:pt x="4035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46"/>
          <p:cNvSpPr/>
          <p:nvPr/>
        </p:nvSpPr>
        <p:spPr>
          <a:xfrm>
            <a:off x="6993475" y="3418935"/>
            <a:ext cx="84499" cy="24570"/>
          </a:xfrm>
          <a:custGeom>
            <a:rect b="b" l="l" r="r" t="t"/>
            <a:pathLst>
              <a:path extrusionOk="0" h="32760" w="112666">
                <a:moveTo>
                  <a:pt x="0" y="32760"/>
                </a:moveTo>
                <a:lnTo>
                  <a:pt x="44406" y="0"/>
                </a:lnTo>
                <a:lnTo>
                  <a:pt x="112667" y="0"/>
                </a:lnTo>
                <a:lnTo>
                  <a:pt x="68261" y="32760"/>
                </a:lnTo>
                <a:close/>
              </a:path>
            </a:pathLst>
          </a:custGeom>
          <a:solidFill>
            <a:srgbClr val="BCCEE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46"/>
          <p:cNvSpPr/>
          <p:nvPr/>
        </p:nvSpPr>
        <p:spPr>
          <a:xfrm>
            <a:off x="7044671" y="3418935"/>
            <a:ext cx="33304" cy="233972"/>
          </a:xfrm>
          <a:custGeom>
            <a:rect b="b" l="l" r="r" t="t"/>
            <a:pathLst>
              <a:path extrusionOk="0" h="311963" w="44405">
                <a:moveTo>
                  <a:pt x="0" y="311964"/>
                </a:moveTo>
                <a:lnTo>
                  <a:pt x="44406" y="279203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889BB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46"/>
          <p:cNvSpPr/>
          <p:nvPr/>
        </p:nvSpPr>
        <p:spPr>
          <a:xfrm>
            <a:off x="6993475" y="3443506"/>
            <a:ext cx="51195" cy="209402"/>
          </a:xfrm>
          <a:custGeom>
            <a:rect b="b" l="l" r="r" t="t"/>
            <a:pathLst>
              <a:path extrusionOk="0" h="279203" w="68260">
                <a:moveTo>
                  <a:pt x="0" y="279203"/>
                </a:moveTo>
                <a:lnTo>
                  <a:pt x="68261" y="279203"/>
                </a:lnTo>
                <a:lnTo>
                  <a:pt x="68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A6BDD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46"/>
          <p:cNvSpPr/>
          <p:nvPr/>
        </p:nvSpPr>
        <p:spPr>
          <a:xfrm>
            <a:off x="6506902" y="3762122"/>
            <a:ext cx="335951" cy="24570"/>
          </a:xfrm>
          <a:custGeom>
            <a:rect b="b" l="l" r="r" t="t"/>
            <a:pathLst>
              <a:path extrusionOk="0" h="32760" w="447934">
                <a:moveTo>
                  <a:pt x="0" y="32760"/>
                </a:moveTo>
                <a:lnTo>
                  <a:pt x="44406" y="0"/>
                </a:lnTo>
                <a:lnTo>
                  <a:pt x="447935" y="0"/>
                </a:lnTo>
                <a:lnTo>
                  <a:pt x="403529" y="32760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46"/>
          <p:cNvSpPr/>
          <p:nvPr/>
        </p:nvSpPr>
        <p:spPr>
          <a:xfrm>
            <a:off x="6809549" y="3762122"/>
            <a:ext cx="33304" cy="175804"/>
          </a:xfrm>
          <a:custGeom>
            <a:rect b="b" l="l" r="r" t="t"/>
            <a:pathLst>
              <a:path extrusionOk="0" h="234406" w="44405">
                <a:moveTo>
                  <a:pt x="0" y="234407"/>
                </a:moveTo>
                <a:lnTo>
                  <a:pt x="44406" y="201647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46"/>
          <p:cNvSpPr/>
          <p:nvPr/>
        </p:nvSpPr>
        <p:spPr>
          <a:xfrm>
            <a:off x="6506902" y="3786693"/>
            <a:ext cx="302647" cy="151235"/>
          </a:xfrm>
          <a:custGeom>
            <a:rect b="b" l="l" r="r" t="t"/>
            <a:pathLst>
              <a:path extrusionOk="0" h="201646" w="403529">
                <a:moveTo>
                  <a:pt x="0" y="201646"/>
                </a:moveTo>
                <a:lnTo>
                  <a:pt x="403529" y="201646"/>
                </a:lnTo>
                <a:lnTo>
                  <a:pt x="4035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46"/>
          <p:cNvSpPr/>
          <p:nvPr/>
        </p:nvSpPr>
        <p:spPr>
          <a:xfrm>
            <a:off x="6993475" y="3733039"/>
            <a:ext cx="84499" cy="24570"/>
          </a:xfrm>
          <a:custGeom>
            <a:rect b="b" l="l" r="r" t="t"/>
            <a:pathLst>
              <a:path extrusionOk="0" h="32760" w="112666">
                <a:moveTo>
                  <a:pt x="0" y="32760"/>
                </a:moveTo>
                <a:lnTo>
                  <a:pt x="44406" y="0"/>
                </a:lnTo>
                <a:lnTo>
                  <a:pt x="112667" y="0"/>
                </a:lnTo>
                <a:lnTo>
                  <a:pt x="68261" y="32760"/>
                </a:lnTo>
                <a:close/>
              </a:path>
            </a:pathLst>
          </a:custGeom>
          <a:solidFill>
            <a:srgbClr val="E6D49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46"/>
          <p:cNvSpPr/>
          <p:nvPr/>
        </p:nvSpPr>
        <p:spPr>
          <a:xfrm>
            <a:off x="7044671" y="3733039"/>
            <a:ext cx="33304" cy="233972"/>
          </a:xfrm>
          <a:custGeom>
            <a:rect b="b" l="l" r="r" t="t"/>
            <a:pathLst>
              <a:path extrusionOk="0" h="311963" w="44405">
                <a:moveTo>
                  <a:pt x="0" y="311964"/>
                </a:moveTo>
                <a:lnTo>
                  <a:pt x="44406" y="279203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B5A25A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46"/>
          <p:cNvSpPr/>
          <p:nvPr/>
        </p:nvSpPr>
        <p:spPr>
          <a:xfrm>
            <a:off x="6993475" y="3757609"/>
            <a:ext cx="51195" cy="209402"/>
          </a:xfrm>
          <a:custGeom>
            <a:rect b="b" l="l" r="r" t="t"/>
            <a:pathLst>
              <a:path extrusionOk="0" h="279203" w="68260">
                <a:moveTo>
                  <a:pt x="0" y="279203"/>
                </a:moveTo>
                <a:lnTo>
                  <a:pt x="68261" y="279203"/>
                </a:lnTo>
                <a:lnTo>
                  <a:pt x="68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DDC66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46"/>
          <p:cNvSpPr/>
          <p:nvPr/>
        </p:nvSpPr>
        <p:spPr>
          <a:xfrm>
            <a:off x="6506902" y="4076226"/>
            <a:ext cx="335951" cy="24570"/>
          </a:xfrm>
          <a:custGeom>
            <a:rect b="b" l="l" r="r" t="t"/>
            <a:pathLst>
              <a:path extrusionOk="0" h="32760" w="447934">
                <a:moveTo>
                  <a:pt x="0" y="32760"/>
                </a:moveTo>
                <a:lnTo>
                  <a:pt x="44406" y="0"/>
                </a:lnTo>
                <a:lnTo>
                  <a:pt x="447935" y="0"/>
                </a:lnTo>
                <a:lnTo>
                  <a:pt x="403529" y="32760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46"/>
          <p:cNvSpPr/>
          <p:nvPr/>
        </p:nvSpPr>
        <p:spPr>
          <a:xfrm>
            <a:off x="6809549" y="4076226"/>
            <a:ext cx="33304" cy="175804"/>
          </a:xfrm>
          <a:custGeom>
            <a:rect b="b" l="l" r="r" t="t"/>
            <a:pathLst>
              <a:path extrusionOk="0" h="234406" w="44405">
                <a:moveTo>
                  <a:pt x="0" y="234407"/>
                </a:moveTo>
                <a:lnTo>
                  <a:pt x="44406" y="201647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46"/>
          <p:cNvSpPr/>
          <p:nvPr/>
        </p:nvSpPr>
        <p:spPr>
          <a:xfrm>
            <a:off x="6506902" y="4100797"/>
            <a:ext cx="302647" cy="151235"/>
          </a:xfrm>
          <a:custGeom>
            <a:rect b="b" l="l" r="r" t="t"/>
            <a:pathLst>
              <a:path extrusionOk="0" h="201646" w="403529">
                <a:moveTo>
                  <a:pt x="0" y="201646"/>
                </a:moveTo>
                <a:lnTo>
                  <a:pt x="403529" y="201646"/>
                </a:lnTo>
                <a:lnTo>
                  <a:pt x="4035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46"/>
          <p:cNvSpPr/>
          <p:nvPr/>
        </p:nvSpPr>
        <p:spPr>
          <a:xfrm>
            <a:off x="6993475" y="4047143"/>
            <a:ext cx="84499" cy="24570"/>
          </a:xfrm>
          <a:custGeom>
            <a:rect b="b" l="l" r="r" t="t"/>
            <a:pathLst>
              <a:path extrusionOk="0" h="32760" w="112666">
                <a:moveTo>
                  <a:pt x="0" y="32760"/>
                </a:moveTo>
                <a:lnTo>
                  <a:pt x="44406" y="0"/>
                </a:lnTo>
                <a:lnTo>
                  <a:pt x="112667" y="0"/>
                </a:lnTo>
                <a:lnTo>
                  <a:pt x="68261" y="32760"/>
                </a:lnTo>
                <a:close/>
              </a:path>
            </a:pathLst>
          </a:custGeom>
          <a:solidFill>
            <a:srgbClr val="BED6A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46"/>
          <p:cNvSpPr/>
          <p:nvPr/>
        </p:nvSpPr>
        <p:spPr>
          <a:xfrm>
            <a:off x="7044671" y="4047143"/>
            <a:ext cx="33304" cy="233972"/>
          </a:xfrm>
          <a:custGeom>
            <a:rect b="b" l="l" r="r" t="t"/>
            <a:pathLst>
              <a:path extrusionOk="0" h="311963" w="44405">
                <a:moveTo>
                  <a:pt x="0" y="311964"/>
                </a:moveTo>
                <a:lnTo>
                  <a:pt x="44406" y="279203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8AA56B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46"/>
          <p:cNvSpPr/>
          <p:nvPr/>
        </p:nvSpPr>
        <p:spPr>
          <a:xfrm>
            <a:off x="6993475" y="4071713"/>
            <a:ext cx="51195" cy="209402"/>
          </a:xfrm>
          <a:custGeom>
            <a:rect b="b" l="l" r="r" t="t"/>
            <a:pathLst>
              <a:path extrusionOk="0" h="279203" w="68260">
                <a:moveTo>
                  <a:pt x="0" y="279203"/>
                </a:moveTo>
                <a:lnTo>
                  <a:pt x="68261" y="279203"/>
                </a:lnTo>
                <a:lnTo>
                  <a:pt x="68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A8C983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46"/>
          <p:cNvSpPr/>
          <p:nvPr/>
        </p:nvSpPr>
        <p:spPr>
          <a:xfrm>
            <a:off x="6506902" y="4390330"/>
            <a:ext cx="335951" cy="24570"/>
          </a:xfrm>
          <a:custGeom>
            <a:rect b="b" l="l" r="r" t="t"/>
            <a:pathLst>
              <a:path extrusionOk="0" h="32760" w="447934">
                <a:moveTo>
                  <a:pt x="0" y="32760"/>
                </a:moveTo>
                <a:lnTo>
                  <a:pt x="44406" y="0"/>
                </a:lnTo>
                <a:lnTo>
                  <a:pt x="447935" y="0"/>
                </a:lnTo>
                <a:lnTo>
                  <a:pt x="403529" y="32760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46"/>
          <p:cNvSpPr/>
          <p:nvPr/>
        </p:nvSpPr>
        <p:spPr>
          <a:xfrm>
            <a:off x="6809549" y="4390330"/>
            <a:ext cx="33304" cy="175804"/>
          </a:xfrm>
          <a:custGeom>
            <a:rect b="b" l="l" r="r" t="t"/>
            <a:pathLst>
              <a:path extrusionOk="0" h="234406" w="44405">
                <a:moveTo>
                  <a:pt x="0" y="234407"/>
                </a:moveTo>
                <a:lnTo>
                  <a:pt x="44406" y="201646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46"/>
          <p:cNvSpPr/>
          <p:nvPr/>
        </p:nvSpPr>
        <p:spPr>
          <a:xfrm>
            <a:off x="6506902" y="4414900"/>
            <a:ext cx="302647" cy="151235"/>
          </a:xfrm>
          <a:custGeom>
            <a:rect b="b" l="l" r="r" t="t"/>
            <a:pathLst>
              <a:path extrusionOk="0" h="201646" w="403529">
                <a:moveTo>
                  <a:pt x="0" y="201647"/>
                </a:moveTo>
                <a:lnTo>
                  <a:pt x="403529" y="201647"/>
                </a:lnTo>
                <a:lnTo>
                  <a:pt x="4035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46"/>
          <p:cNvSpPr/>
          <p:nvPr/>
        </p:nvSpPr>
        <p:spPr>
          <a:xfrm>
            <a:off x="6993475" y="4361246"/>
            <a:ext cx="84499" cy="24570"/>
          </a:xfrm>
          <a:custGeom>
            <a:rect b="b" l="l" r="r" t="t"/>
            <a:pathLst>
              <a:path extrusionOk="0" h="32760" w="112666">
                <a:moveTo>
                  <a:pt x="0" y="32760"/>
                </a:moveTo>
                <a:lnTo>
                  <a:pt x="44406" y="0"/>
                </a:lnTo>
                <a:lnTo>
                  <a:pt x="112667" y="0"/>
                </a:lnTo>
                <a:lnTo>
                  <a:pt x="68261" y="32760"/>
                </a:lnTo>
                <a:close/>
              </a:path>
            </a:pathLst>
          </a:custGeom>
          <a:solidFill>
            <a:srgbClr val="C8B8DA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46"/>
          <p:cNvSpPr/>
          <p:nvPr/>
        </p:nvSpPr>
        <p:spPr>
          <a:xfrm>
            <a:off x="7044671" y="4361246"/>
            <a:ext cx="33304" cy="233972"/>
          </a:xfrm>
          <a:custGeom>
            <a:rect b="b" l="l" r="r" t="t"/>
            <a:pathLst>
              <a:path extrusionOk="0" h="311963" w="44405">
                <a:moveTo>
                  <a:pt x="0" y="311964"/>
                </a:moveTo>
                <a:lnTo>
                  <a:pt x="44406" y="279203"/>
                </a:lnTo>
                <a:lnTo>
                  <a:pt x="44406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9584A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46"/>
          <p:cNvSpPr/>
          <p:nvPr/>
        </p:nvSpPr>
        <p:spPr>
          <a:xfrm>
            <a:off x="6993475" y="4385816"/>
            <a:ext cx="51195" cy="209402"/>
          </a:xfrm>
          <a:custGeom>
            <a:rect b="b" l="l" r="r" t="t"/>
            <a:pathLst>
              <a:path extrusionOk="0" h="279203" w="68260">
                <a:moveTo>
                  <a:pt x="0" y="279203"/>
                </a:moveTo>
                <a:lnTo>
                  <a:pt x="68261" y="279203"/>
                </a:lnTo>
                <a:lnTo>
                  <a:pt x="68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B6A1CD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46"/>
          <p:cNvSpPr/>
          <p:nvPr/>
        </p:nvSpPr>
        <p:spPr>
          <a:xfrm>
            <a:off x="424869" y="4035509"/>
            <a:ext cx="347580" cy="24570"/>
          </a:xfrm>
          <a:custGeom>
            <a:rect b="b" l="l" r="r" t="t"/>
            <a:pathLst>
              <a:path extrusionOk="0" h="32760" w="463440">
                <a:moveTo>
                  <a:pt x="0" y="32760"/>
                </a:moveTo>
                <a:lnTo>
                  <a:pt x="44388" y="0"/>
                </a:lnTo>
                <a:lnTo>
                  <a:pt x="463440" y="0"/>
                </a:lnTo>
                <a:lnTo>
                  <a:pt x="419049" y="32760"/>
                </a:lnTo>
                <a:close/>
              </a:path>
            </a:pathLst>
          </a:custGeom>
          <a:solidFill>
            <a:srgbClr val="E7EFF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46"/>
          <p:cNvSpPr/>
          <p:nvPr/>
        </p:nvSpPr>
        <p:spPr>
          <a:xfrm>
            <a:off x="739156" y="4035509"/>
            <a:ext cx="33293" cy="280506"/>
          </a:xfrm>
          <a:custGeom>
            <a:rect b="b" l="l" r="r" t="t"/>
            <a:pathLst>
              <a:path extrusionOk="0" h="374008" w="44390">
                <a:moveTo>
                  <a:pt x="0" y="374009"/>
                </a:moveTo>
                <a:lnTo>
                  <a:pt x="44391" y="341248"/>
                </a:lnTo>
                <a:lnTo>
                  <a:pt x="44391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B7C0C9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46"/>
          <p:cNvSpPr/>
          <p:nvPr/>
        </p:nvSpPr>
        <p:spPr>
          <a:xfrm>
            <a:off x="424869" y="4060079"/>
            <a:ext cx="314287" cy="255936"/>
          </a:xfrm>
          <a:custGeom>
            <a:rect b="b" l="l" r="r" t="t"/>
            <a:pathLst>
              <a:path extrusionOk="0" h="341248" w="419049">
                <a:moveTo>
                  <a:pt x="0" y="341248"/>
                </a:moveTo>
                <a:lnTo>
                  <a:pt x="419049" y="341248"/>
                </a:lnTo>
                <a:lnTo>
                  <a:pt x="419049" y="0"/>
                </a:lnTo>
                <a:lnTo>
                  <a:pt x="0" y="0"/>
                </a:ln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46"/>
          <p:cNvSpPr/>
          <p:nvPr/>
        </p:nvSpPr>
        <p:spPr>
          <a:xfrm>
            <a:off x="842754" y="4060079"/>
            <a:ext cx="186244" cy="255936"/>
          </a:xfrm>
          <a:custGeom>
            <a:rect b="b" l="l" r="r" t="t"/>
            <a:pathLst>
              <a:path extrusionOk="0" h="341248" w="248325">
                <a:moveTo>
                  <a:pt x="49665" y="341248"/>
                </a:moveTo>
                <a:lnTo>
                  <a:pt x="198660" y="341248"/>
                </a:lnTo>
                <a:cubicBezTo>
                  <a:pt x="231770" y="341248"/>
                  <a:pt x="248325" y="324703"/>
                  <a:pt x="248325" y="291612"/>
                </a:cubicBezTo>
                <a:lnTo>
                  <a:pt x="248325" y="49636"/>
                </a:lnTo>
                <a:cubicBezTo>
                  <a:pt x="248325" y="16545"/>
                  <a:pt x="231770" y="0"/>
                  <a:pt x="198660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291612"/>
                </a:lnTo>
                <a:cubicBezTo>
                  <a:pt x="0" y="324703"/>
                  <a:pt x="16555" y="341248"/>
                  <a:pt x="49665" y="3412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46"/>
          <p:cNvSpPr/>
          <p:nvPr/>
        </p:nvSpPr>
        <p:spPr>
          <a:xfrm>
            <a:off x="1102332" y="4035509"/>
            <a:ext cx="417422" cy="24570"/>
          </a:xfrm>
          <a:custGeom>
            <a:rect b="b" l="l" r="r" t="t"/>
            <a:pathLst>
              <a:path extrusionOk="0" h="32760" w="556562">
                <a:moveTo>
                  <a:pt x="0" y="32760"/>
                </a:moveTo>
                <a:lnTo>
                  <a:pt x="44391" y="0"/>
                </a:lnTo>
                <a:lnTo>
                  <a:pt x="556562" y="0"/>
                </a:lnTo>
                <a:lnTo>
                  <a:pt x="512171" y="32760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46"/>
          <p:cNvSpPr/>
          <p:nvPr/>
        </p:nvSpPr>
        <p:spPr>
          <a:xfrm>
            <a:off x="1486460" y="4035509"/>
            <a:ext cx="33293" cy="280506"/>
          </a:xfrm>
          <a:custGeom>
            <a:rect b="b" l="l" r="r" t="t"/>
            <a:pathLst>
              <a:path extrusionOk="0" h="374008" w="44391">
                <a:moveTo>
                  <a:pt x="0" y="374009"/>
                </a:moveTo>
                <a:lnTo>
                  <a:pt x="44391" y="341248"/>
                </a:lnTo>
                <a:lnTo>
                  <a:pt x="44391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46"/>
          <p:cNvSpPr/>
          <p:nvPr/>
        </p:nvSpPr>
        <p:spPr>
          <a:xfrm>
            <a:off x="1102332" y="4062881"/>
            <a:ext cx="384128" cy="255936"/>
          </a:xfrm>
          <a:custGeom>
            <a:rect b="b" l="l" r="r" t="t"/>
            <a:pathLst>
              <a:path extrusionOk="0" h="341248" w="512171">
                <a:moveTo>
                  <a:pt x="0" y="341248"/>
                </a:moveTo>
                <a:lnTo>
                  <a:pt x="512171" y="341248"/>
                </a:lnTo>
                <a:lnTo>
                  <a:pt x="512171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46"/>
          <p:cNvSpPr/>
          <p:nvPr/>
        </p:nvSpPr>
        <p:spPr>
          <a:xfrm>
            <a:off x="1550482" y="4060079"/>
            <a:ext cx="232805" cy="255936"/>
          </a:xfrm>
          <a:custGeom>
            <a:rect b="b" l="l" r="r" t="t"/>
            <a:pathLst>
              <a:path extrusionOk="0" h="341248" w="310406">
                <a:moveTo>
                  <a:pt x="49665" y="341248"/>
                </a:moveTo>
                <a:lnTo>
                  <a:pt x="260742" y="341248"/>
                </a:lnTo>
                <a:cubicBezTo>
                  <a:pt x="293852" y="341248"/>
                  <a:pt x="310407" y="324703"/>
                  <a:pt x="310407" y="291612"/>
                </a:cubicBezTo>
                <a:lnTo>
                  <a:pt x="310407" y="49636"/>
                </a:lnTo>
                <a:cubicBezTo>
                  <a:pt x="310407" y="16545"/>
                  <a:pt x="293852" y="0"/>
                  <a:pt x="26074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291612"/>
                </a:lnTo>
                <a:cubicBezTo>
                  <a:pt x="0" y="324703"/>
                  <a:pt x="16555" y="341248"/>
                  <a:pt x="49665" y="3412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46"/>
          <p:cNvSpPr/>
          <p:nvPr/>
        </p:nvSpPr>
        <p:spPr>
          <a:xfrm>
            <a:off x="1875245" y="4035509"/>
            <a:ext cx="417422" cy="24570"/>
          </a:xfrm>
          <a:custGeom>
            <a:rect b="b" l="l" r="r" t="t"/>
            <a:pathLst>
              <a:path extrusionOk="0" h="32760" w="556562">
                <a:moveTo>
                  <a:pt x="0" y="32760"/>
                </a:moveTo>
                <a:lnTo>
                  <a:pt x="44391" y="0"/>
                </a:lnTo>
                <a:lnTo>
                  <a:pt x="556562" y="0"/>
                </a:lnTo>
                <a:lnTo>
                  <a:pt x="512171" y="32760"/>
                </a:lnTo>
                <a:close/>
              </a:path>
            </a:pathLst>
          </a:custGeom>
          <a:solidFill>
            <a:srgbClr val="F9DAC2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46"/>
          <p:cNvSpPr/>
          <p:nvPr/>
        </p:nvSpPr>
        <p:spPr>
          <a:xfrm>
            <a:off x="2259373" y="4035509"/>
            <a:ext cx="33292" cy="280506"/>
          </a:xfrm>
          <a:custGeom>
            <a:rect b="b" l="l" r="r" t="t"/>
            <a:pathLst>
              <a:path extrusionOk="0" h="374008" w="44390">
                <a:moveTo>
                  <a:pt x="0" y="374009"/>
                </a:moveTo>
                <a:lnTo>
                  <a:pt x="44391" y="341248"/>
                </a:lnTo>
                <a:lnTo>
                  <a:pt x="44391" y="0"/>
                </a:lnTo>
                <a:lnTo>
                  <a:pt x="0" y="32760"/>
                </a:lnTo>
                <a:close/>
              </a:path>
            </a:pathLst>
          </a:custGeom>
          <a:solidFill>
            <a:srgbClr val="CBA88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46"/>
          <p:cNvSpPr/>
          <p:nvPr/>
        </p:nvSpPr>
        <p:spPr>
          <a:xfrm>
            <a:off x="1875245" y="4060079"/>
            <a:ext cx="384128" cy="255936"/>
          </a:xfrm>
          <a:custGeom>
            <a:rect b="b" l="l" r="r" t="t"/>
            <a:pathLst>
              <a:path extrusionOk="0" h="341248" w="512171">
                <a:moveTo>
                  <a:pt x="0" y="341248"/>
                </a:moveTo>
                <a:lnTo>
                  <a:pt x="512171" y="341248"/>
                </a:lnTo>
                <a:lnTo>
                  <a:pt x="512171" y="0"/>
                </a:lnTo>
                <a:lnTo>
                  <a:pt x="0" y="0"/>
                </a:lnTo>
                <a:close/>
              </a:path>
            </a:pathLst>
          </a:custGeom>
          <a:solidFill>
            <a:srgbClr val="F7CDAE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46"/>
          <p:cNvSpPr/>
          <p:nvPr/>
        </p:nvSpPr>
        <p:spPr>
          <a:xfrm>
            <a:off x="2328050" y="4060079"/>
            <a:ext cx="186244" cy="255936"/>
          </a:xfrm>
          <a:custGeom>
            <a:rect b="b" l="l" r="r" t="t"/>
            <a:pathLst>
              <a:path extrusionOk="0" h="341248" w="248325">
                <a:moveTo>
                  <a:pt x="49665" y="341248"/>
                </a:moveTo>
                <a:lnTo>
                  <a:pt x="198660" y="341248"/>
                </a:lnTo>
                <a:cubicBezTo>
                  <a:pt x="231770" y="341248"/>
                  <a:pt x="248325" y="324703"/>
                  <a:pt x="248325" y="291612"/>
                </a:cubicBezTo>
                <a:lnTo>
                  <a:pt x="248325" y="49636"/>
                </a:lnTo>
                <a:cubicBezTo>
                  <a:pt x="248325" y="16545"/>
                  <a:pt x="231770" y="0"/>
                  <a:pt x="198660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291612"/>
                </a:lnTo>
                <a:cubicBezTo>
                  <a:pt x="0" y="324703"/>
                  <a:pt x="16555" y="341248"/>
                  <a:pt x="49665" y="341248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46"/>
          <p:cNvSpPr/>
          <p:nvPr/>
        </p:nvSpPr>
        <p:spPr>
          <a:xfrm>
            <a:off x="2624877" y="4060079"/>
            <a:ext cx="151323" cy="255936"/>
          </a:xfrm>
          <a:custGeom>
            <a:rect b="b" l="l" r="r" t="t"/>
            <a:pathLst>
              <a:path extrusionOk="0" h="341248" w="201764">
                <a:moveTo>
                  <a:pt x="49665" y="341248"/>
                </a:moveTo>
                <a:lnTo>
                  <a:pt x="152099" y="341248"/>
                </a:lnTo>
                <a:cubicBezTo>
                  <a:pt x="185210" y="341248"/>
                  <a:pt x="201764" y="324703"/>
                  <a:pt x="201764" y="291612"/>
                </a:cubicBezTo>
                <a:lnTo>
                  <a:pt x="201764" y="49636"/>
                </a:lnTo>
                <a:cubicBezTo>
                  <a:pt x="201764" y="16545"/>
                  <a:pt x="185210" y="0"/>
                  <a:pt x="152099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291612"/>
                </a:lnTo>
                <a:cubicBezTo>
                  <a:pt x="0" y="324703"/>
                  <a:pt x="16555" y="341248"/>
                  <a:pt x="49665" y="341248"/>
                </a:cubicBezTo>
                <a:close/>
              </a:path>
            </a:pathLst>
          </a:custGeom>
          <a:solidFill>
            <a:srgbClr val="D5C5E8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46"/>
          <p:cNvSpPr/>
          <p:nvPr/>
        </p:nvSpPr>
        <p:spPr>
          <a:xfrm>
            <a:off x="349208" y="2344143"/>
            <a:ext cx="1257147" cy="221035"/>
          </a:xfrm>
          <a:custGeom>
            <a:rect b="b" l="l" r="r" t="t"/>
            <a:pathLst>
              <a:path extrusionOk="0" h="294714" w="1676196">
                <a:moveTo>
                  <a:pt x="49665" y="294715"/>
                </a:moveTo>
                <a:lnTo>
                  <a:pt x="1626532" y="294715"/>
                </a:lnTo>
                <a:cubicBezTo>
                  <a:pt x="1659642" y="294715"/>
                  <a:pt x="1676197" y="278169"/>
                  <a:pt x="1676197" y="245079"/>
                </a:cubicBezTo>
                <a:lnTo>
                  <a:pt x="1676197" y="49636"/>
                </a:lnTo>
                <a:cubicBezTo>
                  <a:pt x="1676197" y="16545"/>
                  <a:pt x="1659642" y="0"/>
                  <a:pt x="162653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245079"/>
                </a:lnTo>
                <a:cubicBezTo>
                  <a:pt x="0" y="278169"/>
                  <a:pt x="16555" y="294715"/>
                  <a:pt x="49665" y="294715"/>
                </a:cubicBezTo>
                <a:close/>
              </a:path>
            </a:pathLst>
          </a:custGeom>
          <a:solidFill>
            <a:srgbClr val="DFEAF5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46"/>
          <p:cNvSpPr/>
          <p:nvPr/>
        </p:nvSpPr>
        <p:spPr>
          <a:xfrm>
            <a:off x="349208" y="2658247"/>
            <a:ext cx="1257147" cy="221035"/>
          </a:xfrm>
          <a:custGeom>
            <a:rect b="b" l="l" r="r" t="t"/>
            <a:pathLst>
              <a:path extrusionOk="0" h="294714" w="1676196">
                <a:moveTo>
                  <a:pt x="49665" y="294714"/>
                </a:moveTo>
                <a:lnTo>
                  <a:pt x="1626532" y="294714"/>
                </a:lnTo>
                <a:cubicBezTo>
                  <a:pt x="1659642" y="294714"/>
                  <a:pt x="1676197" y="278169"/>
                  <a:pt x="1676197" y="245078"/>
                </a:cubicBezTo>
                <a:lnTo>
                  <a:pt x="1676197" y="49636"/>
                </a:lnTo>
                <a:cubicBezTo>
                  <a:pt x="1676197" y="16545"/>
                  <a:pt x="1659642" y="0"/>
                  <a:pt x="162653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245078"/>
                </a:lnTo>
                <a:cubicBezTo>
                  <a:pt x="0" y="278169"/>
                  <a:pt x="16555" y="294714"/>
                  <a:pt x="49665" y="294714"/>
                </a:cubicBezTo>
                <a:close/>
              </a:path>
            </a:pathLst>
          </a:custGeom>
          <a:solidFill>
            <a:srgbClr val="FFE49B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46"/>
          <p:cNvSpPr/>
          <p:nvPr/>
        </p:nvSpPr>
        <p:spPr>
          <a:xfrm>
            <a:off x="349208" y="2972350"/>
            <a:ext cx="1257147" cy="221035"/>
          </a:xfrm>
          <a:custGeom>
            <a:rect b="b" l="l" r="r" t="t"/>
            <a:pathLst>
              <a:path extrusionOk="0" h="294714" w="1676196">
                <a:moveTo>
                  <a:pt x="49665" y="294714"/>
                </a:moveTo>
                <a:lnTo>
                  <a:pt x="1626532" y="294714"/>
                </a:lnTo>
                <a:cubicBezTo>
                  <a:pt x="1659642" y="294714"/>
                  <a:pt x="1676197" y="278169"/>
                  <a:pt x="1676197" y="245078"/>
                </a:cubicBezTo>
                <a:lnTo>
                  <a:pt x="1676197" y="49636"/>
                </a:lnTo>
                <a:cubicBezTo>
                  <a:pt x="1676197" y="16545"/>
                  <a:pt x="1659642" y="0"/>
                  <a:pt x="1626532" y="0"/>
                </a:cubicBezTo>
                <a:lnTo>
                  <a:pt x="49665" y="0"/>
                </a:lnTo>
                <a:cubicBezTo>
                  <a:pt x="16555" y="0"/>
                  <a:pt x="0" y="16545"/>
                  <a:pt x="0" y="49636"/>
                </a:cubicBezTo>
                <a:lnTo>
                  <a:pt x="0" y="245078"/>
                </a:lnTo>
                <a:cubicBezTo>
                  <a:pt x="0" y="278169"/>
                  <a:pt x="16555" y="294714"/>
                  <a:pt x="49665" y="294714"/>
                </a:cubicBezTo>
                <a:close/>
              </a:path>
            </a:pathLst>
          </a:custGeom>
          <a:solidFill>
            <a:srgbClr val="A9CE91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46"/>
          <p:cNvSpPr/>
          <p:nvPr/>
        </p:nvSpPr>
        <p:spPr>
          <a:xfrm>
            <a:off x="5121712" y="1116812"/>
            <a:ext cx="139682" cy="139601"/>
          </a:xfrm>
          <a:custGeom>
            <a:rect b="b" l="l" r="r" t="t"/>
            <a:pathLst>
              <a:path extrusionOk="0" h="186135" w="186243">
                <a:moveTo>
                  <a:pt x="93122" y="186135"/>
                </a:moveTo>
                <a:cubicBezTo>
                  <a:pt x="117818" y="186135"/>
                  <a:pt x="141508" y="176326"/>
                  <a:pt x="158968" y="158876"/>
                </a:cubicBezTo>
                <a:cubicBezTo>
                  <a:pt x="176429" y="141426"/>
                  <a:pt x="186244" y="117749"/>
                  <a:pt x="186244" y="93068"/>
                </a:cubicBezTo>
                <a:cubicBezTo>
                  <a:pt x="186244" y="68386"/>
                  <a:pt x="176429" y="44710"/>
                  <a:pt x="158968" y="27260"/>
                </a:cubicBezTo>
                <a:cubicBezTo>
                  <a:pt x="141508" y="9809"/>
                  <a:pt x="117818" y="0"/>
                  <a:pt x="93122" y="0"/>
                </a:cubicBezTo>
                <a:cubicBezTo>
                  <a:pt x="68426" y="0"/>
                  <a:pt x="44736" y="9809"/>
                  <a:pt x="27275" y="27260"/>
                </a:cubicBezTo>
                <a:cubicBezTo>
                  <a:pt x="9815" y="44710"/>
                  <a:pt x="0" y="68386"/>
                  <a:pt x="0" y="93068"/>
                </a:cubicBezTo>
                <a:cubicBezTo>
                  <a:pt x="0" y="117749"/>
                  <a:pt x="9815" y="141426"/>
                  <a:pt x="27275" y="158876"/>
                </a:cubicBezTo>
                <a:cubicBezTo>
                  <a:pt x="44736" y="176326"/>
                  <a:pt x="68426" y="186135"/>
                  <a:pt x="93122" y="186135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46"/>
          <p:cNvSpPr/>
          <p:nvPr/>
        </p:nvSpPr>
        <p:spPr>
          <a:xfrm>
            <a:off x="5121712" y="2582629"/>
            <a:ext cx="139682" cy="139601"/>
          </a:xfrm>
          <a:custGeom>
            <a:rect b="b" l="l" r="r" t="t"/>
            <a:pathLst>
              <a:path extrusionOk="0" h="186135" w="186243">
                <a:moveTo>
                  <a:pt x="93122" y="186136"/>
                </a:moveTo>
                <a:cubicBezTo>
                  <a:pt x="117818" y="186136"/>
                  <a:pt x="141508" y="176326"/>
                  <a:pt x="158968" y="158876"/>
                </a:cubicBezTo>
                <a:cubicBezTo>
                  <a:pt x="176429" y="141426"/>
                  <a:pt x="186244" y="117749"/>
                  <a:pt x="186244" y="93068"/>
                </a:cubicBezTo>
                <a:cubicBezTo>
                  <a:pt x="186244" y="68386"/>
                  <a:pt x="176429" y="44710"/>
                  <a:pt x="158968" y="27260"/>
                </a:cubicBezTo>
                <a:cubicBezTo>
                  <a:pt x="141508" y="9809"/>
                  <a:pt x="117818" y="0"/>
                  <a:pt x="93122" y="0"/>
                </a:cubicBezTo>
                <a:cubicBezTo>
                  <a:pt x="68426" y="0"/>
                  <a:pt x="44736" y="9809"/>
                  <a:pt x="27275" y="27260"/>
                </a:cubicBezTo>
                <a:cubicBezTo>
                  <a:pt x="9815" y="44710"/>
                  <a:pt x="0" y="68386"/>
                  <a:pt x="0" y="93068"/>
                </a:cubicBezTo>
                <a:cubicBezTo>
                  <a:pt x="0" y="117749"/>
                  <a:pt x="9815" y="141426"/>
                  <a:pt x="27275" y="158876"/>
                </a:cubicBezTo>
                <a:cubicBezTo>
                  <a:pt x="44736" y="176326"/>
                  <a:pt x="68426" y="186136"/>
                  <a:pt x="93122" y="186136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46"/>
          <p:cNvSpPr/>
          <p:nvPr/>
        </p:nvSpPr>
        <p:spPr>
          <a:xfrm>
            <a:off x="2851862" y="4118247"/>
            <a:ext cx="139682" cy="139601"/>
          </a:xfrm>
          <a:custGeom>
            <a:rect b="b" l="l" r="r" t="t"/>
            <a:pathLst>
              <a:path extrusionOk="0" h="186135" w="186243">
                <a:moveTo>
                  <a:pt x="93122" y="186135"/>
                </a:moveTo>
                <a:cubicBezTo>
                  <a:pt x="117818" y="186135"/>
                  <a:pt x="141508" y="176326"/>
                  <a:pt x="158968" y="158876"/>
                </a:cubicBezTo>
                <a:cubicBezTo>
                  <a:pt x="176429" y="141425"/>
                  <a:pt x="186244" y="117749"/>
                  <a:pt x="186244" y="93067"/>
                </a:cubicBezTo>
                <a:cubicBezTo>
                  <a:pt x="186244" y="68386"/>
                  <a:pt x="176429" y="44710"/>
                  <a:pt x="158968" y="27259"/>
                </a:cubicBezTo>
                <a:cubicBezTo>
                  <a:pt x="141508" y="9809"/>
                  <a:pt x="117818" y="0"/>
                  <a:pt x="93122" y="0"/>
                </a:cubicBezTo>
                <a:cubicBezTo>
                  <a:pt x="68426" y="0"/>
                  <a:pt x="44736" y="9809"/>
                  <a:pt x="27275" y="27259"/>
                </a:cubicBezTo>
                <a:cubicBezTo>
                  <a:pt x="9815" y="44710"/>
                  <a:pt x="0" y="68386"/>
                  <a:pt x="0" y="93067"/>
                </a:cubicBezTo>
                <a:cubicBezTo>
                  <a:pt x="0" y="117749"/>
                  <a:pt x="9815" y="141425"/>
                  <a:pt x="27275" y="158876"/>
                </a:cubicBezTo>
                <a:cubicBezTo>
                  <a:pt x="44736" y="176326"/>
                  <a:pt x="68426" y="186135"/>
                  <a:pt x="93122" y="186135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24262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46"/>
          <p:cNvSpPr txBox="1"/>
          <p:nvPr/>
        </p:nvSpPr>
        <p:spPr>
          <a:xfrm>
            <a:off x="2583350" y="32670"/>
            <a:ext cx="3214283" cy="1870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8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MobilePixorNeXt + SimAM · BEV to grouped detection heads</a:t>
            </a:r>
            <a:endParaRPr sz="1100"/>
          </a:p>
        </p:txBody>
      </p:sp>
      <p:sp>
        <p:nvSpPr>
          <p:cNvPr id="1644" name="Google Shape;1644;p46"/>
          <p:cNvSpPr txBox="1"/>
          <p:nvPr/>
        </p:nvSpPr>
        <p:spPr>
          <a:xfrm>
            <a:off x="117664" y="424473"/>
            <a:ext cx="519779" cy="1601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6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Backbone</a:t>
            </a:r>
            <a:endParaRPr sz="1100"/>
          </a:p>
        </p:txBody>
      </p:sp>
      <p:grpSp>
        <p:nvGrpSpPr>
          <p:cNvPr id="1645" name="Google Shape;1645;p46"/>
          <p:cNvGrpSpPr/>
          <p:nvPr/>
        </p:nvGrpSpPr>
        <p:grpSpPr>
          <a:xfrm>
            <a:off x="82588" y="1645381"/>
            <a:ext cx="518400" cy="203061"/>
            <a:chOff x="110117" y="2193841"/>
            <a:chExt cx="691200" cy="270747"/>
          </a:xfrm>
        </p:grpSpPr>
        <p:sp>
          <p:nvSpPr>
            <p:cNvPr id="1646" name="Google Shape;1646;p46"/>
            <p:cNvSpPr txBox="1"/>
            <p:nvPr/>
          </p:nvSpPr>
          <p:spPr>
            <a:xfrm>
              <a:off x="191743" y="2193841"/>
              <a:ext cx="588600" cy="1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hist14 BEV</a:t>
              </a:r>
              <a:endParaRPr sz="1100"/>
            </a:p>
          </p:txBody>
        </p:sp>
        <p:sp>
          <p:nvSpPr>
            <p:cNvPr id="1647" name="Google Shape;1647;p46"/>
            <p:cNvSpPr txBox="1"/>
            <p:nvPr/>
          </p:nvSpPr>
          <p:spPr>
            <a:xfrm>
              <a:off x="110117" y="2284888"/>
              <a:ext cx="691200" cy="1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14 × 800 × 704</a:t>
              </a:r>
              <a:endParaRPr sz="1100"/>
            </a:p>
          </p:txBody>
        </p:sp>
      </p:grpSp>
      <p:grpSp>
        <p:nvGrpSpPr>
          <p:cNvPr id="1648" name="Google Shape;1648;p46"/>
          <p:cNvGrpSpPr/>
          <p:nvPr/>
        </p:nvGrpSpPr>
        <p:grpSpPr>
          <a:xfrm>
            <a:off x="658538" y="862800"/>
            <a:ext cx="188170" cy="697616"/>
            <a:chOff x="878051" y="1150401"/>
            <a:chExt cx="250893" cy="930155"/>
          </a:xfrm>
        </p:grpSpPr>
        <p:sp>
          <p:nvSpPr>
            <p:cNvPr id="1649" name="Google Shape;1649;p46"/>
            <p:cNvSpPr txBox="1"/>
            <p:nvPr/>
          </p:nvSpPr>
          <p:spPr>
            <a:xfrm rot="-5400000">
              <a:off x="498189" y="1530262"/>
              <a:ext cx="93015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Conv3×3, 14→32, s=2</a:t>
              </a:r>
              <a:endParaRPr sz="1100"/>
            </a:p>
          </p:txBody>
        </p:sp>
        <p:sp>
          <p:nvSpPr>
            <p:cNvPr id="1650" name="Google Shape;1650;p46"/>
            <p:cNvSpPr txBox="1"/>
            <p:nvPr/>
          </p:nvSpPr>
          <p:spPr>
            <a:xfrm rot="-5400000">
              <a:off x="776247" y="1519921"/>
              <a:ext cx="53496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sz="1100"/>
            </a:p>
          </p:txBody>
        </p:sp>
      </p:grpSp>
      <p:grpSp>
        <p:nvGrpSpPr>
          <p:cNvPr id="1651" name="Google Shape;1651;p46"/>
          <p:cNvGrpSpPr/>
          <p:nvPr/>
        </p:nvGrpSpPr>
        <p:grpSpPr>
          <a:xfrm>
            <a:off x="914623" y="862800"/>
            <a:ext cx="188171" cy="697616"/>
            <a:chOff x="1219498" y="1150401"/>
            <a:chExt cx="250894" cy="930155"/>
          </a:xfrm>
        </p:grpSpPr>
        <p:sp>
          <p:nvSpPr>
            <p:cNvPr id="1652" name="Google Shape;1652;p46"/>
            <p:cNvSpPr txBox="1"/>
            <p:nvPr/>
          </p:nvSpPr>
          <p:spPr>
            <a:xfrm rot="-5400000">
              <a:off x="839636" y="1530262"/>
              <a:ext cx="93015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Conv3×3, 32→32, s=1</a:t>
              </a:r>
              <a:endParaRPr sz="1100"/>
            </a:p>
          </p:txBody>
        </p:sp>
        <p:sp>
          <p:nvSpPr>
            <p:cNvPr id="1653" name="Google Shape;1653;p46"/>
            <p:cNvSpPr txBox="1"/>
            <p:nvPr/>
          </p:nvSpPr>
          <p:spPr>
            <a:xfrm rot="-5400000">
              <a:off x="1117695" y="1519921"/>
              <a:ext cx="53496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sz="1100"/>
            </a:p>
          </p:txBody>
        </p:sp>
      </p:grpSp>
      <p:grpSp>
        <p:nvGrpSpPr>
          <p:cNvPr id="1654" name="Google Shape;1654;p46"/>
          <p:cNvGrpSpPr/>
          <p:nvPr/>
        </p:nvGrpSpPr>
        <p:grpSpPr>
          <a:xfrm>
            <a:off x="597611" y="1653785"/>
            <a:ext cx="518400" cy="194656"/>
            <a:chOff x="796814" y="2205047"/>
            <a:chExt cx="691200" cy="259542"/>
          </a:xfrm>
        </p:grpSpPr>
        <p:sp>
          <p:nvSpPr>
            <p:cNvPr id="1655" name="Google Shape;1655;p46"/>
            <p:cNvSpPr txBox="1"/>
            <p:nvPr/>
          </p:nvSpPr>
          <p:spPr>
            <a:xfrm>
              <a:off x="940420" y="2205047"/>
              <a:ext cx="462000" cy="1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Stem /2</a:t>
              </a:r>
              <a:endParaRPr sz="1100"/>
            </a:p>
          </p:txBody>
        </p:sp>
        <p:sp>
          <p:nvSpPr>
            <p:cNvPr id="1656" name="Google Shape;1656;p46"/>
            <p:cNvSpPr txBox="1"/>
            <p:nvPr/>
          </p:nvSpPr>
          <p:spPr>
            <a:xfrm>
              <a:off x="796814" y="2284888"/>
              <a:ext cx="691200" cy="1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32 × 400 × 352</a:t>
              </a:r>
              <a:endParaRPr sz="1100"/>
            </a:p>
          </p:txBody>
        </p:sp>
      </p:grpSp>
      <p:grpSp>
        <p:nvGrpSpPr>
          <p:cNvPr id="1657" name="Google Shape;1657;p46"/>
          <p:cNvGrpSpPr/>
          <p:nvPr/>
        </p:nvGrpSpPr>
        <p:grpSpPr>
          <a:xfrm>
            <a:off x="1268584" y="862800"/>
            <a:ext cx="248511" cy="697616"/>
            <a:chOff x="1691445" y="1150401"/>
            <a:chExt cx="331347" cy="930155"/>
          </a:xfrm>
        </p:grpSpPr>
        <p:sp>
          <p:nvSpPr>
            <p:cNvPr id="1658" name="Google Shape;1658;p46"/>
            <p:cNvSpPr txBox="1"/>
            <p:nvPr/>
          </p:nvSpPr>
          <p:spPr>
            <a:xfrm rot="-5400000">
              <a:off x="1437327" y="1517307"/>
              <a:ext cx="678668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Downsample 2</a:t>
              </a:r>
              <a:endParaRPr sz="1100"/>
            </a:p>
          </p:txBody>
        </p:sp>
        <p:sp>
          <p:nvSpPr>
            <p:cNvPr id="1659" name="Google Shape;1659;p46"/>
            <p:cNvSpPr txBox="1"/>
            <p:nvPr/>
          </p:nvSpPr>
          <p:spPr>
            <a:xfrm rot="-5400000">
              <a:off x="1392038" y="1530262"/>
              <a:ext cx="93015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Conv3×3, 32→48, s=2</a:t>
              </a:r>
              <a:endParaRPr sz="1100"/>
            </a:p>
          </p:txBody>
        </p:sp>
        <p:sp>
          <p:nvSpPr>
            <p:cNvPr id="1660" name="Google Shape;1660;p46"/>
            <p:cNvSpPr txBox="1"/>
            <p:nvPr/>
          </p:nvSpPr>
          <p:spPr>
            <a:xfrm rot="-5400000">
              <a:off x="1670096" y="1519921"/>
              <a:ext cx="53496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sz="1100"/>
            </a:p>
          </p:txBody>
        </p:sp>
      </p:grpSp>
      <p:grpSp>
        <p:nvGrpSpPr>
          <p:cNvPr id="1661" name="Google Shape;1661;p46"/>
          <p:cNvGrpSpPr/>
          <p:nvPr/>
        </p:nvGrpSpPr>
        <p:grpSpPr>
          <a:xfrm>
            <a:off x="1578118" y="949078"/>
            <a:ext cx="188170" cy="483413"/>
            <a:chOff x="2104158" y="1265438"/>
            <a:chExt cx="250893" cy="644551"/>
          </a:xfrm>
        </p:grpSpPr>
        <p:sp>
          <p:nvSpPr>
            <p:cNvPr id="1662" name="Google Shape;1662;p46"/>
            <p:cNvSpPr txBox="1"/>
            <p:nvPr/>
          </p:nvSpPr>
          <p:spPr>
            <a:xfrm rot="-5400000">
              <a:off x="1885966" y="1521365"/>
              <a:ext cx="60681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NeXt block 1</a:t>
              </a:r>
              <a:endParaRPr sz="1100"/>
            </a:p>
          </p:txBody>
        </p:sp>
        <p:sp>
          <p:nvSpPr>
            <p:cNvPr id="1663" name="Google Shape;1663;p46"/>
            <p:cNvSpPr txBox="1"/>
            <p:nvPr/>
          </p:nvSpPr>
          <p:spPr>
            <a:xfrm rot="-5400000">
              <a:off x="1955649" y="1494407"/>
              <a:ext cx="62837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48→120→48</a:t>
              </a:r>
              <a:endParaRPr sz="1100"/>
            </a:p>
          </p:txBody>
        </p:sp>
      </p:grpSp>
      <p:grpSp>
        <p:nvGrpSpPr>
          <p:cNvPr id="1664" name="Google Shape;1664;p46"/>
          <p:cNvGrpSpPr/>
          <p:nvPr/>
        </p:nvGrpSpPr>
        <p:grpSpPr>
          <a:xfrm>
            <a:off x="1857484" y="949078"/>
            <a:ext cx="188170" cy="483413"/>
            <a:chOff x="2476646" y="1265438"/>
            <a:chExt cx="250893" cy="644551"/>
          </a:xfrm>
        </p:grpSpPr>
        <p:sp>
          <p:nvSpPr>
            <p:cNvPr id="1665" name="Google Shape;1665;p46"/>
            <p:cNvSpPr txBox="1"/>
            <p:nvPr/>
          </p:nvSpPr>
          <p:spPr>
            <a:xfrm rot="-5400000">
              <a:off x="2258454" y="1521365"/>
              <a:ext cx="60681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NeXt block 2</a:t>
              </a:r>
              <a:endParaRPr sz="1100"/>
            </a:p>
          </p:txBody>
        </p:sp>
        <p:sp>
          <p:nvSpPr>
            <p:cNvPr id="1666" name="Google Shape;1666;p46"/>
            <p:cNvSpPr txBox="1"/>
            <p:nvPr/>
          </p:nvSpPr>
          <p:spPr>
            <a:xfrm rot="-5400000">
              <a:off x="2328137" y="1494407"/>
              <a:ext cx="62837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48→120→48</a:t>
              </a:r>
              <a:endParaRPr sz="1100"/>
            </a:p>
          </p:txBody>
        </p:sp>
      </p:grpSp>
      <p:grpSp>
        <p:nvGrpSpPr>
          <p:cNvPr id="1667" name="Google Shape;1667;p46"/>
          <p:cNvGrpSpPr/>
          <p:nvPr/>
        </p:nvGrpSpPr>
        <p:grpSpPr>
          <a:xfrm>
            <a:off x="2136850" y="949078"/>
            <a:ext cx="188170" cy="483413"/>
            <a:chOff x="2849134" y="1265438"/>
            <a:chExt cx="250893" cy="644551"/>
          </a:xfrm>
        </p:grpSpPr>
        <p:sp>
          <p:nvSpPr>
            <p:cNvPr id="1668" name="Google Shape;1668;p46"/>
            <p:cNvSpPr txBox="1"/>
            <p:nvPr/>
          </p:nvSpPr>
          <p:spPr>
            <a:xfrm rot="-5400000">
              <a:off x="2630942" y="1521365"/>
              <a:ext cx="60681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NeXt block 3</a:t>
              </a:r>
              <a:endParaRPr sz="1100"/>
            </a:p>
          </p:txBody>
        </p:sp>
        <p:sp>
          <p:nvSpPr>
            <p:cNvPr id="1669" name="Google Shape;1669;p46"/>
            <p:cNvSpPr txBox="1"/>
            <p:nvPr/>
          </p:nvSpPr>
          <p:spPr>
            <a:xfrm rot="-5400000">
              <a:off x="2700625" y="1494407"/>
              <a:ext cx="62837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48→120→48</a:t>
              </a:r>
              <a:endParaRPr sz="1100"/>
            </a:p>
          </p:txBody>
        </p:sp>
      </p:grpSp>
      <p:grpSp>
        <p:nvGrpSpPr>
          <p:cNvPr id="1670" name="Google Shape;1670;p46"/>
          <p:cNvGrpSpPr/>
          <p:nvPr/>
        </p:nvGrpSpPr>
        <p:grpSpPr>
          <a:xfrm>
            <a:off x="2444077" y="894519"/>
            <a:ext cx="248853" cy="638337"/>
            <a:chOff x="3258770" y="1192693"/>
            <a:chExt cx="331804" cy="851116"/>
          </a:xfrm>
        </p:grpSpPr>
        <p:sp>
          <p:nvSpPr>
            <p:cNvPr id="1671" name="Google Shape;1671;p46"/>
            <p:cNvSpPr txBox="1"/>
            <p:nvPr/>
          </p:nvSpPr>
          <p:spPr>
            <a:xfrm rot="-5400000">
              <a:off x="2968725" y="1514715"/>
              <a:ext cx="75052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Residual SimAM</a:t>
              </a:r>
              <a:endParaRPr sz="1100"/>
            </a:p>
          </p:txBody>
        </p:sp>
        <p:sp>
          <p:nvSpPr>
            <p:cNvPr id="1672" name="Google Shape;1672;p46"/>
            <p:cNvSpPr txBox="1"/>
            <p:nvPr/>
          </p:nvSpPr>
          <p:spPr>
            <a:xfrm rot="-5400000">
              <a:off x="3074328" y="1526995"/>
              <a:ext cx="700224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48 × 200 × 176</a:t>
              </a:r>
              <a:endParaRPr sz="1100"/>
            </a:p>
          </p:txBody>
        </p:sp>
        <p:sp>
          <p:nvSpPr>
            <p:cNvPr id="1673" name="Google Shape;1673;p46"/>
            <p:cNvSpPr txBox="1"/>
            <p:nvPr/>
          </p:nvSpPr>
          <p:spPr>
            <a:xfrm rot="-5400000">
              <a:off x="3076210" y="1529444"/>
              <a:ext cx="851116" cy="177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λ=0.0001; β</a:t>
              </a:r>
              <a:r>
                <a:rPr lang="vi" spc="0" sz="400">
                  <a:solidFill>
                    <a:srgbClr val="242629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₀</a:t>
              </a: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=0.001</a:t>
              </a:r>
              <a:endParaRPr sz="1100"/>
            </a:p>
          </p:txBody>
        </p:sp>
      </p:grpSp>
      <p:grpSp>
        <p:nvGrpSpPr>
          <p:cNvPr id="1674" name="Google Shape;1674;p46"/>
          <p:cNvGrpSpPr/>
          <p:nvPr/>
        </p:nvGrpSpPr>
        <p:grpSpPr>
          <a:xfrm>
            <a:off x="1647554" y="1658212"/>
            <a:ext cx="708395" cy="188900"/>
            <a:chOff x="2196739" y="2210949"/>
            <a:chExt cx="944526" cy="251867"/>
          </a:xfrm>
        </p:grpSpPr>
        <p:sp>
          <p:nvSpPr>
            <p:cNvPr id="1675" name="Google Shape;1675;p46"/>
            <p:cNvSpPr txBox="1"/>
            <p:nvPr/>
          </p:nvSpPr>
          <p:spPr>
            <a:xfrm>
              <a:off x="2196739" y="2210949"/>
              <a:ext cx="944526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Stage 2 / C3 + SimAM</a:t>
              </a:r>
              <a:endParaRPr sz="1100"/>
            </a:p>
          </p:txBody>
        </p:sp>
        <p:sp>
          <p:nvSpPr>
            <p:cNvPr id="1676" name="Google Shape;1676;p46"/>
            <p:cNvSpPr txBox="1"/>
            <p:nvPr/>
          </p:nvSpPr>
          <p:spPr>
            <a:xfrm>
              <a:off x="2254279" y="2292384"/>
              <a:ext cx="786448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48 × 200 × 176 /4</a:t>
              </a:r>
              <a:endParaRPr sz="1100"/>
            </a:p>
          </p:txBody>
        </p:sp>
      </p:grpSp>
      <p:grpSp>
        <p:nvGrpSpPr>
          <p:cNvPr id="1677" name="Google Shape;1677;p46"/>
          <p:cNvGrpSpPr/>
          <p:nvPr/>
        </p:nvGrpSpPr>
        <p:grpSpPr>
          <a:xfrm>
            <a:off x="1792396" y="2328618"/>
            <a:ext cx="248511" cy="697616"/>
            <a:chOff x="2389861" y="3104823"/>
            <a:chExt cx="331347" cy="930155"/>
          </a:xfrm>
        </p:grpSpPr>
        <p:sp>
          <p:nvSpPr>
            <p:cNvPr id="1678" name="Google Shape;1678;p46"/>
            <p:cNvSpPr txBox="1"/>
            <p:nvPr/>
          </p:nvSpPr>
          <p:spPr>
            <a:xfrm rot="-5400000">
              <a:off x="2135743" y="3471730"/>
              <a:ext cx="678668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Downsample 3</a:t>
              </a:r>
              <a:endParaRPr sz="1100"/>
            </a:p>
          </p:txBody>
        </p:sp>
        <p:sp>
          <p:nvSpPr>
            <p:cNvPr id="1679" name="Google Shape;1679;p46"/>
            <p:cNvSpPr txBox="1"/>
            <p:nvPr/>
          </p:nvSpPr>
          <p:spPr>
            <a:xfrm rot="-5400000">
              <a:off x="2090453" y="3484685"/>
              <a:ext cx="93015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Conv3×3, 48→96, s=2</a:t>
              </a:r>
              <a:endParaRPr sz="1100"/>
            </a:p>
          </p:txBody>
        </p:sp>
        <p:sp>
          <p:nvSpPr>
            <p:cNvPr id="1680" name="Google Shape;1680;p46"/>
            <p:cNvSpPr txBox="1"/>
            <p:nvPr/>
          </p:nvSpPr>
          <p:spPr>
            <a:xfrm rot="-5400000">
              <a:off x="2368512" y="3474344"/>
              <a:ext cx="53496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sz="1100"/>
            </a:p>
          </p:txBody>
        </p:sp>
      </p:grpSp>
      <p:grpSp>
        <p:nvGrpSpPr>
          <p:cNvPr id="1681" name="Google Shape;1681;p46"/>
          <p:cNvGrpSpPr/>
          <p:nvPr/>
        </p:nvGrpSpPr>
        <p:grpSpPr>
          <a:xfrm>
            <a:off x="2101929" y="2414895"/>
            <a:ext cx="188170" cy="483413"/>
            <a:chOff x="2802573" y="3219860"/>
            <a:chExt cx="250893" cy="644551"/>
          </a:xfrm>
        </p:grpSpPr>
        <p:sp>
          <p:nvSpPr>
            <p:cNvPr id="1682" name="Google Shape;1682;p46"/>
            <p:cNvSpPr txBox="1"/>
            <p:nvPr/>
          </p:nvSpPr>
          <p:spPr>
            <a:xfrm rot="-5400000">
              <a:off x="2584381" y="3475787"/>
              <a:ext cx="60681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NeXt block 1</a:t>
              </a:r>
              <a:endParaRPr sz="1100"/>
            </a:p>
          </p:txBody>
        </p:sp>
        <p:sp>
          <p:nvSpPr>
            <p:cNvPr id="1683" name="Google Shape;1683;p46"/>
            <p:cNvSpPr txBox="1"/>
            <p:nvPr/>
          </p:nvSpPr>
          <p:spPr>
            <a:xfrm rot="-5400000">
              <a:off x="2654064" y="3448829"/>
              <a:ext cx="62837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96→240→96</a:t>
              </a:r>
              <a:endParaRPr sz="1100"/>
            </a:p>
          </p:txBody>
        </p:sp>
      </p:grpSp>
      <p:grpSp>
        <p:nvGrpSpPr>
          <p:cNvPr id="1684" name="Google Shape;1684;p46"/>
          <p:cNvGrpSpPr/>
          <p:nvPr/>
        </p:nvGrpSpPr>
        <p:grpSpPr>
          <a:xfrm>
            <a:off x="2381295" y="2414895"/>
            <a:ext cx="188170" cy="483413"/>
            <a:chOff x="3175061" y="3219860"/>
            <a:chExt cx="250893" cy="644551"/>
          </a:xfrm>
        </p:grpSpPr>
        <p:sp>
          <p:nvSpPr>
            <p:cNvPr id="1685" name="Google Shape;1685;p46"/>
            <p:cNvSpPr txBox="1"/>
            <p:nvPr/>
          </p:nvSpPr>
          <p:spPr>
            <a:xfrm rot="-5400000">
              <a:off x="2956869" y="3475787"/>
              <a:ext cx="60681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NeXt block 2</a:t>
              </a:r>
              <a:endParaRPr sz="1100"/>
            </a:p>
          </p:txBody>
        </p:sp>
        <p:sp>
          <p:nvSpPr>
            <p:cNvPr id="1686" name="Google Shape;1686;p46"/>
            <p:cNvSpPr txBox="1"/>
            <p:nvPr/>
          </p:nvSpPr>
          <p:spPr>
            <a:xfrm rot="-5400000">
              <a:off x="3026552" y="3448829"/>
              <a:ext cx="62837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96→240→96</a:t>
              </a:r>
              <a:endParaRPr sz="1100"/>
            </a:p>
          </p:txBody>
        </p:sp>
      </p:grpSp>
      <p:grpSp>
        <p:nvGrpSpPr>
          <p:cNvPr id="1687" name="Google Shape;1687;p46"/>
          <p:cNvGrpSpPr/>
          <p:nvPr/>
        </p:nvGrpSpPr>
        <p:grpSpPr>
          <a:xfrm>
            <a:off x="2660661" y="2414895"/>
            <a:ext cx="188171" cy="483413"/>
            <a:chOff x="3547549" y="3219860"/>
            <a:chExt cx="250894" cy="644551"/>
          </a:xfrm>
        </p:grpSpPr>
        <p:sp>
          <p:nvSpPr>
            <p:cNvPr id="1688" name="Google Shape;1688;p46"/>
            <p:cNvSpPr txBox="1"/>
            <p:nvPr/>
          </p:nvSpPr>
          <p:spPr>
            <a:xfrm rot="-5400000">
              <a:off x="3329357" y="3475787"/>
              <a:ext cx="60681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NeXt block 3</a:t>
              </a:r>
              <a:endParaRPr sz="1100"/>
            </a:p>
          </p:txBody>
        </p:sp>
        <p:sp>
          <p:nvSpPr>
            <p:cNvPr id="1689" name="Google Shape;1689;p46"/>
            <p:cNvSpPr txBox="1"/>
            <p:nvPr/>
          </p:nvSpPr>
          <p:spPr>
            <a:xfrm rot="-5400000">
              <a:off x="3399041" y="3448829"/>
              <a:ext cx="62837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96→240→96</a:t>
              </a:r>
              <a:endParaRPr sz="1100"/>
            </a:p>
          </p:txBody>
        </p:sp>
      </p:grpSp>
      <p:grpSp>
        <p:nvGrpSpPr>
          <p:cNvPr id="1690" name="Google Shape;1690;p46"/>
          <p:cNvGrpSpPr/>
          <p:nvPr/>
        </p:nvGrpSpPr>
        <p:grpSpPr>
          <a:xfrm>
            <a:off x="2940027" y="2414895"/>
            <a:ext cx="188171" cy="483413"/>
            <a:chOff x="3920037" y="3219860"/>
            <a:chExt cx="250894" cy="644551"/>
          </a:xfrm>
        </p:grpSpPr>
        <p:sp>
          <p:nvSpPr>
            <p:cNvPr id="1691" name="Google Shape;1691;p46"/>
            <p:cNvSpPr txBox="1"/>
            <p:nvPr/>
          </p:nvSpPr>
          <p:spPr>
            <a:xfrm rot="-5400000">
              <a:off x="3701845" y="3475787"/>
              <a:ext cx="60681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NeXt block 4</a:t>
              </a:r>
              <a:endParaRPr sz="1100"/>
            </a:p>
          </p:txBody>
        </p:sp>
        <p:sp>
          <p:nvSpPr>
            <p:cNvPr id="1692" name="Google Shape;1692;p46"/>
            <p:cNvSpPr txBox="1"/>
            <p:nvPr/>
          </p:nvSpPr>
          <p:spPr>
            <a:xfrm rot="-5400000">
              <a:off x="3771529" y="3448829"/>
              <a:ext cx="62837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96→240→96</a:t>
              </a:r>
              <a:endParaRPr sz="1100"/>
            </a:p>
          </p:txBody>
        </p:sp>
      </p:grpSp>
      <p:grpSp>
        <p:nvGrpSpPr>
          <p:cNvPr id="1693" name="Google Shape;1693;p46"/>
          <p:cNvGrpSpPr/>
          <p:nvPr/>
        </p:nvGrpSpPr>
        <p:grpSpPr>
          <a:xfrm>
            <a:off x="3247357" y="2354076"/>
            <a:ext cx="248515" cy="643726"/>
            <a:chOff x="4329810" y="3138768"/>
            <a:chExt cx="331353" cy="858302"/>
          </a:xfrm>
        </p:grpSpPr>
        <p:sp>
          <p:nvSpPr>
            <p:cNvPr id="1694" name="Google Shape;1694;p46"/>
            <p:cNvSpPr txBox="1"/>
            <p:nvPr/>
          </p:nvSpPr>
          <p:spPr>
            <a:xfrm rot="-5400000">
              <a:off x="4090062" y="3469511"/>
              <a:ext cx="649927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Focal Context</a:t>
              </a:r>
              <a:endParaRPr sz="1100"/>
            </a:p>
          </p:txBody>
        </p:sp>
        <p:sp>
          <p:nvSpPr>
            <p:cNvPr id="1695" name="Google Shape;1695;p46"/>
            <p:cNvSpPr txBox="1"/>
            <p:nvPr/>
          </p:nvSpPr>
          <p:spPr>
            <a:xfrm rot="-5400000">
              <a:off x="4066336" y="3482703"/>
              <a:ext cx="85830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D=64; dilation 1,2,3</a:t>
              </a:r>
              <a:endParaRPr sz="1100"/>
            </a:p>
          </p:txBody>
        </p:sp>
        <p:sp>
          <p:nvSpPr>
            <p:cNvPr id="1696" name="Google Shape;1696;p46"/>
            <p:cNvSpPr txBox="1"/>
            <p:nvPr/>
          </p:nvSpPr>
          <p:spPr>
            <a:xfrm rot="-5400000">
              <a:off x="4330024" y="3465698"/>
              <a:ext cx="484664" cy="177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γ</a:t>
              </a:r>
              <a:r>
                <a:rPr lang="vi" spc="0" sz="400">
                  <a:solidFill>
                    <a:srgbClr val="242629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₀</a:t>
              </a: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=0.001</a:t>
              </a:r>
              <a:endParaRPr sz="1100"/>
            </a:p>
          </p:txBody>
        </p:sp>
      </p:grpSp>
      <p:grpSp>
        <p:nvGrpSpPr>
          <p:cNvPr id="1697" name="Google Shape;1697;p46"/>
          <p:cNvGrpSpPr/>
          <p:nvPr/>
        </p:nvGrpSpPr>
        <p:grpSpPr>
          <a:xfrm>
            <a:off x="2314751" y="3146913"/>
            <a:ext cx="557502" cy="188900"/>
            <a:chOff x="3086335" y="4195884"/>
            <a:chExt cx="743336" cy="251867"/>
          </a:xfrm>
        </p:grpSpPr>
        <p:sp>
          <p:nvSpPr>
            <p:cNvPr id="1698" name="Google Shape;1698;p46"/>
            <p:cNvSpPr txBox="1"/>
            <p:nvPr/>
          </p:nvSpPr>
          <p:spPr>
            <a:xfrm>
              <a:off x="3204167" y="4195884"/>
              <a:ext cx="60681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Stage 3 / C4</a:t>
              </a:r>
              <a:endParaRPr sz="1100"/>
            </a:p>
          </p:txBody>
        </p:sp>
        <p:sp>
          <p:nvSpPr>
            <p:cNvPr id="1699" name="Google Shape;1699;p46"/>
            <p:cNvSpPr txBox="1"/>
            <p:nvPr/>
          </p:nvSpPr>
          <p:spPr>
            <a:xfrm>
              <a:off x="3086335" y="4277319"/>
              <a:ext cx="743336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96 × 100 × 88 /8</a:t>
              </a:r>
              <a:endParaRPr sz="1100"/>
            </a:p>
          </p:txBody>
        </p:sp>
      </p:grpSp>
      <p:grpSp>
        <p:nvGrpSpPr>
          <p:cNvPr id="1700" name="Google Shape;1700;p46"/>
          <p:cNvGrpSpPr/>
          <p:nvPr/>
        </p:nvGrpSpPr>
        <p:grpSpPr>
          <a:xfrm>
            <a:off x="3247427" y="3686179"/>
            <a:ext cx="248511" cy="729950"/>
            <a:chOff x="4329903" y="4914906"/>
            <a:chExt cx="331347" cy="973267"/>
          </a:xfrm>
        </p:grpSpPr>
        <p:sp>
          <p:nvSpPr>
            <p:cNvPr id="1701" name="Google Shape;1701;p46"/>
            <p:cNvSpPr txBox="1"/>
            <p:nvPr/>
          </p:nvSpPr>
          <p:spPr>
            <a:xfrm rot="-5400000">
              <a:off x="4075785" y="5302062"/>
              <a:ext cx="678668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Downsample 4</a:t>
              </a:r>
              <a:endParaRPr sz="1100"/>
            </a:p>
          </p:txBody>
        </p:sp>
        <p:sp>
          <p:nvSpPr>
            <p:cNvPr id="1702" name="Google Shape;1702;p46"/>
            <p:cNvSpPr txBox="1"/>
            <p:nvPr/>
          </p:nvSpPr>
          <p:spPr>
            <a:xfrm rot="-5400000">
              <a:off x="4008940" y="5316323"/>
              <a:ext cx="973267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Conv3×3, 96→128, s=2</a:t>
              </a:r>
              <a:endParaRPr sz="1100"/>
            </a:p>
          </p:txBody>
        </p:sp>
        <p:sp>
          <p:nvSpPr>
            <p:cNvPr id="1703" name="Google Shape;1703;p46"/>
            <p:cNvSpPr txBox="1"/>
            <p:nvPr/>
          </p:nvSpPr>
          <p:spPr>
            <a:xfrm rot="-5400000">
              <a:off x="4308554" y="5304676"/>
              <a:ext cx="53496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sz="1100"/>
            </a:p>
          </p:txBody>
        </p:sp>
      </p:grpSp>
      <p:grpSp>
        <p:nvGrpSpPr>
          <p:cNvPr id="1704" name="Google Shape;1704;p46"/>
          <p:cNvGrpSpPr/>
          <p:nvPr/>
        </p:nvGrpSpPr>
        <p:grpSpPr>
          <a:xfrm>
            <a:off x="3568602" y="3757265"/>
            <a:ext cx="188170" cy="535946"/>
            <a:chOff x="4758136" y="5009687"/>
            <a:chExt cx="250893" cy="714595"/>
          </a:xfrm>
        </p:grpSpPr>
        <p:sp>
          <p:nvSpPr>
            <p:cNvPr id="1705" name="Google Shape;1705;p46"/>
            <p:cNvSpPr txBox="1"/>
            <p:nvPr/>
          </p:nvSpPr>
          <p:spPr>
            <a:xfrm rot="-5400000">
              <a:off x="4539944" y="5306119"/>
              <a:ext cx="60681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NeXt block 1</a:t>
              </a:r>
              <a:endParaRPr sz="1100"/>
            </a:p>
          </p:txBody>
        </p:sp>
        <p:sp>
          <p:nvSpPr>
            <p:cNvPr id="1706" name="Google Shape;1706;p46"/>
            <p:cNvSpPr txBox="1"/>
            <p:nvPr/>
          </p:nvSpPr>
          <p:spPr>
            <a:xfrm rot="-5400000">
              <a:off x="4566515" y="5281768"/>
              <a:ext cx="71459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128→320→128</a:t>
              </a:r>
              <a:endParaRPr sz="1100"/>
            </a:p>
          </p:txBody>
        </p:sp>
      </p:grpSp>
      <p:grpSp>
        <p:nvGrpSpPr>
          <p:cNvPr id="1707" name="Google Shape;1707;p46"/>
          <p:cNvGrpSpPr/>
          <p:nvPr/>
        </p:nvGrpSpPr>
        <p:grpSpPr>
          <a:xfrm>
            <a:off x="3859608" y="3757265"/>
            <a:ext cx="188170" cy="535946"/>
            <a:chOff x="5146144" y="5009687"/>
            <a:chExt cx="250893" cy="714595"/>
          </a:xfrm>
        </p:grpSpPr>
        <p:sp>
          <p:nvSpPr>
            <p:cNvPr id="1708" name="Google Shape;1708;p46"/>
            <p:cNvSpPr txBox="1"/>
            <p:nvPr/>
          </p:nvSpPr>
          <p:spPr>
            <a:xfrm rot="-5400000">
              <a:off x="4927952" y="5306119"/>
              <a:ext cx="60681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NeXt block 2</a:t>
              </a:r>
              <a:endParaRPr sz="1100"/>
            </a:p>
          </p:txBody>
        </p:sp>
        <p:sp>
          <p:nvSpPr>
            <p:cNvPr id="1709" name="Google Shape;1709;p46"/>
            <p:cNvSpPr txBox="1"/>
            <p:nvPr/>
          </p:nvSpPr>
          <p:spPr>
            <a:xfrm rot="-5400000">
              <a:off x="4954523" y="5281768"/>
              <a:ext cx="71459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128→320→128</a:t>
              </a:r>
              <a:endParaRPr sz="1100"/>
            </a:p>
          </p:txBody>
        </p:sp>
      </p:grpSp>
      <p:grpSp>
        <p:nvGrpSpPr>
          <p:cNvPr id="1710" name="Google Shape;1710;p46"/>
          <p:cNvGrpSpPr/>
          <p:nvPr/>
        </p:nvGrpSpPr>
        <p:grpSpPr>
          <a:xfrm>
            <a:off x="3279213" y="4556751"/>
            <a:ext cx="648820" cy="207790"/>
            <a:chOff x="4411606" y="6088261"/>
            <a:chExt cx="786448" cy="251867"/>
          </a:xfrm>
        </p:grpSpPr>
        <p:sp>
          <p:nvSpPr>
            <p:cNvPr id="1711" name="Google Shape;1711;p46"/>
            <p:cNvSpPr txBox="1"/>
            <p:nvPr/>
          </p:nvSpPr>
          <p:spPr>
            <a:xfrm>
              <a:off x="4554436" y="6088261"/>
              <a:ext cx="606815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Stage 4 / C5</a:t>
              </a:r>
              <a:endParaRPr sz="1100"/>
            </a:p>
          </p:txBody>
        </p:sp>
        <p:sp>
          <p:nvSpPr>
            <p:cNvPr id="1712" name="Google Shape;1712;p46"/>
            <p:cNvSpPr txBox="1"/>
            <p:nvPr/>
          </p:nvSpPr>
          <p:spPr>
            <a:xfrm>
              <a:off x="4411606" y="6169696"/>
              <a:ext cx="786448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128 × 50 × 44 /16</a:t>
              </a:r>
              <a:endParaRPr sz="1100"/>
            </a:p>
          </p:txBody>
        </p:sp>
      </p:grpSp>
      <p:grpSp>
        <p:nvGrpSpPr>
          <p:cNvPr id="1713" name="Google Shape;1713;p46"/>
          <p:cNvGrpSpPr/>
          <p:nvPr/>
        </p:nvGrpSpPr>
        <p:grpSpPr>
          <a:xfrm>
            <a:off x="4367045" y="926354"/>
            <a:ext cx="221256" cy="512550"/>
            <a:chOff x="5822726" y="1235138"/>
            <a:chExt cx="295007" cy="683400"/>
          </a:xfrm>
        </p:grpSpPr>
        <p:sp>
          <p:nvSpPr>
            <p:cNvPr id="1714" name="Google Shape;1714;p46"/>
            <p:cNvSpPr txBox="1"/>
            <p:nvPr/>
          </p:nvSpPr>
          <p:spPr>
            <a:xfrm rot="-5400000">
              <a:off x="5578676" y="1479188"/>
              <a:ext cx="683400" cy="1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5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L3: Conv1×1</a:t>
              </a:r>
              <a:endParaRPr sz="1100"/>
            </a:p>
          </p:txBody>
        </p:sp>
        <p:sp>
          <p:nvSpPr>
            <p:cNvPr id="1715" name="Google Shape;1715;p46"/>
            <p:cNvSpPr txBox="1"/>
            <p:nvPr/>
          </p:nvSpPr>
          <p:spPr>
            <a:xfrm rot="-5400000">
              <a:off x="5781133" y="1466247"/>
              <a:ext cx="477900" cy="1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5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48→32</a:t>
              </a:r>
              <a:endParaRPr sz="1100"/>
            </a:p>
          </p:txBody>
        </p:sp>
      </p:grpSp>
      <p:sp>
        <p:nvSpPr>
          <p:cNvPr id="1716" name="Google Shape;1716;p46"/>
          <p:cNvSpPr txBox="1"/>
          <p:nvPr/>
        </p:nvSpPr>
        <p:spPr>
          <a:xfrm>
            <a:off x="5096028" y="1107012"/>
            <a:ext cx="191050" cy="1493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100"/>
          </a:p>
        </p:txBody>
      </p:sp>
      <p:sp>
        <p:nvSpPr>
          <p:cNvPr id="1717" name="Google Shape;1717;p46"/>
          <p:cNvSpPr txBox="1"/>
          <p:nvPr/>
        </p:nvSpPr>
        <p:spPr>
          <a:xfrm>
            <a:off x="4936622" y="944208"/>
            <a:ext cx="207217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1100"/>
          </a:p>
        </p:txBody>
      </p:sp>
      <p:grpSp>
        <p:nvGrpSpPr>
          <p:cNvPr id="1718" name="Google Shape;1718;p46"/>
          <p:cNvGrpSpPr/>
          <p:nvPr/>
        </p:nvGrpSpPr>
        <p:grpSpPr>
          <a:xfrm>
            <a:off x="4354467" y="2343147"/>
            <a:ext cx="240779" cy="620325"/>
            <a:chOff x="5805956" y="3124196"/>
            <a:chExt cx="321039" cy="827100"/>
          </a:xfrm>
        </p:grpSpPr>
        <p:sp>
          <p:nvSpPr>
            <p:cNvPr id="1719" name="Google Shape;1719;p46"/>
            <p:cNvSpPr txBox="1"/>
            <p:nvPr/>
          </p:nvSpPr>
          <p:spPr>
            <a:xfrm rot="-5400000">
              <a:off x="5510606" y="3419546"/>
              <a:ext cx="8271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6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L4: Conv1×1</a:t>
              </a:r>
              <a:endParaRPr sz="1200"/>
            </a:p>
          </p:txBody>
        </p:sp>
        <p:sp>
          <p:nvSpPr>
            <p:cNvPr id="1720" name="Google Shape;1720;p46"/>
            <p:cNvSpPr txBox="1"/>
            <p:nvPr/>
          </p:nvSpPr>
          <p:spPr>
            <a:xfrm rot="-5400000">
              <a:off x="5756795" y="3423117"/>
              <a:ext cx="5256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6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96→48</a:t>
              </a:r>
              <a:endParaRPr sz="1200"/>
            </a:p>
          </p:txBody>
        </p:sp>
      </p:grpSp>
      <p:sp>
        <p:nvSpPr>
          <p:cNvPr id="1721" name="Google Shape;1721;p46"/>
          <p:cNvSpPr txBox="1"/>
          <p:nvPr/>
        </p:nvSpPr>
        <p:spPr>
          <a:xfrm>
            <a:off x="5096028" y="2572828"/>
            <a:ext cx="191050" cy="1493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100"/>
          </a:p>
        </p:txBody>
      </p:sp>
      <p:sp>
        <p:nvSpPr>
          <p:cNvPr id="1722" name="Google Shape;1722;p46"/>
          <p:cNvSpPr txBox="1"/>
          <p:nvPr/>
        </p:nvSpPr>
        <p:spPr>
          <a:xfrm>
            <a:off x="4936622" y="2410024"/>
            <a:ext cx="207217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1100"/>
          </a:p>
        </p:txBody>
      </p:sp>
      <p:grpSp>
        <p:nvGrpSpPr>
          <p:cNvPr id="1723" name="Google Shape;1723;p46"/>
          <p:cNvGrpSpPr/>
          <p:nvPr/>
        </p:nvGrpSpPr>
        <p:grpSpPr>
          <a:xfrm>
            <a:off x="4354467" y="3718520"/>
            <a:ext cx="243403" cy="620325"/>
            <a:chOff x="5805956" y="4958026"/>
            <a:chExt cx="324538" cy="827100"/>
          </a:xfrm>
        </p:grpSpPr>
        <p:sp>
          <p:nvSpPr>
            <p:cNvPr id="1724" name="Google Shape;1724;p46"/>
            <p:cNvSpPr txBox="1"/>
            <p:nvPr/>
          </p:nvSpPr>
          <p:spPr>
            <a:xfrm rot="-5400000">
              <a:off x="5510606" y="5253376"/>
              <a:ext cx="8271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6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L5: Conv1×1</a:t>
              </a:r>
              <a:endParaRPr sz="1200"/>
            </a:p>
          </p:txBody>
        </p:sp>
        <p:sp>
          <p:nvSpPr>
            <p:cNvPr id="1725" name="Google Shape;1725;p46"/>
            <p:cNvSpPr txBox="1"/>
            <p:nvPr/>
          </p:nvSpPr>
          <p:spPr>
            <a:xfrm rot="-5400000">
              <a:off x="5734194" y="5253523"/>
              <a:ext cx="577800" cy="2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6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128→48</a:t>
              </a:r>
              <a:endParaRPr sz="700"/>
            </a:p>
          </p:txBody>
        </p:sp>
      </p:grpSp>
      <p:grpSp>
        <p:nvGrpSpPr>
          <p:cNvPr id="1726" name="Google Shape;1726;p46"/>
          <p:cNvGrpSpPr/>
          <p:nvPr/>
        </p:nvGrpSpPr>
        <p:grpSpPr>
          <a:xfrm>
            <a:off x="4818482" y="3204689"/>
            <a:ext cx="746325" cy="327679"/>
            <a:chOff x="6424643" y="4272918"/>
            <a:chExt cx="995100" cy="436906"/>
          </a:xfrm>
        </p:grpSpPr>
        <p:sp>
          <p:nvSpPr>
            <p:cNvPr id="1727" name="Google Shape;1727;p46"/>
            <p:cNvSpPr txBox="1"/>
            <p:nvPr/>
          </p:nvSpPr>
          <p:spPr>
            <a:xfrm>
              <a:off x="6623051" y="4272918"/>
              <a:ext cx="594900" cy="1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5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Bilinear ↑2</a:t>
              </a:r>
              <a:endParaRPr sz="1200"/>
            </a:p>
          </p:txBody>
        </p:sp>
        <p:sp>
          <p:nvSpPr>
            <p:cNvPr id="1728" name="Google Shape;1728;p46"/>
            <p:cNvSpPr txBox="1"/>
            <p:nvPr/>
          </p:nvSpPr>
          <p:spPr>
            <a:xfrm>
              <a:off x="6424643" y="4383774"/>
              <a:ext cx="995100" cy="1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5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DWConv3×3, 48→48</a:t>
              </a:r>
              <a:endParaRPr sz="1200"/>
            </a:p>
          </p:txBody>
        </p:sp>
        <p:sp>
          <p:nvSpPr>
            <p:cNvPr id="1729" name="Google Shape;1729;p46"/>
            <p:cNvSpPr txBox="1"/>
            <p:nvPr/>
          </p:nvSpPr>
          <p:spPr>
            <a:xfrm>
              <a:off x="6616584" y="4512124"/>
              <a:ext cx="603900" cy="1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5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sz="1200"/>
            </a:p>
          </p:txBody>
        </p:sp>
      </p:grpSp>
      <p:grpSp>
        <p:nvGrpSpPr>
          <p:cNvPr id="1730" name="Google Shape;1730;p46"/>
          <p:cNvGrpSpPr/>
          <p:nvPr/>
        </p:nvGrpSpPr>
        <p:grpSpPr>
          <a:xfrm>
            <a:off x="4867968" y="1743982"/>
            <a:ext cx="641925" cy="337864"/>
            <a:chOff x="6490623" y="2325310"/>
            <a:chExt cx="855900" cy="450485"/>
          </a:xfrm>
        </p:grpSpPr>
        <p:sp>
          <p:nvSpPr>
            <p:cNvPr id="1731" name="Google Shape;1731;p46"/>
            <p:cNvSpPr txBox="1"/>
            <p:nvPr/>
          </p:nvSpPr>
          <p:spPr>
            <a:xfrm>
              <a:off x="6625181" y="2325310"/>
              <a:ext cx="594900" cy="1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5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Bilinear ↑2</a:t>
              </a:r>
              <a:endParaRPr sz="1200"/>
            </a:p>
          </p:txBody>
        </p:sp>
        <p:sp>
          <p:nvSpPr>
            <p:cNvPr id="1732" name="Google Shape;1732;p46"/>
            <p:cNvSpPr txBox="1"/>
            <p:nvPr/>
          </p:nvSpPr>
          <p:spPr>
            <a:xfrm>
              <a:off x="6490623" y="2472387"/>
              <a:ext cx="855900" cy="1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5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Conv3×3, 48→32</a:t>
              </a:r>
              <a:endParaRPr sz="1200"/>
            </a:p>
          </p:txBody>
        </p:sp>
        <p:sp>
          <p:nvSpPr>
            <p:cNvPr id="1733" name="Google Shape;1733;p46"/>
            <p:cNvSpPr txBox="1"/>
            <p:nvPr/>
          </p:nvSpPr>
          <p:spPr>
            <a:xfrm>
              <a:off x="6621525" y="2578395"/>
              <a:ext cx="603600" cy="1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5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sz="1200"/>
            </a:p>
          </p:txBody>
        </p:sp>
      </p:grpSp>
      <p:grpSp>
        <p:nvGrpSpPr>
          <p:cNvPr id="1734" name="Google Shape;1734;p46"/>
          <p:cNvGrpSpPr/>
          <p:nvPr/>
        </p:nvGrpSpPr>
        <p:grpSpPr>
          <a:xfrm>
            <a:off x="5477603" y="801100"/>
            <a:ext cx="188157" cy="767700"/>
            <a:chOff x="7303471" y="1068133"/>
            <a:chExt cx="250876" cy="1023600"/>
          </a:xfrm>
        </p:grpSpPr>
        <p:sp>
          <p:nvSpPr>
            <p:cNvPr id="1735" name="Google Shape;1735;p46"/>
            <p:cNvSpPr txBox="1"/>
            <p:nvPr/>
          </p:nvSpPr>
          <p:spPr>
            <a:xfrm rot="-5400000">
              <a:off x="6876871" y="1494733"/>
              <a:ext cx="1023600" cy="17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Output Conv3×3, 32→32</a:t>
              </a:r>
              <a:endParaRPr sz="1100"/>
            </a:p>
          </p:txBody>
        </p:sp>
        <p:sp>
          <p:nvSpPr>
            <p:cNvPr id="1736" name="Google Shape;1736;p46"/>
            <p:cNvSpPr txBox="1"/>
            <p:nvPr/>
          </p:nvSpPr>
          <p:spPr>
            <a:xfrm rot="-5400000">
              <a:off x="7201697" y="1493820"/>
              <a:ext cx="534900" cy="17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BN + SiLU</a:t>
              </a:r>
              <a:endParaRPr sz="1100"/>
            </a:p>
          </p:txBody>
        </p:sp>
      </p:grpSp>
      <p:sp>
        <p:nvSpPr>
          <p:cNvPr id="1737" name="Google Shape;1737;p46"/>
          <p:cNvSpPr txBox="1"/>
          <p:nvPr/>
        </p:nvSpPr>
        <p:spPr>
          <a:xfrm>
            <a:off x="6450541" y="2659085"/>
            <a:ext cx="12534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Shared backbone features: 32 × 200 × 176</a:t>
            </a:r>
            <a:endParaRPr sz="1100"/>
          </a:p>
        </p:txBody>
      </p:sp>
      <p:sp>
        <p:nvSpPr>
          <p:cNvPr id="1738" name="Google Shape;1738;p46"/>
          <p:cNvSpPr txBox="1"/>
          <p:nvPr/>
        </p:nvSpPr>
        <p:spPr>
          <a:xfrm>
            <a:off x="5891230" y="424473"/>
            <a:ext cx="622170" cy="1601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6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Group 1: Car</a:t>
            </a:r>
            <a:endParaRPr sz="1100"/>
          </a:p>
        </p:txBody>
      </p:sp>
      <p:sp>
        <p:nvSpPr>
          <p:cNvPr id="1739" name="Google Shape;1739;p46"/>
          <p:cNvSpPr txBox="1"/>
          <p:nvPr/>
        </p:nvSpPr>
        <p:spPr>
          <a:xfrm>
            <a:off x="6477109" y="599961"/>
            <a:ext cx="12120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K=1 · five independent prediction branches</a:t>
            </a:r>
            <a:endParaRPr sz="1100"/>
          </a:p>
        </p:txBody>
      </p:sp>
      <p:sp>
        <p:nvSpPr>
          <p:cNvPr id="1740" name="Google Shape;1740;p46"/>
          <p:cNvSpPr txBox="1"/>
          <p:nvPr/>
        </p:nvSpPr>
        <p:spPr>
          <a:xfrm>
            <a:off x="6524977" y="851141"/>
            <a:ext cx="266496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741" name="Google Shape;1741;p46"/>
          <p:cNvGrpSpPr/>
          <p:nvPr/>
        </p:nvGrpSpPr>
        <p:grpSpPr>
          <a:xfrm>
            <a:off x="7129731" y="820984"/>
            <a:ext cx="492834" cy="188135"/>
            <a:chOff x="9506308" y="1094646"/>
            <a:chExt cx="657112" cy="250847"/>
          </a:xfrm>
        </p:grpSpPr>
        <p:sp>
          <p:nvSpPr>
            <p:cNvPr id="1742" name="Google Shape;1742;p46"/>
            <p:cNvSpPr txBox="1"/>
            <p:nvPr/>
          </p:nvSpPr>
          <p:spPr>
            <a:xfrm>
              <a:off x="9506308" y="1094646"/>
              <a:ext cx="491849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Heatmap</a:t>
              </a:r>
              <a:endParaRPr sz="1100"/>
            </a:p>
          </p:txBody>
        </p:sp>
        <p:sp>
          <p:nvSpPr>
            <p:cNvPr id="1743" name="Google Shape;1743;p46"/>
            <p:cNvSpPr txBox="1"/>
            <p:nvPr/>
          </p:nvSpPr>
          <p:spPr>
            <a:xfrm>
              <a:off x="9506308" y="1175061"/>
              <a:ext cx="65711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1 × 200 × 176</a:t>
              </a:r>
              <a:endParaRPr sz="1100"/>
            </a:p>
          </p:txBody>
        </p:sp>
      </p:grpSp>
      <p:sp>
        <p:nvSpPr>
          <p:cNvPr id="1744" name="Google Shape;1744;p46"/>
          <p:cNvSpPr txBox="1"/>
          <p:nvPr/>
        </p:nvSpPr>
        <p:spPr>
          <a:xfrm>
            <a:off x="6524977" y="1165244"/>
            <a:ext cx="266496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745" name="Google Shape;1745;p46"/>
          <p:cNvGrpSpPr/>
          <p:nvPr/>
        </p:nvGrpSpPr>
        <p:grpSpPr>
          <a:xfrm>
            <a:off x="7129731" y="1135088"/>
            <a:ext cx="492834" cy="188135"/>
            <a:chOff x="9506308" y="1513451"/>
            <a:chExt cx="657112" cy="250847"/>
          </a:xfrm>
        </p:grpSpPr>
        <p:sp>
          <p:nvSpPr>
            <p:cNvPr id="1746" name="Google Shape;1746;p46"/>
            <p:cNvSpPr txBox="1"/>
            <p:nvPr/>
          </p:nvSpPr>
          <p:spPr>
            <a:xfrm>
              <a:off x="9506308" y="1513451"/>
              <a:ext cx="376884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Offset</a:t>
              </a:r>
              <a:endParaRPr sz="1100"/>
            </a:p>
          </p:txBody>
        </p:sp>
        <p:sp>
          <p:nvSpPr>
            <p:cNvPr id="1747" name="Google Shape;1747;p46"/>
            <p:cNvSpPr txBox="1"/>
            <p:nvPr/>
          </p:nvSpPr>
          <p:spPr>
            <a:xfrm>
              <a:off x="9506308" y="1593866"/>
              <a:ext cx="65711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 × 200 × 176</a:t>
              </a:r>
              <a:endParaRPr sz="1100"/>
            </a:p>
          </p:txBody>
        </p:sp>
      </p:grpSp>
      <p:sp>
        <p:nvSpPr>
          <p:cNvPr id="1748" name="Google Shape;1748;p46"/>
          <p:cNvSpPr txBox="1"/>
          <p:nvPr/>
        </p:nvSpPr>
        <p:spPr>
          <a:xfrm>
            <a:off x="6524977" y="1479347"/>
            <a:ext cx="266496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749" name="Google Shape;1749;p46"/>
          <p:cNvGrpSpPr/>
          <p:nvPr/>
        </p:nvGrpSpPr>
        <p:grpSpPr>
          <a:xfrm>
            <a:off x="7129731" y="1449192"/>
            <a:ext cx="492834" cy="188134"/>
            <a:chOff x="9506308" y="1932256"/>
            <a:chExt cx="657112" cy="250846"/>
          </a:xfrm>
        </p:grpSpPr>
        <p:sp>
          <p:nvSpPr>
            <p:cNvPr id="1750" name="Google Shape;1750;p46"/>
            <p:cNvSpPr txBox="1"/>
            <p:nvPr/>
          </p:nvSpPr>
          <p:spPr>
            <a:xfrm>
              <a:off x="9506308" y="1932256"/>
              <a:ext cx="33377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Size</a:t>
              </a:r>
              <a:endParaRPr sz="1100"/>
            </a:p>
          </p:txBody>
        </p:sp>
        <p:sp>
          <p:nvSpPr>
            <p:cNvPr id="1751" name="Google Shape;1751;p46"/>
            <p:cNvSpPr txBox="1"/>
            <p:nvPr/>
          </p:nvSpPr>
          <p:spPr>
            <a:xfrm>
              <a:off x="9506308" y="2012670"/>
              <a:ext cx="65711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 × 200 × 176</a:t>
              </a:r>
              <a:endParaRPr sz="1100"/>
            </a:p>
          </p:txBody>
        </p:sp>
      </p:grpSp>
      <p:sp>
        <p:nvSpPr>
          <p:cNvPr id="1752" name="Google Shape;1752;p46"/>
          <p:cNvSpPr txBox="1"/>
          <p:nvPr/>
        </p:nvSpPr>
        <p:spPr>
          <a:xfrm>
            <a:off x="6524977" y="1793451"/>
            <a:ext cx="266496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753" name="Google Shape;1753;p46"/>
          <p:cNvGrpSpPr/>
          <p:nvPr/>
        </p:nvGrpSpPr>
        <p:grpSpPr>
          <a:xfrm>
            <a:off x="7129731" y="1763296"/>
            <a:ext cx="492834" cy="188134"/>
            <a:chOff x="9506308" y="2351061"/>
            <a:chExt cx="657112" cy="250846"/>
          </a:xfrm>
        </p:grpSpPr>
        <p:sp>
          <p:nvSpPr>
            <p:cNvPr id="1754" name="Google Shape;1754;p46"/>
            <p:cNvSpPr txBox="1"/>
            <p:nvPr/>
          </p:nvSpPr>
          <p:spPr>
            <a:xfrm>
              <a:off x="9506308" y="2351061"/>
              <a:ext cx="31940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Yaw</a:t>
              </a:r>
              <a:endParaRPr sz="1100"/>
            </a:p>
          </p:txBody>
        </p:sp>
        <p:sp>
          <p:nvSpPr>
            <p:cNvPr id="1755" name="Google Shape;1755;p46"/>
            <p:cNvSpPr txBox="1"/>
            <p:nvPr/>
          </p:nvSpPr>
          <p:spPr>
            <a:xfrm>
              <a:off x="9506308" y="2431475"/>
              <a:ext cx="65711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 × 200 × 176</a:t>
              </a:r>
              <a:endParaRPr sz="1100"/>
            </a:p>
          </p:txBody>
        </p:sp>
      </p:grpSp>
      <p:sp>
        <p:nvSpPr>
          <p:cNvPr id="1756" name="Google Shape;1756;p46"/>
          <p:cNvSpPr txBox="1"/>
          <p:nvPr/>
        </p:nvSpPr>
        <p:spPr>
          <a:xfrm>
            <a:off x="6524977" y="2107555"/>
            <a:ext cx="266496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757" name="Google Shape;1757;p46"/>
          <p:cNvGrpSpPr/>
          <p:nvPr/>
        </p:nvGrpSpPr>
        <p:grpSpPr>
          <a:xfrm>
            <a:off x="7129731" y="2077017"/>
            <a:ext cx="492834" cy="188899"/>
            <a:chOff x="9506308" y="2769356"/>
            <a:chExt cx="657112" cy="251866"/>
          </a:xfrm>
        </p:grpSpPr>
        <p:sp>
          <p:nvSpPr>
            <p:cNvPr id="1758" name="Google Shape;1758;p46"/>
            <p:cNvSpPr txBox="1"/>
            <p:nvPr/>
          </p:nvSpPr>
          <p:spPr>
            <a:xfrm>
              <a:off x="9506308" y="2769356"/>
              <a:ext cx="54933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IoU quality</a:t>
              </a:r>
              <a:endParaRPr sz="1100"/>
            </a:p>
          </p:txBody>
        </p:sp>
        <p:sp>
          <p:nvSpPr>
            <p:cNvPr id="1759" name="Google Shape;1759;p46"/>
            <p:cNvSpPr txBox="1"/>
            <p:nvPr/>
          </p:nvSpPr>
          <p:spPr>
            <a:xfrm>
              <a:off x="9506308" y="2850790"/>
              <a:ext cx="65711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1 × 200 × 176</a:t>
              </a:r>
              <a:endParaRPr sz="1100"/>
            </a:p>
          </p:txBody>
        </p:sp>
      </p:grpSp>
      <p:sp>
        <p:nvSpPr>
          <p:cNvPr id="1760" name="Google Shape;1760;p46"/>
          <p:cNvSpPr txBox="1"/>
          <p:nvPr/>
        </p:nvSpPr>
        <p:spPr>
          <a:xfrm>
            <a:off x="6489086" y="2455061"/>
            <a:ext cx="1188016" cy="1224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Per branch: Conv3×3 → Conv3×3 → Conv1×1</a:t>
            </a:r>
            <a:endParaRPr sz="1100"/>
          </a:p>
        </p:txBody>
      </p:sp>
      <p:sp>
        <p:nvSpPr>
          <p:cNvPr id="1761" name="Google Shape;1761;p46"/>
          <p:cNvSpPr txBox="1"/>
          <p:nvPr/>
        </p:nvSpPr>
        <p:spPr>
          <a:xfrm>
            <a:off x="6474560" y="2820390"/>
            <a:ext cx="1220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6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Group 2: Pedestrian / Cyclist</a:t>
            </a:r>
            <a:endParaRPr sz="1100"/>
          </a:p>
        </p:txBody>
      </p:sp>
      <p:sp>
        <p:nvSpPr>
          <p:cNvPr id="1762" name="Google Shape;1762;p46"/>
          <p:cNvSpPr txBox="1"/>
          <p:nvPr/>
        </p:nvSpPr>
        <p:spPr>
          <a:xfrm>
            <a:off x="6477109" y="2932419"/>
            <a:ext cx="12120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K=2 · five independent prediction branches</a:t>
            </a:r>
            <a:endParaRPr sz="1100"/>
          </a:p>
        </p:txBody>
      </p:sp>
      <p:sp>
        <p:nvSpPr>
          <p:cNvPr id="1763" name="Google Shape;1763;p46"/>
          <p:cNvSpPr txBox="1"/>
          <p:nvPr/>
        </p:nvSpPr>
        <p:spPr>
          <a:xfrm>
            <a:off x="6524977" y="3166200"/>
            <a:ext cx="266496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764" name="Google Shape;1764;p46"/>
          <p:cNvGrpSpPr/>
          <p:nvPr/>
        </p:nvGrpSpPr>
        <p:grpSpPr>
          <a:xfrm>
            <a:off x="7129731" y="3136045"/>
            <a:ext cx="492834" cy="188134"/>
            <a:chOff x="9506308" y="4181393"/>
            <a:chExt cx="657112" cy="250846"/>
          </a:xfrm>
        </p:grpSpPr>
        <p:sp>
          <p:nvSpPr>
            <p:cNvPr id="1765" name="Google Shape;1765;p46"/>
            <p:cNvSpPr txBox="1"/>
            <p:nvPr/>
          </p:nvSpPr>
          <p:spPr>
            <a:xfrm>
              <a:off x="9506308" y="4181393"/>
              <a:ext cx="491849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Heatmap</a:t>
              </a:r>
              <a:endParaRPr sz="1100"/>
            </a:p>
          </p:txBody>
        </p:sp>
        <p:sp>
          <p:nvSpPr>
            <p:cNvPr id="1766" name="Google Shape;1766;p46"/>
            <p:cNvSpPr txBox="1"/>
            <p:nvPr/>
          </p:nvSpPr>
          <p:spPr>
            <a:xfrm>
              <a:off x="9506308" y="4261807"/>
              <a:ext cx="65711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 × 200 × 176</a:t>
              </a:r>
              <a:endParaRPr sz="1100"/>
            </a:p>
          </p:txBody>
        </p:sp>
      </p:grpSp>
      <p:sp>
        <p:nvSpPr>
          <p:cNvPr id="1767" name="Google Shape;1767;p46"/>
          <p:cNvSpPr txBox="1"/>
          <p:nvPr/>
        </p:nvSpPr>
        <p:spPr>
          <a:xfrm>
            <a:off x="6524977" y="3480304"/>
            <a:ext cx="266496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768" name="Google Shape;1768;p46"/>
          <p:cNvGrpSpPr/>
          <p:nvPr/>
        </p:nvGrpSpPr>
        <p:grpSpPr>
          <a:xfrm>
            <a:off x="7129731" y="3450148"/>
            <a:ext cx="492834" cy="188135"/>
            <a:chOff x="9506308" y="4600197"/>
            <a:chExt cx="657112" cy="250847"/>
          </a:xfrm>
        </p:grpSpPr>
        <p:sp>
          <p:nvSpPr>
            <p:cNvPr id="1769" name="Google Shape;1769;p46"/>
            <p:cNvSpPr txBox="1"/>
            <p:nvPr/>
          </p:nvSpPr>
          <p:spPr>
            <a:xfrm>
              <a:off x="9506308" y="4600197"/>
              <a:ext cx="376884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Offset</a:t>
              </a:r>
              <a:endParaRPr sz="1100"/>
            </a:p>
          </p:txBody>
        </p:sp>
        <p:sp>
          <p:nvSpPr>
            <p:cNvPr id="1770" name="Google Shape;1770;p46"/>
            <p:cNvSpPr txBox="1"/>
            <p:nvPr/>
          </p:nvSpPr>
          <p:spPr>
            <a:xfrm>
              <a:off x="9506308" y="4680612"/>
              <a:ext cx="65711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 × 200 × 176</a:t>
              </a:r>
              <a:endParaRPr sz="1100"/>
            </a:p>
          </p:txBody>
        </p:sp>
      </p:grpSp>
      <p:sp>
        <p:nvSpPr>
          <p:cNvPr id="1771" name="Google Shape;1771;p46"/>
          <p:cNvSpPr txBox="1"/>
          <p:nvPr/>
        </p:nvSpPr>
        <p:spPr>
          <a:xfrm>
            <a:off x="6524977" y="3794408"/>
            <a:ext cx="266496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772" name="Google Shape;1772;p46"/>
          <p:cNvGrpSpPr/>
          <p:nvPr/>
        </p:nvGrpSpPr>
        <p:grpSpPr>
          <a:xfrm>
            <a:off x="7129731" y="3764252"/>
            <a:ext cx="492834" cy="188135"/>
            <a:chOff x="9506308" y="5019002"/>
            <a:chExt cx="657112" cy="250847"/>
          </a:xfrm>
        </p:grpSpPr>
        <p:sp>
          <p:nvSpPr>
            <p:cNvPr id="1773" name="Google Shape;1773;p46"/>
            <p:cNvSpPr txBox="1"/>
            <p:nvPr/>
          </p:nvSpPr>
          <p:spPr>
            <a:xfrm>
              <a:off x="9506308" y="5019002"/>
              <a:ext cx="33377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Size</a:t>
              </a:r>
              <a:endParaRPr sz="1100"/>
            </a:p>
          </p:txBody>
        </p:sp>
        <p:sp>
          <p:nvSpPr>
            <p:cNvPr id="1774" name="Google Shape;1774;p46"/>
            <p:cNvSpPr txBox="1"/>
            <p:nvPr/>
          </p:nvSpPr>
          <p:spPr>
            <a:xfrm>
              <a:off x="9506308" y="5099417"/>
              <a:ext cx="65711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 × 200 × 176</a:t>
              </a:r>
              <a:endParaRPr sz="1100"/>
            </a:p>
          </p:txBody>
        </p:sp>
      </p:grpSp>
      <p:sp>
        <p:nvSpPr>
          <p:cNvPr id="1775" name="Google Shape;1775;p46"/>
          <p:cNvSpPr txBox="1"/>
          <p:nvPr/>
        </p:nvSpPr>
        <p:spPr>
          <a:xfrm>
            <a:off x="6524977" y="4108511"/>
            <a:ext cx="266496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776" name="Google Shape;1776;p46"/>
          <p:cNvGrpSpPr/>
          <p:nvPr/>
        </p:nvGrpSpPr>
        <p:grpSpPr>
          <a:xfrm>
            <a:off x="7129731" y="4078355"/>
            <a:ext cx="492834" cy="188135"/>
            <a:chOff x="9506308" y="5437807"/>
            <a:chExt cx="657112" cy="250847"/>
          </a:xfrm>
        </p:grpSpPr>
        <p:sp>
          <p:nvSpPr>
            <p:cNvPr id="1777" name="Google Shape;1777;p46"/>
            <p:cNvSpPr txBox="1"/>
            <p:nvPr/>
          </p:nvSpPr>
          <p:spPr>
            <a:xfrm>
              <a:off x="9506308" y="5437807"/>
              <a:ext cx="319401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Yaw</a:t>
              </a:r>
              <a:endParaRPr sz="1100"/>
            </a:p>
          </p:txBody>
        </p:sp>
        <p:sp>
          <p:nvSpPr>
            <p:cNvPr id="1778" name="Google Shape;1778;p46"/>
            <p:cNvSpPr txBox="1"/>
            <p:nvPr/>
          </p:nvSpPr>
          <p:spPr>
            <a:xfrm>
              <a:off x="9506308" y="5518222"/>
              <a:ext cx="65711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 × 200 × 176</a:t>
              </a:r>
              <a:endParaRPr sz="1100"/>
            </a:p>
          </p:txBody>
        </p:sp>
      </p:grpSp>
      <p:sp>
        <p:nvSpPr>
          <p:cNvPr id="1779" name="Google Shape;1779;p46"/>
          <p:cNvSpPr txBox="1"/>
          <p:nvPr/>
        </p:nvSpPr>
        <p:spPr>
          <a:xfrm>
            <a:off x="6524977" y="4422614"/>
            <a:ext cx="266496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Conv</a:t>
            </a:r>
            <a:endParaRPr sz="1100"/>
          </a:p>
        </p:txBody>
      </p:sp>
      <p:grpSp>
        <p:nvGrpSpPr>
          <p:cNvPr id="1780" name="Google Shape;1780;p46"/>
          <p:cNvGrpSpPr/>
          <p:nvPr/>
        </p:nvGrpSpPr>
        <p:grpSpPr>
          <a:xfrm>
            <a:off x="7129731" y="4392077"/>
            <a:ext cx="492834" cy="188900"/>
            <a:chOff x="9506308" y="5856102"/>
            <a:chExt cx="657112" cy="251866"/>
          </a:xfrm>
        </p:grpSpPr>
        <p:sp>
          <p:nvSpPr>
            <p:cNvPr id="1781" name="Google Shape;1781;p46"/>
            <p:cNvSpPr txBox="1"/>
            <p:nvPr/>
          </p:nvSpPr>
          <p:spPr>
            <a:xfrm>
              <a:off x="9506308" y="5856102"/>
              <a:ext cx="54933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IoU quality</a:t>
              </a:r>
              <a:endParaRPr sz="1100"/>
            </a:p>
          </p:txBody>
        </p:sp>
        <p:sp>
          <p:nvSpPr>
            <p:cNvPr id="1782" name="Google Shape;1782;p46"/>
            <p:cNvSpPr txBox="1"/>
            <p:nvPr/>
          </p:nvSpPr>
          <p:spPr>
            <a:xfrm>
              <a:off x="9506308" y="5937536"/>
              <a:ext cx="657112" cy="170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1 × 200 × 176</a:t>
              </a:r>
              <a:endParaRPr sz="1100"/>
            </a:p>
          </p:txBody>
        </p:sp>
      </p:grpSp>
      <p:sp>
        <p:nvSpPr>
          <p:cNvPr id="1783" name="Google Shape;1783;p46"/>
          <p:cNvSpPr txBox="1"/>
          <p:nvPr/>
        </p:nvSpPr>
        <p:spPr>
          <a:xfrm>
            <a:off x="6489086" y="4770121"/>
            <a:ext cx="1188016" cy="1224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Per branch: Conv3×3 → Conv3×3 → Conv1×1</a:t>
            </a:r>
            <a:endParaRPr sz="1100"/>
          </a:p>
        </p:txBody>
      </p:sp>
      <p:sp>
        <p:nvSpPr>
          <p:cNvPr id="1784" name="Google Shape;1784;p46"/>
          <p:cNvSpPr txBox="1"/>
          <p:nvPr/>
        </p:nvSpPr>
        <p:spPr>
          <a:xfrm>
            <a:off x="245707" y="3588775"/>
            <a:ext cx="676061" cy="1601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6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(A) NeXt block</a:t>
            </a:r>
            <a:endParaRPr sz="1100"/>
          </a:p>
        </p:txBody>
      </p:sp>
      <p:sp>
        <p:nvSpPr>
          <p:cNvPr id="1785" name="Google Shape;1785;p46"/>
          <p:cNvSpPr txBox="1"/>
          <p:nvPr/>
        </p:nvSpPr>
        <p:spPr>
          <a:xfrm>
            <a:off x="1235775" y="3770387"/>
            <a:ext cx="880843" cy="1224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C = 48 / 96 / 128 · expansion 2.5</a:t>
            </a:r>
            <a:endParaRPr sz="1100"/>
          </a:p>
        </p:txBody>
      </p:sp>
      <p:sp>
        <p:nvSpPr>
          <p:cNvPr id="1786" name="Google Shape;1786;p46"/>
          <p:cNvSpPr txBox="1"/>
          <p:nvPr/>
        </p:nvSpPr>
        <p:spPr>
          <a:xfrm>
            <a:off x="226845" y="4116245"/>
            <a:ext cx="174883" cy="1332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00"/>
          </a:p>
        </p:txBody>
      </p:sp>
      <p:grpSp>
        <p:nvGrpSpPr>
          <p:cNvPr id="1787" name="Google Shape;1787;p46"/>
          <p:cNvGrpSpPr/>
          <p:nvPr/>
        </p:nvGrpSpPr>
        <p:grpSpPr>
          <a:xfrm>
            <a:off x="414368" y="4097967"/>
            <a:ext cx="318630" cy="219759"/>
            <a:chOff x="552491" y="5463957"/>
            <a:chExt cx="424839" cy="293012"/>
          </a:xfrm>
        </p:grpSpPr>
        <p:sp>
          <p:nvSpPr>
            <p:cNvPr id="1788" name="Google Shape;1788;p46"/>
            <p:cNvSpPr txBox="1"/>
            <p:nvPr/>
          </p:nvSpPr>
          <p:spPr>
            <a:xfrm>
              <a:off x="552491" y="5463957"/>
              <a:ext cx="4146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DW7×7</a:t>
              </a:r>
              <a:endParaRPr sz="1200"/>
            </a:p>
          </p:txBody>
        </p:sp>
        <p:sp>
          <p:nvSpPr>
            <p:cNvPr id="1789" name="Google Shape;1789;p46"/>
            <p:cNvSpPr txBox="1"/>
            <p:nvPr/>
          </p:nvSpPr>
          <p:spPr>
            <a:xfrm>
              <a:off x="582230" y="5568269"/>
              <a:ext cx="395100" cy="1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C→C</a:t>
              </a:r>
              <a:endParaRPr sz="1200"/>
            </a:p>
          </p:txBody>
        </p:sp>
      </p:grpSp>
      <p:sp>
        <p:nvSpPr>
          <p:cNvPr id="1790" name="Google Shape;1790;p46"/>
          <p:cNvSpPr txBox="1"/>
          <p:nvPr/>
        </p:nvSpPr>
        <p:spPr>
          <a:xfrm>
            <a:off x="827510" y="4125583"/>
            <a:ext cx="2280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BN</a:t>
            </a:r>
            <a:endParaRPr sz="1100"/>
          </a:p>
        </p:txBody>
      </p:sp>
      <p:grpSp>
        <p:nvGrpSpPr>
          <p:cNvPr id="1791" name="Google Shape;1791;p46"/>
          <p:cNvGrpSpPr/>
          <p:nvPr/>
        </p:nvGrpSpPr>
        <p:grpSpPr>
          <a:xfrm>
            <a:off x="1114711" y="4099937"/>
            <a:ext cx="361575" cy="192578"/>
            <a:chOff x="1478811" y="5451641"/>
            <a:chExt cx="482100" cy="256770"/>
          </a:xfrm>
        </p:grpSpPr>
        <p:sp>
          <p:nvSpPr>
            <p:cNvPr id="1792" name="Google Shape;1792;p46"/>
            <p:cNvSpPr txBox="1"/>
            <p:nvPr/>
          </p:nvSpPr>
          <p:spPr>
            <a:xfrm>
              <a:off x="1486063" y="5451641"/>
              <a:ext cx="447600" cy="1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PW1×1</a:t>
              </a:r>
              <a:endParaRPr sz="1200"/>
            </a:p>
          </p:txBody>
        </p:sp>
        <p:sp>
          <p:nvSpPr>
            <p:cNvPr id="1793" name="Google Shape;1793;p46"/>
            <p:cNvSpPr txBox="1"/>
            <p:nvPr/>
          </p:nvSpPr>
          <p:spPr>
            <a:xfrm>
              <a:off x="1478811" y="5519712"/>
              <a:ext cx="482100" cy="1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C→2.5C</a:t>
              </a:r>
              <a:endParaRPr sz="1200"/>
            </a:p>
          </p:txBody>
        </p:sp>
      </p:grpSp>
      <p:sp>
        <p:nvSpPr>
          <p:cNvPr id="1794" name="Google Shape;1794;p46"/>
          <p:cNvSpPr txBox="1"/>
          <p:nvPr/>
        </p:nvSpPr>
        <p:spPr>
          <a:xfrm>
            <a:off x="1532167" y="4117179"/>
            <a:ext cx="2694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SiLU</a:t>
            </a:r>
            <a:endParaRPr sz="1100"/>
          </a:p>
        </p:txBody>
      </p:sp>
      <p:grpSp>
        <p:nvGrpSpPr>
          <p:cNvPr id="1795" name="Google Shape;1795;p46"/>
          <p:cNvGrpSpPr/>
          <p:nvPr/>
        </p:nvGrpSpPr>
        <p:grpSpPr>
          <a:xfrm>
            <a:off x="1890426" y="4088731"/>
            <a:ext cx="361575" cy="212188"/>
            <a:chOff x="2520568" y="5451641"/>
            <a:chExt cx="482100" cy="282917"/>
          </a:xfrm>
        </p:grpSpPr>
        <p:sp>
          <p:nvSpPr>
            <p:cNvPr id="1796" name="Google Shape;1796;p46"/>
            <p:cNvSpPr txBox="1"/>
            <p:nvPr/>
          </p:nvSpPr>
          <p:spPr>
            <a:xfrm>
              <a:off x="2535290" y="5451641"/>
              <a:ext cx="447600" cy="1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PW1×1</a:t>
              </a:r>
              <a:endParaRPr sz="1200"/>
            </a:p>
          </p:txBody>
        </p:sp>
        <p:sp>
          <p:nvSpPr>
            <p:cNvPr id="1797" name="Google Shape;1797;p46"/>
            <p:cNvSpPr txBox="1"/>
            <p:nvPr/>
          </p:nvSpPr>
          <p:spPr>
            <a:xfrm>
              <a:off x="2520568" y="5545859"/>
              <a:ext cx="482100" cy="1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2.5C→C</a:t>
              </a:r>
              <a:endParaRPr sz="1200"/>
            </a:p>
          </p:txBody>
        </p:sp>
      </p:grpSp>
      <p:sp>
        <p:nvSpPr>
          <p:cNvPr id="1798" name="Google Shape;1798;p46"/>
          <p:cNvSpPr txBox="1"/>
          <p:nvPr/>
        </p:nvSpPr>
        <p:spPr>
          <a:xfrm>
            <a:off x="2307203" y="4117179"/>
            <a:ext cx="2280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BN</a:t>
            </a:r>
            <a:endParaRPr sz="1200"/>
          </a:p>
        </p:txBody>
      </p:sp>
      <p:sp>
        <p:nvSpPr>
          <p:cNvPr id="1799" name="Google Shape;1799;p46"/>
          <p:cNvSpPr txBox="1"/>
          <p:nvPr/>
        </p:nvSpPr>
        <p:spPr>
          <a:xfrm>
            <a:off x="2621180" y="4123187"/>
            <a:ext cx="1587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γ</a:t>
            </a:r>
            <a:endParaRPr sz="1200"/>
          </a:p>
        </p:txBody>
      </p:sp>
      <p:sp>
        <p:nvSpPr>
          <p:cNvPr id="1800" name="Google Shape;1800;p46"/>
          <p:cNvSpPr txBox="1"/>
          <p:nvPr/>
        </p:nvSpPr>
        <p:spPr>
          <a:xfrm>
            <a:off x="2831567" y="4108446"/>
            <a:ext cx="180272" cy="1493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1801" name="Google Shape;1801;p46"/>
          <p:cNvSpPr txBox="1"/>
          <p:nvPr/>
        </p:nvSpPr>
        <p:spPr>
          <a:xfrm>
            <a:off x="2962304" y="3934009"/>
            <a:ext cx="174883" cy="127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100"/>
          </a:p>
        </p:txBody>
      </p:sp>
      <p:sp>
        <p:nvSpPr>
          <p:cNvPr id="1802" name="Google Shape;1802;p46"/>
          <p:cNvSpPr txBox="1"/>
          <p:nvPr/>
        </p:nvSpPr>
        <p:spPr>
          <a:xfrm>
            <a:off x="1421696" y="4395922"/>
            <a:ext cx="509001" cy="1224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Identity shortcut</a:t>
            </a:r>
            <a:endParaRPr sz="1100"/>
          </a:p>
        </p:txBody>
      </p:sp>
      <p:sp>
        <p:nvSpPr>
          <p:cNvPr id="1803" name="Google Shape;1803;p46"/>
          <p:cNvSpPr txBox="1"/>
          <p:nvPr/>
        </p:nvSpPr>
        <p:spPr>
          <a:xfrm>
            <a:off x="1172483" y="4641879"/>
            <a:ext cx="10074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Y = X + γ </a:t>
            </a:r>
            <a:r>
              <a:rPr lang="vi" spc="0" sz="500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⊙</a:t>
            </a:r>
            <a:r>
              <a:rPr lang="vi" spc="0" sz="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F(X) · γ</a:t>
            </a:r>
            <a:r>
              <a:rPr lang="vi" spc="0" sz="500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₀</a:t>
            </a:r>
            <a:r>
              <a:rPr lang="vi" spc="0" sz="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= 10</a:t>
            </a:r>
            <a:r>
              <a:rPr lang="vi" spc="0" sz="500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⁻</a:t>
            </a:r>
            <a:r>
              <a:rPr lang="vi" spc="0" sz="5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⁵</a:t>
            </a:r>
            <a:endParaRPr sz="1200"/>
          </a:p>
        </p:txBody>
      </p:sp>
      <p:sp>
        <p:nvSpPr>
          <p:cNvPr id="1804" name="Google Shape;1804;p46"/>
          <p:cNvSpPr txBox="1"/>
          <p:nvPr/>
        </p:nvSpPr>
        <p:spPr>
          <a:xfrm>
            <a:off x="245707" y="1994990"/>
            <a:ext cx="886231" cy="1601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pc="0" sz="6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(B) Residual SimAM</a:t>
            </a:r>
            <a:endParaRPr sz="1100"/>
          </a:p>
        </p:txBody>
      </p:sp>
      <p:sp>
        <p:nvSpPr>
          <p:cNvPr id="1805" name="Google Shape;1805;p46"/>
          <p:cNvSpPr txBox="1"/>
          <p:nvPr/>
        </p:nvSpPr>
        <p:spPr>
          <a:xfrm>
            <a:off x="620767" y="2150994"/>
            <a:ext cx="7140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λ = 0.0001 · β</a:t>
            </a:r>
            <a:r>
              <a:rPr lang="vi" spc="0" sz="400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₀</a:t>
            </a: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= 0.001</a:t>
            </a:r>
            <a:endParaRPr sz="1100"/>
          </a:p>
        </p:txBody>
      </p:sp>
      <p:grpSp>
        <p:nvGrpSpPr>
          <p:cNvPr id="1806" name="Google Shape;1806;p46"/>
          <p:cNvGrpSpPr/>
          <p:nvPr/>
        </p:nvGrpSpPr>
        <p:grpSpPr>
          <a:xfrm>
            <a:off x="425326" y="2351070"/>
            <a:ext cx="1107900" cy="213662"/>
            <a:chOff x="567101" y="3134760"/>
            <a:chExt cx="1477200" cy="284883"/>
          </a:xfrm>
        </p:grpSpPr>
        <p:sp>
          <p:nvSpPr>
            <p:cNvPr id="1807" name="Google Shape;1807;p46"/>
            <p:cNvSpPr txBox="1"/>
            <p:nvPr/>
          </p:nvSpPr>
          <p:spPr>
            <a:xfrm>
              <a:off x="567101" y="3134760"/>
              <a:ext cx="1477200" cy="2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Squared deviation d; spatial variance v</a:t>
              </a:r>
              <a:endParaRPr sz="1200"/>
            </a:p>
          </p:txBody>
        </p:sp>
        <p:sp>
          <p:nvSpPr>
            <p:cNvPr id="1808" name="Google Shape;1808;p46"/>
            <p:cNvSpPr txBox="1"/>
            <p:nvPr/>
          </p:nvSpPr>
          <p:spPr>
            <a:xfrm>
              <a:off x="822885" y="3230942"/>
              <a:ext cx="960300" cy="1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400">
                  <a:solidFill>
                    <a:srgbClr val="242629"/>
                  </a:solidFill>
                  <a:latin typeface="Arial"/>
                  <a:ea typeface="Arial"/>
                  <a:cs typeface="Arial"/>
                  <a:sym typeface="Arial"/>
                </a:rPr>
                <a:t>per batch / channel, FP32</a:t>
              </a:r>
              <a:endParaRPr sz="1200"/>
            </a:p>
          </p:txBody>
        </p:sp>
      </p:grpSp>
      <p:sp>
        <p:nvSpPr>
          <p:cNvPr id="1809" name="Google Shape;1809;p46"/>
          <p:cNvSpPr txBox="1"/>
          <p:nvPr/>
        </p:nvSpPr>
        <p:spPr>
          <a:xfrm>
            <a:off x="661307" y="2704761"/>
            <a:ext cx="632948" cy="1224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e = d / [4(v + λ)] + 0.5</a:t>
            </a:r>
            <a:endParaRPr sz="1100"/>
          </a:p>
        </p:txBody>
      </p:sp>
      <p:sp>
        <p:nvSpPr>
          <p:cNvPr id="1810" name="Google Shape;1810;p46"/>
          <p:cNvSpPr txBox="1"/>
          <p:nvPr/>
        </p:nvSpPr>
        <p:spPr>
          <a:xfrm>
            <a:off x="564452" y="3006742"/>
            <a:ext cx="8268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SimAM(X) = X </a:t>
            </a:r>
            <a:r>
              <a:rPr lang="vi" spc="0" sz="400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⊙</a:t>
            </a: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sigmoid(e)</a:t>
            </a:r>
            <a:endParaRPr sz="1100"/>
          </a:p>
        </p:txBody>
      </p:sp>
      <p:sp>
        <p:nvSpPr>
          <p:cNvPr id="1811" name="Google Shape;1811;p46"/>
          <p:cNvSpPr txBox="1"/>
          <p:nvPr/>
        </p:nvSpPr>
        <p:spPr>
          <a:xfrm>
            <a:off x="594092" y="3240888"/>
            <a:ext cx="7674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Y = X + β [SimAM(X) − X]</a:t>
            </a:r>
            <a:endParaRPr sz="1100"/>
          </a:p>
        </p:txBody>
      </p:sp>
      <p:sp>
        <p:nvSpPr>
          <p:cNvPr id="1812" name="Google Shape;1812;p46"/>
          <p:cNvSpPr txBox="1"/>
          <p:nvPr/>
        </p:nvSpPr>
        <p:spPr>
          <a:xfrm>
            <a:off x="3214820" y="4781874"/>
            <a:ext cx="9036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3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G: P = U + 2σ(DWConv(L + U)) </a:t>
            </a:r>
            <a:r>
              <a:rPr lang="vi" spc="0" sz="300">
                <a:solidFill>
                  <a:srgbClr val="242629"/>
                </a:solidFill>
                <a:latin typeface="Cambria Math"/>
                <a:ea typeface="Cambria Math"/>
                <a:cs typeface="Cambria Math"/>
                <a:sym typeface="Cambria Math"/>
              </a:rPr>
              <a:t>⊙</a:t>
            </a:r>
            <a:r>
              <a:rPr lang="vi" spc="0" sz="300">
                <a:solidFill>
                  <a:srgbClr val="242629"/>
                </a:solidFill>
                <a:latin typeface="Arial"/>
                <a:ea typeface="Arial"/>
                <a:cs typeface="Arial"/>
                <a:sym typeface="Arial"/>
              </a:rPr>
              <a:t> L</a:t>
            </a:r>
            <a:endParaRPr sz="1100"/>
          </a:p>
        </p:txBody>
      </p:sp>
      <p:sp>
        <p:nvSpPr>
          <p:cNvPr id="1813" name="Google Shape;1813;p46"/>
          <p:cNvSpPr txBox="1"/>
          <p:nvPr/>
        </p:nvSpPr>
        <p:spPr>
          <a:xfrm>
            <a:off x="2801605" y="5019476"/>
            <a:ext cx="2777773" cy="1224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pc="0" sz="400">
                <a:solidFill>
                  <a:srgbClr val="59616A"/>
                </a:solidFill>
                <a:latin typeface="Arial"/>
                <a:ea typeface="Arial"/>
                <a:cs typeface="Arial"/>
                <a:sym typeface="Arial"/>
              </a:rPr>
              <a:t>Shapes: C × H × W (batch omitted). G: scale-gated fusion. Cuboids are schematic; head outputs are raw predictions.</a:t>
            </a:r>
            <a:endParaRPr sz="1100"/>
          </a:p>
        </p:txBody>
      </p:sp>
      <p:cxnSp>
        <p:nvCxnSpPr>
          <p:cNvPr id="1814" name="Google Shape;1814;p46"/>
          <p:cNvCxnSpPr>
            <a:stCxn id="1387" idx="3"/>
            <a:endCxn id="1388" idx="2"/>
          </p:cNvCxnSpPr>
          <p:nvPr/>
        </p:nvCxnSpPr>
        <p:spPr>
          <a:xfrm flipH="1" rot="10800000">
            <a:off x="4606350" y="3563175"/>
            <a:ext cx="585300" cy="462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5" name="Google Shape;1815;p46"/>
          <p:cNvCxnSpPr>
            <a:stCxn id="1386" idx="3"/>
            <a:endCxn id="1376" idx="1"/>
          </p:cNvCxnSpPr>
          <p:nvPr/>
        </p:nvCxnSpPr>
        <p:spPr>
          <a:xfrm flipH="1" rot="10800000">
            <a:off x="5695625" y="919138"/>
            <a:ext cx="811200" cy="265800"/>
          </a:xfrm>
          <a:prstGeom prst="bentConnector3">
            <a:avLst>
              <a:gd fmla="val 50005" name="adj1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6" name="Google Shape;1816;p46"/>
          <p:cNvCxnSpPr>
            <a:stCxn id="1386" idx="3"/>
            <a:endCxn id="1377" idx="1"/>
          </p:cNvCxnSpPr>
          <p:nvPr/>
        </p:nvCxnSpPr>
        <p:spPr>
          <a:xfrm>
            <a:off x="5695625" y="1184938"/>
            <a:ext cx="811200" cy="52200"/>
          </a:xfrm>
          <a:prstGeom prst="bentConnector3">
            <a:avLst>
              <a:gd fmla="val 50005" name="adj1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7" name="Google Shape;1817;p46"/>
          <p:cNvCxnSpPr>
            <a:stCxn id="1386" idx="3"/>
            <a:endCxn id="1378" idx="1"/>
          </p:cNvCxnSpPr>
          <p:nvPr/>
        </p:nvCxnSpPr>
        <p:spPr>
          <a:xfrm>
            <a:off x="5695625" y="1184938"/>
            <a:ext cx="811200" cy="362400"/>
          </a:xfrm>
          <a:prstGeom prst="bentConnector3">
            <a:avLst>
              <a:gd fmla="val 50005" name="adj1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8" name="Google Shape;1818;p46"/>
          <p:cNvCxnSpPr>
            <a:stCxn id="1386" idx="3"/>
            <a:endCxn id="1379" idx="1"/>
          </p:cNvCxnSpPr>
          <p:nvPr/>
        </p:nvCxnSpPr>
        <p:spPr>
          <a:xfrm>
            <a:off x="5695625" y="1184938"/>
            <a:ext cx="811200" cy="676500"/>
          </a:xfrm>
          <a:prstGeom prst="bentConnector3">
            <a:avLst>
              <a:gd fmla="val 50005" name="adj1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9" name="Google Shape;1819;p46"/>
          <p:cNvCxnSpPr>
            <a:stCxn id="1386" idx="3"/>
            <a:endCxn id="1380" idx="1"/>
          </p:cNvCxnSpPr>
          <p:nvPr/>
        </p:nvCxnSpPr>
        <p:spPr>
          <a:xfrm>
            <a:off x="5695625" y="1184938"/>
            <a:ext cx="811200" cy="988500"/>
          </a:xfrm>
          <a:prstGeom prst="bentConnector3">
            <a:avLst>
              <a:gd fmla="val 50005" name="adj1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0" name="Google Shape;1820;p46"/>
          <p:cNvCxnSpPr>
            <a:stCxn id="1386" idx="3"/>
            <a:endCxn id="1381" idx="1"/>
          </p:cNvCxnSpPr>
          <p:nvPr/>
        </p:nvCxnSpPr>
        <p:spPr>
          <a:xfrm>
            <a:off x="5695625" y="1184938"/>
            <a:ext cx="811200" cy="2052000"/>
          </a:xfrm>
          <a:prstGeom prst="bentConnector3">
            <a:avLst>
              <a:gd fmla="val 50005" name="adj1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1" name="Google Shape;1821;p46"/>
          <p:cNvCxnSpPr>
            <a:stCxn id="1386" idx="3"/>
            <a:endCxn id="1382" idx="1"/>
          </p:cNvCxnSpPr>
          <p:nvPr/>
        </p:nvCxnSpPr>
        <p:spPr>
          <a:xfrm>
            <a:off x="5695625" y="1184938"/>
            <a:ext cx="811200" cy="2365800"/>
          </a:xfrm>
          <a:prstGeom prst="bentConnector3">
            <a:avLst>
              <a:gd fmla="val 50005" name="adj1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2" name="Google Shape;1822;p46"/>
          <p:cNvCxnSpPr>
            <a:stCxn id="1386" idx="3"/>
            <a:endCxn id="1383" idx="1"/>
          </p:cNvCxnSpPr>
          <p:nvPr/>
        </p:nvCxnSpPr>
        <p:spPr>
          <a:xfrm>
            <a:off x="5695625" y="1184938"/>
            <a:ext cx="811200" cy="2676000"/>
          </a:xfrm>
          <a:prstGeom prst="bentConnector3">
            <a:avLst>
              <a:gd fmla="val 50005" name="adj1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3" name="Google Shape;1823;p46"/>
          <p:cNvCxnSpPr>
            <a:stCxn id="1386" idx="3"/>
            <a:endCxn id="1384" idx="1"/>
          </p:cNvCxnSpPr>
          <p:nvPr/>
        </p:nvCxnSpPr>
        <p:spPr>
          <a:xfrm>
            <a:off x="5695625" y="1184938"/>
            <a:ext cx="811200" cy="2990100"/>
          </a:xfrm>
          <a:prstGeom prst="bentConnector3">
            <a:avLst>
              <a:gd fmla="val 50005" name="adj1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4" name="Google Shape;1824;p46"/>
          <p:cNvCxnSpPr>
            <a:stCxn id="1386" idx="3"/>
            <a:endCxn id="1385" idx="1"/>
          </p:cNvCxnSpPr>
          <p:nvPr/>
        </p:nvCxnSpPr>
        <p:spPr>
          <a:xfrm>
            <a:off x="5695625" y="1184938"/>
            <a:ext cx="811200" cy="3302100"/>
          </a:xfrm>
          <a:prstGeom prst="bentConnector3">
            <a:avLst>
              <a:gd fmla="val 50005" name="adj1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9" name="Google Shape;182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4838702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0" name="Google Shape;183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4577" y="152400"/>
            <a:ext cx="40005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1" name="Google Shape;1831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1102" y="2971800"/>
            <a:ext cx="3028950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6" name="Google Shape;183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7" name="Google Shape;183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500" y="152400"/>
            <a:ext cx="384810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8" name="Google Shape;183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7525" y="565175"/>
            <a:ext cx="4176975" cy="41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" name="Google Shape;184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569749" cy="256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4" name="Google Shape;184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4550" y="152400"/>
            <a:ext cx="3625026" cy="362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5" name="Google Shape;184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1976" y="152400"/>
            <a:ext cx="2339625" cy="23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6" name="Google Shape;184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1976" y="2644425"/>
            <a:ext cx="2339625" cy="23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2874549"/>
            <a:ext cx="2116551" cy="211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2" name="Google Shape;1852;p50"/>
          <p:cNvGrpSpPr/>
          <p:nvPr/>
        </p:nvGrpSpPr>
        <p:grpSpPr>
          <a:xfrm>
            <a:off x="2186550" y="43217"/>
            <a:ext cx="5974770" cy="4476838"/>
            <a:chOff x="1660111" y="406661"/>
            <a:chExt cx="6377169" cy="4778352"/>
          </a:xfrm>
        </p:grpSpPr>
        <p:sp>
          <p:nvSpPr>
            <p:cNvPr id="1853" name="Google Shape;1853;p50"/>
            <p:cNvSpPr/>
            <p:nvPr/>
          </p:nvSpPr>
          <p:spPr>
            <a:xfrm>
              <a:off x="1970238" y="406660"/>
              <a:ext cx="4832100" cy="4254300"/>
            </a:xfrm>
            <a:prstGeom prst="roundRect">
              <a:avLst>
                <a:gd fmla="val 3448" name="adj"/>
              </a:avLst>
            </a:prstGeom>
            <a:noFill/>
            <a:ln cap="rnd" cmpd="sng" w="11875">
              <a:solidFill>
                <a:srgbClr val="252525"/>
              </a:solidFill>
              <a:prstDash val="dashDot"/>
              <a:round/>
              <a:headEnd len="sm" w="sm" type="none"/>
              <a:tailEnd len="sm" w="sm" type="none"/>
            </a:ln>
          </p:spPr>
          <p:txBody>
            <a:bodyPr anchorCtr="0" anchor="ctr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50"/>
            <p:cNvSpPr/>
            <p:nvPr/>
          </p:nvSpPr>
          <p:spPr>
            <a:xfrm>
              <a:off x="2189011" y="554380"/>
              <a:ext cx="1265100" cy="612600"/>
            </a:xfrm>
            <a:prstGeom prst="roundRect">
              <a:avLst>
                <a:gd fmla="val 16667" name="adj"/>
              </a:avLst>
            </a:prstGeom>
            <a:solidFill>
              <a:srgbClr val="EEF3F7"/>
            </a:solidFill>
            <a:ln cap="rnd" cmpd="sng" w="11875">
              <a:solidFill>
                <a:srgbClr val="2525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50"/>
            <p:cNvSpPr/>
            <p:nvPr/>
          </p:nvSpPr>
          <p:spPr>
            <a:xfrm>
              <a:off x="2396275" y="600806"/>
              <a:ext cx="850500" cy="2157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937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BEV feature</a:t>
              </a:r>
              <a:endParaRPr sz="1031"/>
            </a:p>
          </p:txBody>
        </p:sp>
        <p:sp>
          <p:nvSpPr>
            <p:cNvPr id="1856" name="Google Shape;1856;p50"/>
            <p:cNvSpPr/>
            <p:nvPr/>
          </p:nvSpPr>
          <p:spPr>
            <a:xfrm>
              <a:off x="2481882" y="762238"/>
              <a:ext cx="679200" cy="2157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937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encoding</a:t>
              </a:r>
              <a:endParaRPr sz="1031"/>
            </a:p>
          </p:txBody>
        </p:sp>
        <p:sp>
          <p:nvSpPr>
            <p:cNvPr id="1857" name="Google Shape;1857;p50"/>
            <p:cNvSpPr/>
            <p:nvPr/>
          </p:nvSpPr>
          <p:spPr>
            <a:xfrm>
              <a:off x="2238654" y="923802"/>
              <a:ext cx="1165800" cy="206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749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Hist14 · 14 channels</a:t>
              </a:r>
              <a:endParaRPr sz="1031"/>
            </a:p>
          </p:txBody>
        </p:sp>
        <p:sp>
          <p:nvSpPr>
            <p:cNvPr id="1858" name="Google Shape;1858;p50"/>
            <p:cNvSpPr/>
            <p:nvPr/>
          </p:nvSpPr>
          <p:spPr>
            <a:xfrm>
              <a:off x="3725178" y="554241"/>
              <a:ext cx="2839200" cy="612600"/>
            </a:xfrm>
            <a:prstGeom prst="roundRect">
              <a:avLst>
                <a:gd fmla="val 16667" name="adj"/>
              </a:avLst>
            </a:prstGeom>
            <a:solidFill>
              <a:srgbClr val="FCE8DA"/>
            </a:solidFill>
            <a:ln cap="rnd" cmpd="sng" w="11875">
              <a:solidFill>
                <a:srgbClr val="2525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50"/>
            <p:cNvSpPr/>
            <p:nvPr/>
          </p:nvSpPr>
          <p:spPr>
            <a:xfrm>
              <a:off x="4141028" y="589104"/>
              <a:ext cx="2002800" cy="2427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1031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MobilePixorNeXt detector</a:t>
              </a:r>
              <a:endParaRPr sz="1031"/>
            </a:p>
          </p:txBody>
        </p:sp>
        <p:sp>
          <p:nvSpPr>
            <p:cNvPr id="1860" name="Google Shape;1860;p50"/>
            <p:cNvSpPr/>
            <p:nvPr/>
          </p:nvSpPr>
          <p:spPr>
            <a:xfrm>
              <a:off x="4077498" y="794798"/>
              <a:ext cx="2130000" cy="201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Backbone + Focal Context + SG-FPN</a:t>
              </a:r>
              <a:endParaRPr sz="1031"/>
            </a:p>
          </p:txBody>
        </p:sp>
        <p:sp>
          <p:nvSpPr>
            <p:cNvPr id="1861" name="Google Shape;1861;p50"/>
            <p:cNvSpPr/>
            <p:nvPr/>
          </p:nvSpPr>
          <p:spPr>
            <a:xfrm>
              <a:off x="4229964" y="942593"/>
              <a:ext cx="1824900" cy="195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749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Shared BEV feature map · stride 4</a:t>
              </a:r>
              <a:endParaRPr sz="1031"/>
            </a:p>
          </p:txBody>
        </p:sp>
        <p:sp>
          <p:nvSpPr>
            <p:cNvPr id="1862" name="Google Shape;1862;p50"/>
            <p:cNvSpPr/>
            <p:nvPr/>
          </p:nvSpPr>
          <p:spPr>
            <a:xfrm>
              <a:off x="2189011" y="1455969"/>
              <a:ext cx="4375460" cy="1063552"/>
            </a:xfrm>
            <a:prstGeom prst="roundRect">
              <a:avLst>
                <a:gd fmla="val 16667" name="adj"/>
              </a:avLst>
            </a:prstGeom>
            <a:solidFill>
              <a:srgbClr val="FAFAFA"/>
            </a:solidFill>
            <a:ln cap="rnd" cmpd="sng" w="11875">
              <a:solidFill>
                <a:srgbClr val="252525"/>
              </a:solidFill>
              <a:prstDash val="dashDot"/>
              <a:round/>
              <a:headEnd len="sm" w="sm" type="none"/>
              <a:tailEnd len="sm" w="sm" type="none"/>
            </a:ln>
          </p:spPr>
          <p:txBody>
            <a:bodyPr anchorCtr="0" anchor="ctr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50"/>
            <p:cNvSpPr/>
            <p:nvPr/>
          </p:nvSpPr>
          <p:spPr>
            <a:xfrm>
              <a:off x="3573369" y="1488152"/>
              <a:ext cx="1606744" cy="201524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Grouped prediction heads</a:t>
              </a:r>
              <a:endParaRPr sz="1031"/>
            </a:p>
          </p:txBody>
        </p:sp>
        <p:sp>
          <p:nvSpPr>
            <p:cNvPr id="1864" name="Google Shape;1864;p50"/>
            <p:cNvSpPr/>
            <p:nvPr/>
          </p:nvSpPr>
          <p:spPr>
            <a:xfrm>
              <a:off x="3660441" y="1635472"/>
              <a:ext cx="1432500" cy="206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749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Car / Pedestrian + Cyclist</a:t>
              </a:r>
              <a:endParaRPr sz="1031"/>
            </a:p>
          </p:txBody>
        </p:sp>
        <p:sp>
          <p:nvSpPr>
            <p:cNvPr id="1865" name="Google Shape;1865;p50"/>
            <p:cNvSpPr/>
            <p:nvPr/>
          </p:nvSpPr>
          <p:spPr>
            <a:xfrm>
              <a:off x="2284130" y="1883289"/>
              <a:ext cx="760949" cy="394084"/>
            </a:xfrm>
            <a:prstGeom prst="roundRect">
              <a:avLst>
                <a:gd fmla="val 16667" name="adj"/>
              </a:avLst>
            </a:prstGeom>
            <a:solidFill>
              <a:srgbClr val="FFF0B5"/>
            </a:solidFill>
            <a:ln cap="rnd" cmpd="sng" w="11875">
              <a:solidFill>
                <a:srgbClr val="2525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50"/>
            <p:cNvSpPr/>
            <p:nvPr/>
          </p:nvSpPr>
          <p:spPr>
            <a:xfrm>
              <a:off x="2322358" y="1891389"/>
              <a:ext cx="684600" cy="216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Gaussian</a:t>
              </a:r>
              <a:endParaRPr sz="1031"/>
            </a:p>
          </p:txBody>
        </p:sp>
        <p:sp>
          <p:nvSpPr>
            <p:cNvPr id="1867" name="Google Shape;1867;p50"/>
            <p:cNvSpPr/>
            <p:nvPr/>
          </p:nvSpPr>
          <p:spPr>
            <a:xfrm>
              <a:off x="2343284" y="2029080"/>
              <a:ext cx="642600" cy="216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heatmap</a:t>
              </a:r>
              <a:endParaRPr sz="1031"/>
            </a:p>
          </p:txBody>
        </p:sp>
        <p:sp>
          <p:nvSpPr>
            <p:cNvPr id="1868" name="Google Shape;1868;p50"/>
            <p:cNvSpPr/>
            <p:nvPr/>
          </p:nvSpPr>
          <p:spPr>
            <a:xfrm>
              <a:off x="2387753" y="2278456"/>
              <a:ext cx="553800" cy="266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749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P(class)</a:t>
              </a:r>
              <a:endParaRPr sz="1031"/>
            </a:p>
          </p:txBody>
        </p:sp>
        <p:sp>
          <p:nvSpPr>
            <p:cNvPr id="1869" name="Google Shape;1869;p50"/>
            <p:cNvSpPr/>
            <p:nvPr/>
          </p:nvSpPr>
          <p:spPr>
            <a:xfrm>
              <a:off x="3140198" y="1883289"/>
              <a:ext cx="760949" cy="394084"/>
            </a:xfrm>
            <a:prstGeom prst="roundRect">
              <a:avLst>
                <a:gd fmla="val 16667" name="adj"/>
              </a:avLst>
            </a:prstGeom>
            <a:solidFill>
              <a:srgbClr val="EDF3F9"/>
            </a:solidFill>
            <a:ln cap="rnd" cmpd="sng" w="11875">
              <a:solidFill>
                <a:srgbClr val="2525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50"/>
            <p:cNvSpPr/>
            <p:nvPr/>
          </p:nvSpPr>
          <p:spPr>
            <a:xfrm>
              <a:off x="3296136" y="1891389"/>
              <a:ext cx="449100" cy="216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Local</a:t>
              </a:r>
              <a:endParaRPr sz="1031"/>
            </a:p>
          </p:txBody>
        </p:sp>
        <p:sp>
          <p:nvSpPr>
            <p:cNvPr id="1871" name="Google Shape;1871;p50"/>
            <p:cNvSpPr/>
            <p:nvPr/>
          </p:nvSpPr>
          <p:spPr>
            <a:xfrm>
              <a:off x="3290904" y="2029080"/>
              <a:ext cx="459600" cy="216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offset</a:t>
              </a:r>
              <a:endParaRPr sz="1031"/>
            </a:p>
          </p:txBody>
        </p:sp>
        <p:sp>
          <p:nvSpPr>
            <p:cNvPr id="1872" name="Google Shape;1872;p50"/>
            <p:cNvSpPr/>
            <p:nvPr/>
          </p:nvSpPr>
          <p:spPr>
            <a:xfrm>
              <a:off x="3254284" y="2271401"/>
              <a:ext cx="532800" cy="266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749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[Δx, Δy]</a:t>
              </a:r>
              <a:endParaRPr sz="1031"/>
            </a:p>
          </p:txBody>
        </p:sp>
        <p:sp>
          <p:nvSpPr>
            <p:cNvPr id="1873" name="Google Shape;1873;p50"/>
            <p:cNvSpPr/>
            <p:nvPr/>
          </p:nvSpPr>
          <p:spPr>
            <a:xfrm>
              <a:off x="3996266" y="1883289"/>
              <a:ext cx="760949" cy="394084"/>
            </a:xfrm>
            <a:prstGeom prst="roundRect">
              <a:avLst>
                <a:gd fmla="val 16667" name="adj"/>
              </a:avLst>
            </a:prstGeom>
            <a:solidFill>
              <a:srgbClr val="EDF3F9"/>
            </a:solidFill>
            <a:ln cap="rnd" cmpd="sng" w="11875">
              <a:solidFill>
                <a:srgbClr val="2525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50"/>
            <p:cNvSpPr/>
            <p:nvPr/>
          </p:nvSpPr>
          <p:spPr>
            <a:xfrm>
              <a:off x="4115583" y="1891389"/>
              <a:ext cx="522300" cy="216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Object</a:t>
              </a:r>
              <a:endParaRPr sz="1031"/>
            </a:p>
          </p:txBody>
        </p:sp>
        <p:sp>
          <p:nvSpPr>
            <p:cNvPr id="1875" name="Google Shape;1875;p50"/>
            <p:cNvSpPr/>
            <p:nvPr/>
          </p:nvSpPr>
          <p:spPr>
            <a:xfrm>
              <a:off x="4191441" y="2029080"/>
              <a:ext cx="370500" cy="216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size</a:t>
              </a:r>
              <a:endParaRPr sz="1031"/>
            </a:p>
          </p:txBody>
        </p:sp>
        <p:sp>
          <p:nvSpPr>
            <p:cNvPr id="1876" name="Google Shape;1876;p50"/>
            <p:cNvSpPr/>
            <p:nvPr/>
          </p:nvSpPr>
          <p:spPr>
            <a:xfrm>
              <a:off x="4016185" y="2278456"/>
              <a:ext cx="721200" cy="266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749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[log w, log l]</a:t>
              </a:r>
              <a:endParaRPr sz="1031"/>
            </a:p>
          </p:txBody>
        </p:sp>
        <p:sp>
          <p:nvSpPr>
            <p:cNvPr id="1877" name="Google Shape;1877;p50"/>
            <p:cNvSpPr/>
            <p:nvPr/>
          </p:nvSpPr>
          <p:spPr>
            <a:xfrm>
              <a:off x="4852334" y="1883289"/>
              <a:ext cx="760949" cy="394084"/>
            </a:xfrm>
            <a:prstGeom prst="roundRect">
              <a:avLst>
                <a:gd fmla="val 16667" name="adj"/>
              </a:avLst>
            </a:prstGeom>
            <a:solidFill>
              <a:srgbClr val="EDF3F9"/>
            </a:solidFill>
            <a:ln cap="rnd" cmpd="sng" w="11875">
              <a:solidFill>
                <a:srgbClr val="2525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8" name="Google Shape;1878;p50"/>
            <p:cNvSpPr/>
            <p:nvPr/>
          </p:nvSpPr>
          <p:spPr>
            <a:xfrm>
              <a:off x="4971652" y="1891389"/>
              <a:ext cx="522300" cy="216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Object</a:t>
              </a:r>
              <a:endParaRPr sz="1031"/>
            </a:p>
          </p:txBody>
        </p:sp>
        <p:sp>
          <p:nvSpPr>
            <p:cNvPr id="1879" name="Google Shape;1879;p50"/>
            <p:cNvSpPr/>
            <p:nvPr/>
          </p:nvSpPr>
          <p:spPr>
            <a:xfrm>
              <a:off x="4864406" y="2029080"/>
              <a:ext cx="736800" cy="216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orientation</a:t>
              </a:r>
              <a:endParaRPr sz="1031"/>
            </a:p>
          </p:txBody>
        </p:sp>
        <p:sp>
          <p:nvSpPr>
            <p:cNvPr id="1880" name="Google Shape;1880;p50"/>
            <p:cNvSpPr/>
            <p:nvPr/>
          </p:nvSpPr>
          <p:spPr>
            <a:xfrm>
              <a:off x="4778085" y="2279301"/>
              <a:ext cx="909300" cy="2478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749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[cos 2θ, sin 2θ]</a:t>
              </a:r>
              <a:endParaRPr sz="1031"/>
            </a:p>
          </p:txBody>
        </p:sp>
        <p:sp>
          <p:nvSpPr>
            <p:cNvPr id="1881" name="Google Shape;1881;p50"/>
            <p:cNvSpPr/>
            <p:nvPr/>
          </p:nvSpPr>
          <p:spPr>
            <a:xfrm>
              <a:off x="5708402" y="1883289"/>
              <a:ext cx="760949" cy="394084"/>
            </a:xfrm>
            <a:prstGeom prst="roundRect">
              <a:avLst>
                <a:gd fmla="val 16667" name="adj"/>
              </a:avLst>
            </a:prstGeom>
            <a:solidFill>
              <a:srgbClr val="F1EAF5"/>
            </a:solidFill>
            <a:ln cap="rnd" cmpd="sng" w="11875">
              <a:solidFill>
                <a:srgbClr val="2525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50"/>
            <p:cNvSpPr/>
            <p:nvPr/>
          </p:nvSpPr>
          <p:spPr>
            <a:xfrm>
              <a:off x="5919272" y="1891389"/>
              <a:ext cx="339300" cy="216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IoU</a:t>
              </a:r>
              <a:endParaRPr sz="1031"/>
            </a:p>
          </p:txBody>
        </p:sp>
        <p:sp>
          <p:nvSpPr>
            <p:cNvPr id="1883" name="Google Shape;1883;p50"/>
            <p:cNvSpPr/>
            <p:nvPr/>
          </p:nvSpPr>
          <p:spPr>
            <a:xfrm>
              <a:off x="5827720" y="2029080"/>
              <a:ext cx="522300" cy="216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quality</a:t>
              </a:r>
              <a:endParaRPr sz="1031"/>
            </a:p>
          </p:txBody>
        </p:sp>
        <p:sp>
          <p:nvSpPr>
            <p:cNvPr id="1884" name="Google Shape;1884;p50"/>
            <p:cNvSpPr/>
            <p:nvPr/>
          </p:nvSpPr>
          <p:spPr>
            <a:xfrm>
              <a:off x="5838183" y="2278456"/>
              <a:ext cx="501300" cy="2664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749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q = σ(i)</a:t>
              </a:r>
              <a:endParaRPr sz="1031"/>
            </a:p>
          </p:txBody>
        </p:sp>
        <p:sp>
          <p:nvSpPr>
            <p:cNvPr id="1885" name="Google Shape;1885;p50"/>
            <p:cNvSpPr/>
            <p:nvPr/>
          </p:nvSpPr>
          <p:spPr>
            <a:xfrm>
              <a:off x="2918048" y="2980078"/>
              <a:ext cx="2910632" cy="536524"/>
            </a:xfrm>
            <a:prstGeom prst="roundRect">
              <a:avLst>
                <a:gd fmla="val 16667" name="adj"/>
              </a:avLst>
            </a:prstGeom>
            <a:solidFill>
              <a:srgbClr val="FCE8DA"/>
            </a:solidFill>
            <a:ln cap="rnd" cmpd="sng" w="11875">
              <a:solidFill>
                <a:srgbClr val="2525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50"/>
            <p:cNvSpPr/>
            <p:nvPr/>
          </p:nvSpPr>
          <p:spPr>
            <a:xfrm>
              <a:off x="3413047" y="3002764"/>
              <a:ext cx="1920635" cy="21102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pc="0" sz="937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Box decoding + rotated NMS</a:t>
              </a:r>
              <a:endParaRPr sz="1031"/>
            </a:p>
          </p:txBody>
        </p:sp>
        <p:sp>
          <p:nvSpPr>
            <p:cNvPr id="1887" name="Google Shape;1887;p50"/>
            <p:cNvSpPr/>
            <p:nvPr/>
          </p:nvSpPr>
          <p:spPr>
            <a:xfrm>
              <a:off x="3020862" y="3168839"/>
              <a:ext cx="2625300" cy="211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Local peaks · metric boxes · IoU-aware scores</a:t>
              </a:r>
              <a:endParaRPr sz="1031"/>
            </a:p>
          </p:txBody>
        </p:sp>
        <p:sp>
          <p:nvSpPr>
            <p:cNvPr id="1888" name="Google Shape;1888;p50"/>
            <p:cNvSpPr/>
            <p:nvPr/>
          </p:nvSpPr>
          <p:spPr>
            <a:xfrm>
              <a:off x="3679581" y="3316739"/>
              <a:ext cx="1375200" cy="195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749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Car / Pedestrian / Cyclist</a:t>
              </a:r>
              <a:endParaRPr sz="1031"/>
            </a:p>
          </p:txBody>
        </p:sp>
        <p:sp>
          <p:nvSpPr>
            <p:cNvPr id="1889" name="Google Shape;1889;p50"/>
            <p:cNvSpPr/>
            <p:nvPr/>
          </p:nvSpPr>
          <p:spPr>
            <a:xfrm>
              <a:off x="5925179" y="3007512"/>
              <a:ext cx="850549" cy="187279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749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BEV detections</a:t>
              </a:r>
              <a:endParaRPr sz="1031"/>
            </a:p>
          </p:txBody>
        </p:sp>
        <p:sp>
          <p:nvSpPr>
            <p:cNvPr id="1890" name="Google Shape;1890;p50"/>
            <p:cNvSpPr/>
            <p:nvPr/>
          </p:nvSpPr>
          <p:spPr>
            <a:xfrm>
              <a:off x="3212916" y="3787238"/>
              <a:ext cx="2320896" cy="479548"/>
            </a:xfrm>
            <a:prstGeom prst="roundRect">
              <a:avLst>
                <a:gd fmla="val 16667" name="adj"/>
              </a:avLst>
            </a:prstGeom>
            <a:solidFill>
              <a:srgbClr val="EEF3F7"/>
            </a:solidFill>
            <a:ln cap="rnd" cmpd="sng" w="11875">
              <a:solidFill>
                <a:srgbClr val="2525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1" name="Google Shape;1891;p50"/>
            <p:cNvSpPr/>
            <p:nvPr/>
          </p:nvSpPr>
          <p:spPr>
            <a:xfrm>
              <a:off x="3441999" y="3818366"/>
              <a:ext cx="1783200" cy="232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937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LiDAR-based vertical lifting</a:t>
              </a:r>
              <a:endParaRPr sz="1031"/>
            </a:p>
          </p:txBody>
        </p:sp>
        <p:sp>
          <p:nvSpPr>
            <p:cNvPr id="1892" name="Google Shape;1892;p50"/>
            <p:cNvSpPr/>
            <p:nvPr/>
          </p:nvSpPr>
          <p:spPr>
            <a:xfrm>
              <a:off x="3411182" y="3990243"/>
              <a:ext cx="1924500" cy="211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Local ground + point height → z, h</a:t>
              </a:r>
              <a:endParaRPr sz="1031"/>
            </a:p>
          </p:txBody>
        </p:sp>
        <p:sp>
          <p:nvSpPr>
            <p:cNvPr id="1893" name="Google Shape;1893;p50"/>
            <p:cNvSpPr/>
            <p:nvPr/>
          </p:nvSpPr>
          <p:spPr>
            <a:xfrm>
              <a:off x="2317365" y="3762339"/>
              <a:ext cx="846600" cy="211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LiDAR points</a:t>
              </a:r>
              <a:endParaRPr sz="1031"/>
            </a:p>
          </p:txBody>
        </p:sp>
        <p:sp>
          <p:nvSpPr>
            <p:cNvPr id="1894" name="Google Shape;1894;p50"/>
            <p:cNvSpPr/>
            <p:nvPr/>
          </p:nvSpPr>
          <p:spPr>
            <a:xfrm>
              <a:off x="5989898" y="3781568"/>
              <a:ext cx="721200" cy="206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749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3D cuboids</a:t>
              </a:r>
              <a:endParaRPr sz="1031"/>
            </a:p>
          </p:txBody>
        </p:sp>
        <p:sp>
          <p:nvSpPr>
            <p:cNvPr id="1895" name="Google Shape;1895;p50"/>
            <p:cNvSpPr/>
            <p:nvPr/>
          </p:nvSpPr>
          <p:spPr>
            <a:xfrm>
              <a:off x="2312666" y="4342754"/>
              <a:ext cx="4137663" cy="242148"/>
            </a:xfrm>
            <a:prstGeom prst="roundRect">
              <a:avLst>
                <a:gd fmla="val 16667" name="adj"/>
              </a:avLst>
            </a:prstGeom>
            <a:solidFill>
              <a:srgbClr val="EEF3F7"/>
            </a:solidFill>
            <a:ln cap="rnd" cmpd="sng" w="11875">
              <a:solidFill>
                <a:srgbClr val="2525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6" name="Google Shape;1896;p50"/>
            <p:cNvSpPr/>
            <p:nvPr/>
          </p:nvSpPr>
          <p:spPr>
            <a:xfrm>
              <a:off x="2990329" y="4355601"/>
              <a:ext cx="2782200" cy="216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843">
                  <a:solidFill>
                    <a:srgbClr val="252525"/>
                  </a:solidFill>
                  <a:latin typeface="Arial"/>
                  <a:ea typeface="Arial"/>
                  <a:cs typeface="Arial"/>
                  <a:sym typeface="Arial"/>
                </a:rPr>
                <a:t>OGA loss: focal + Smooth L1 + geometry + IoU</a:t>
              </a:r>
              <a:endParaRPr sz="1031"/>
            </a:p>
          </p:txBody>
        </p:sp>
        <p:sp>
          <p:nvSpPr>
            <p:cNvPr id="1897" name="Google Shape;1897;p50"/>
            <p:cNvSpPr/>
            <p:nvPr/>
          </p:nvSpPr>
          <p:spPr>
            <a:xfrm>
              <a:off x="3076650" y="4665172"/>
              <a:ext cx="2609700" cy="195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t" bIns="32100" lIns="64250" spcFirstLastPara="1" rIns="64250" wrap="square" tIns="3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" spc="0" sz="749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Dashed path: training supervision with ground truth</a:t>
              </a:r>
              <a:endParaRPr sz="1031"/>
            </a:p>
          </p:txBody>
        </p:sp>
        <p:cxnSp>
          <p:nvCxnSpPr>
            <p:cNvPr id="1898" name="Google Shape;1898;p50"/>
            <p:cNvCxnSpPr>
              <a:endCxn id="1854" idx="1"/>
            </p:cNvCxnSpPr>
            <p:nvPr/>
          </p:nvCxnSpPr>
          <p:spPr>
            <a:xfrm flipH="1" rot="10800000">
              <a:off x="1660111" y="860680"/>
              <a:ext cx="528900" cy="6600"/>
            </a:xfrm>
            <a:prstGeom prst="straightConnector1">
              <a:avLst/>
            </a:prstGeom>
            <a:noFill/>
            <a:ln cap="flat" cmpd="sng" w="17850">
              <a:solidFill>
                <a:schemeClr val="accent2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899" name="Google Shape;1899;p50"/>
            <p:cNvCxnSpPr>
              <a:stCxn id="1854" idx="3"/>
              <a:endCxn id="1858" idx="1"/>
            </p:cNvCxnSpPr>
            <p:nvPr/>
          </p:nvCxnSpPr>
          <p:spPr>
            <a:xfrm>
              <a:off x="3454111" y="860680"/>
              <a:ext cx="271200" cy="0"/>
            </a:xfrm>
            <a:prstGeom prst="straightConnector1">
              <a:avLst/>
            </a:prstGeom>
            <a:noFill/>
            <a:ln cap="flat" cmpd="sng" w="17850">
              <a:solidFill>
                <a:schemeClr val="accent2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900" name="Google Shape;1900;p50"/>
            <p:cNvCxnSpPr>
              <a:stCxn id="1868" idx="2"/>
              <a:endCxn id="1895" idx="1"/>
            </p:cNvCxnSpPr>
            <p:nvPr/>
          </p:nvCxnSpPr>
          <p:spPr>
            <a:xfrm rot="5400000">
              <a:off x="1529153" y="3328456"/>
              <a:ext cx="1919100" cy="351900"/>
            </a:xfrm>
            <a:prstGeom prst="bentConnector4">
              <a:avLst>
                <a:gd fmla="val 11082" name="adj1"/>
                <a:gd fmla="val 167693" name="adj2"/>
              </a:avLst>
            </a:prstGeom>
            <a:noFill/>
            <a:ln cap="flat" cmpd="sng" w="17850">
              <a:solidFill>
                <a:srgbClr val="AEABAB"/>
              </a:solidFill>
              <a:prstDash val="dashDot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901" name="Google Shape;1901;p50"/>
            <p:cNvCxnSpPr>
              <a:stCxn id="1858" idx="2"/>
            </p:cNvCxnSpPr>
            <p:nvPr/>
          </p:nvCxnSpPr>
          <p:spPr>
            <a:xfrm flipH="1">
              <a:off x="5142378" y="1166841"/>
              <a:ext cx="2400" cy="274500"/>
            </a:xfrm>
            <a:prstGeom prst="straightConnector1">
              <a:avLst/>
            </a:prstGeom>
            <a:noFill/>
            <a:ln cap="flat" cmpd="sng" w="17850">
              <a:solidFill>
                <a:schemeClr val="accent2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902" name="Google Shape;1902;p50"/>
            <p:cNvCxnSpPr>
              <a:stCxn id="1868" idx="2"/>
              <a:endCxn id="1886" idx="0"/>
            </p:cNvCxnSpPr>
            <p:nvPr/>
          </p:nvCxnSpPr>
          <p:spPr>
            <a:xfrm flipH="1" rot="-5400000">
              <a:off x="3290153" y="1919356"/>
              <a:ext cx="457800" cy="1708800"/>
            </a:xfrm>
            <a:prstGeom prst="bentConnector3">
              <a:avLst>
                <a:gd fmla="val 46706" name="adj1"/>
              </a:avLst>
            </a:prstGeom>
            <a:noFill/>
            <a:ln cap="flat" cmpd="sng" w="1785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903" name="Google Shape;1903;p50"/>
            <p:cNvCxnSpPr>
              <a:stCxn id="1872" idx="2"/>
              <a:endCxn id="1885" idx="0"/>
            </p:cNvCxnSpPr>
            <p:nvPr/>
          </p:nvCxnSpPr>
          <p:spPr>
            <a:xfrm flipH="1" rot="-5400000">
              <a:off x="3725884" y="2332601"/>
              <a:ext cx="442200" cy="852600"/>
            </a:xfrm>
            <a:prstGeom prst="bentConnector3">
              <a:avLst>
                <a:gd fmla="val 47931" name="adj1"/>
              </a:avLst>
            </a:prstGeom>
            <a:noFill/>
            <a:ln cap="flat" cmpd="sng" w="1785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904" name="Google Shape;1904;p50"/>
            <p:cNvCxnSpPr>
              <a:stCxn id="1876" idx="2"/>
              <a:endCxn id="1886" idx="0"/>
            </p:cNvCxnSpPr>
            <p:nvPr/>
          </p:nvCxnSpPr>
          <p:spPr>
            <a:xfrm rot="5400000">
              <a:off x="4146235" y="2772106"/>
              <a:ext cx="457800" cy="3300"/>
            </a:xfrm>
            <a:prstGeom prst="bentConnector3">
              <a:avLst>
                <a:gd fmla="val 50012" name="adj1"/>
              </a:avLst>
            </a:prstGeom>
            <a:noFill/>
            <a:ln cap="flat" cmpd="sng" w="1785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905" name="Google Shape;1905;p50"/>
            <p:cNvCxnSpPr>
              <a:stCxn id="1880" idx="2"/>
              <a:endCxn id="1885" idx="0"/>
            </p:cNvCxnSpPr>
            <p:nvPr/>
          </p:nvCxnSpPr>
          <p:spPr>
            <a:xfrm rot="5400000">
              <a:off x="4576485" y="2323851"/>
              <a:ext cx="453000" cy="859500"/>
            </a:xfrm>
            <a:prstGeom prst="bentConnector3">
              <a:avLst>
                <a:gd fmla="val 49997" name="adj1"/>
              </a:avLst>
            </a:prstGeom>
            <a:noFill/>
            <a:ln cap="flat" cmpd="sng" w="1785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906" name="Google Shape;1906;p50"/>
            <p:cNvCxnSpPr>
              <a:stCxn id="1884" idx="2"/>
              <a:endCxn id="1886" idx="0"/>
            </p:cNvCxnSpPr>
            <p:nvPr/>
          </p:nvCxnSpPr>
          <p:spPr>
            <a:xfrm rot="5400000">
              <a:off x="5002233" y="1916056"/>
              <a:ext cx="457800" cy="1715400"/>
            </a:xfrm>
            <a:prstGeom prst="bentConnector3">
              <a:avLst>
                <a:gd fmla="val 46072" name="adj1"/>
              </a:avLst>
            </a:prstGeom>
            <a:noFill/>
            <a:ln cap="flat" cmpd="sng" w="1785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907" name="Google Shape;1907;p50"/>
            <p:cNvCxnSpPr>
              <a:stCxn id="1885" idx="2"/>
              <a:endCxn id="1890" idx="0"/>
            </p:cNvCxnSpPr>
            <p:nvPr/>
          </p:nvCxnSpPr>
          <p:spPr>
            <a:xfrm>
              <a:off x="4373364" y="3516602"/>
              <a:ext cx="0" cy="270600"/>
            </a:xfrm>
            <a:prstGeom prst="straightConnector1">
              <a:avLst/>
            </a:prstGeom>
            <a:noFill/>
            <a:ln cap="flat" cmpd="sng" w="26775">
              <a:solidFill>
                <a:schemeClr val="accent2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908" name="Google Shape;1908;p50"/>
            <p:cNvCxnSpPr>
              <a:endCxn id="1890" idx="1"/>
            </p:cNvCxnSpPr>
            <p:nvPr/>
          </p:nvCxnSpPr>
          <p:spPr>
            <a:xfrm>
              <a:off x="1738716" y="4027012"/>
              <a:ext cx="1474200" cy="0"/>
            </a:xfrm>
            <a:prstGeom prst="straightConnector1">
              <a:avLst/>
            </a:prstGeom>
            <a:noFill/>
            <a:ln cap="flat" cmpd="sng" w="17850">
              <a:solidFill>
                <a:schemeClr val="dk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909" name="Google Shape;1909;p50"/>
            <p:cNvCxnSpPr>
              <a:stCxn id="1885" idx="3"/>
              <a:endCxn id="1910" idx="2"/>
            </p:cNvCxnSpPr>
            <p:nvPr/>
          </p:nvCxnSpPr>
          <p:spPr>
            <a:xfrm flipH="1" rot="10800000">
              <a:off x="5828680" y="2083740"/>
              <a:ext cx="2208600" cy="1164600"/>
            </a:xfrm>
            <a:prstGeom prst="bentConnector2">
              <a:avLst/>
            </a:prstGeom>
            <a:noFill/>
            <a:ln cap="flat" cmpd="sng" w="17850">
              <a:solidFill>
                <a:schemeClr val="accent2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911" name="Google Shape;1911;p50"/>
            <p:cNvCxnSpPr>
              <a:stCxn id="1890" idx="3"/>
              <a:endCxn id="1912" idx="2"/>
            </p:cNvCxnSpPr>
            <p:nvPr/>
          </p:nvCxnSpPr>
          <p:spPr>
            <a:xfrm>
              <a:off x="5533812" y="4027012"/>
              <a:ext cx="2452200" cy="1158000"/>
            </a:xfrm>
            <a:prstGeom prst="bentConnector4">
              <a:avLst>
                <a:gd fmla="val 55189" name="adj1"/>
                <a:gd fmla="val 121957" name="adj2"/>
              </a:avLst>
            </a:prstGeom>
            <a:noFill/>
            <a:ln cap="flat" cmpd="sng" w="17850">
              <a:solidFill>
                <a:schemeClr val="accent2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pic>
        <p:nvPicPr>
          <p:cNvPr id="1913" name="Google Shape;191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00" y="218675"/>
            <a:ext cx="2130624" cy="188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4" name="Google Shape;191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00" y="2714700"/>
            <a:ext cx="2130624" cy="188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0" name="Google Shape;1910;p50"/>
          <p:cNvPicPr preferRelativeResize="0"/>
          <p:nvPr/>
        </p:nvPicPr>
        <p:blipFill rotWithShape="1">
          <a:blip r:embed="rId4">
            <a:alphaModFix/>
          </a:blip>
          <a:srcRect b="18697" l="7816" r="7875" t="13804"/>
          <a:stretch/>
        </p:blipFill>
        <p:spPr>
          <a:xfrm>
            <a:off x="7243525" y="293325"/>
            <a:ext cx="1835725" cy="1321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50"/>
          <p:cNvPicPr preferRelativeResize="0"/>
          <p:nvPr/>
        </p:nvPicPr>
        <p:blipFill rotWithShape="1">
          <a:blip r:embed="rId5">
            <a:alphaModFix/>
          </a:blip>
          <a:srcRect b="17214" l="8229" r="8645" t="17728"/>
          <a:stretch/>
        </p:blipFill>
        <p:spPr>
          <a:xfrm>
            <a:off x="7147425" y="3008113"/>
            <a:ext cx="1931825" cy="1512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